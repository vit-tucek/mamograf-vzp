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D9509F33-0D5F-A211-AA72-4F5AD8641F3B}">
          <p14:sldIdLst>
            <p14:sldId id="256"/>
            <p14:sldId id="257"/>
            <p14:sldId id="258"/>
            <p14:sldId id="327"/>
            <p14:sldId id="328"/>
            <p14:sldId id="329"/>
            <p14:sldId id="330"/>
            <p14:sldId id="331"/>
          </p14:sldIdLst>
        </p14:section>
        <p14:section name="Model" id="{CCE29113-D4A8-317F-61A0-C3635F8A45EF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32"/>
            <p14:sldId id="333"/>
            <p14:sldId id="334"/>
          </p14:sldIdLst>
        </p14:section>
        <p14:section name="Model" id="{0AC06BD6-BB53-4E48-92C6-352B1699892C}">
          <p14:sldIdLst/>
        </p14:section>
        <p14:section name="Problém a příčiny" id="{3DA29C05-E597-4CBD-ABAC-225C8FB1DC35}">
          <p14:sldIdLst>
            <p14:sldId id="259"/>
            <p14:sldId id="260"/>
            <p14:sldId id="261"/>
            <p14:sldId id="262"/>
            <p14:sldId id="286"/>
            <p14:sldId id="304"/>
            <p14:sldId id="285"/>
            <p14:sldId id="284"/>
            <p14:sldId id="283"/>
            <p14:sldId id="281"/>
            <p14:sldId id="280"/>
            <p14:sldId id="279"/>
            <p14:sldId id="278"/>
            <p14:sldId id="277"/>
            <p14:sldId id="276"/>
            <p14:sldId id="275"/>
          </p14:sldIdLst>
        </p14:section>
        <p14:section name="Skupiny a návrhy" id="{421C17CE-61A2-0D87-DAD9-C2BEA89A7DEB}">
          <p14:sldIdLst>
            <p14:sldId id="263"/>
            <p14:sldId id="264"/>
            <p14:sldId id="265"/>
            <p14:sldId id="266"/>
            <p14:sldId id="273"/>
          </p14:sldIdLst>
        </p14:section>
        <p14:section name="Ověření a dopad" id="{225EEA1D-8C4C-152E-A195-CC28FAE774E7}">
          <p14:sldIdLst>
            <p14:sldId id="267"/>
            <p14:sldId id="268"/>
            <p14:sldId id="269"/>
            <p14:sldId id="274"/>
            <p14:sldId id="295"/>
            <p14:sldId id="296"/>
            <p14:sldId id="297"/>
            <p14:sldId id="298"/>
          </p14:sldIdLst>
        </p14:section>
        <p14:section name="Komunikace" id="{82EC2976-A6EC-43FC-80ED-1E53A12D3740}">
          <p14:sldIdLst>
            <p14:sldId id="310"/>
            <p14:sldId id="307"/>
            <p14:sldId id="300"/>
            <p14:sldId id="308"/>
            <p14:sldId id="309"/>
            <p14:sldId id="311"/>
          </p14:sldIdLst>
        </p14:section>
        <p14:section name="Příloha" id="{7AC58F15-9135-444C-95ED-B56E9497F3E8}">
          <p14:sldIdLst>
            <p14:sldId id="271"/>
            <p14:sldId id="272"/>
            <p14:sldId id="305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" dt="2026-10-17T01:24:15.244"/>
    <p1510:client id="{7FCB1DC3-EF90-7449-BDC5-16AD28E29D30}" v="5" dt="2026-10-17T01:02:12.481"/>
    <p1510:client id="{A05E5FF7-CE86-B81C-0EA8-15421224548A}" v="13" dt="2026-10-17T10:30:09.920"/>
    <p1510:client id="{A1C84B34-CEF5-B14A-8000-68F8A6018631}" v="630" dt="2026-10-17T01:25:23.814"/>
    <p1510:client id="{A3A62A93-0DD2-70F3-D67F-F3A4CB527190}" v="11" dt="2026-10-17T01:23:52.582"/>
    <p1510:client id="{F68B5562-04A5-F295-4EAD-FED569BB31F9}" v="591" dt="2026-10-17T10:50:22.7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Relationship Id="rId64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0">
                <a:solidFill>
                  <a:srgbClr val="4A4458"/>
                </a:solidFill>
              </a:rPr>
              <a:t>Stadium při diagnóze, ≈ 1 100 nádorů ročně (%)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stadium I</c:v>
                </c:pt>
              </c:strCache>
            </c:strRef>
          </c:tx>
          <c:spPr>
            <a:solidFill>
              <a:srgbClr val="003B7A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dnes, bez screeningu</c:v>
                </c:pt>
                <c:pt idx="1">
                  <c:v>při screeningu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28.499999999999996</c:v>
                </c:pt>
                <c:pt idx="1">
                  <c:v>75.0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stadium II–III</c:v>
                </c:pt>
              </c:strCache>
            </c:strRef>
          </c:tx>
          <c:spPr>
            <a:solidFill>
              <a:srgbClr val="A9C6EA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solidFill>
                      <a:srgbClr val="230F3C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dnes, bez screeningu</c:v>
                </c:pt>
                <c:pt idx="1">
                  <c:v>při screeningu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56.00000000000001</c:v>
                </c:pt>
                <c:pt idx="1">
                  <c:v>24.3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stadium IV</c:v>
                </c:pt>
              </c:strCache>
            </c:strRef>
          </c:tx>
          <c:spPr>
            <a:solidFill>
              <a:srgbClr val="D27869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dnes, bez screeningu</c:v>
                </c:pt>
                <c:pt idx="1">
                  <c:v>při screeningu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15.5</c:v>
                </c:pt>
                <c:pt idx="1">
                  <c:v>0.7000000000000001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DCEC"/>
            </a:solidFill>
          </a:ln>
        </c:spPr>
        <c:txPr>
          <a:bodyPr/>
          <a:lstStyle/>
          <a:p>
            <a:pPr>
              <a:defRPr sz="1000">
                <a:solidFill>
                  <a:srgbClr val="4A445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4A445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08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 s. Dobrý den, jsme Mámo, graf! z Weiner &amp; Partners.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s. V roce 2024 VZP adresně pozvala 256 tisíc žen, které na screening dlouho nepřišly nebo byly zvané poprvé, a 207 tisíc z nich do roka nepřišlo. Kdyby přišly, screening by u nich ročně našel asi 1 100 karcinomů prsu dřív. Bez screeningu je v prvním stadiu necelá třetina nádorů, ve screeningu tři čtvrtiny. Kdyby přišly všechny, šlo by ročně o asi 135 odvrácených úmrtí, 790 let života ve zdraví a 100 milionů korun čisté úspory. To je teoretický strop. (Výpočet v docs/vzp_pitch/dopad.py, jedno vyšetření na ženu ročně. Kontext, nečíst: celostátně je 2,19 mil. žen 45–74, za dva roky přišlo 61 %, tedy nejméně 850 tisíc žen bez screeningu a asi 2 300 nádorů ročně (ČSÚ, ÚZIS, NOR). Čistá úspora platí při ceně léčby IV. stadia 3 mil. Kč, pod 1,9 mil. Kč vychází nula; náklady modelu zahrnují příspěvek 1 000 Kč na vyšetření, ověřit s týmem. Robustní metrika: 0,26 mil. Kč za QALY.)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 s. Naše řešení stojí na třech zdrojích. Z vědecké literatury víme, která opatření fungují a jak moc. Statistický model nad 1,34 milionu pozvánek VZP ukáže, kdo přijde a kdo ne. Z e-commerce přinášíme způsob práce: segmentaci podle chování, automatické kaskády zpráv a A/B testy. Výsledkem je segmentace klientek a pro každý segment nový kanál, jehož účinek změříme proti kontrolní skupině.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35 s. Odkud segmenty? Z šesti otázek nad daty, která VZP poskytla, kladených shora dolů. Nejdřív historie screeningu: nedávno vyšetřená, první pozvánka, vypadla z rytmu. Pak prevence: chodí ke gynekologovi, nebo k zubaři a praktikovi? U nich rozhoduje, kolik pozvánek už ignorovala. Nakonec, je vůbec v kontaktu se zdravotnictvím? Vznikne jedenáct skupin s účastí od 2 do 60 procent. Pravidla jsme stanovili na letech 2020 až 2023 a otestovali na roce 2024: segmenty seřadí ženy skoro stejně dobře jako celý model. (AUC segmentů 0,807 z notebooku vzp_segmentation_final; AUC 0,83 logistické regrese je model týmu z prezentace v41.)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35 s. Každý segment dostane kanál, kterým ho zastihneme, a opatření, které podle studií funguje. Prvním pozvaným a vypadlým pevný termín místo otevřené pozvánky: plus deset až devatenáct bodů. Ženám u gynekologa nebo praktika oslovení přes lékaře. Nedávno vyšetřeným dopis neposíláme. Každý kanál je měřitelný: kontrolní skupina dostane dnešní dopis a výsledek čteme z vykázaných mamografií.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s. Náš výsledek. Z 207 tisíc žen, které v roce 2024 nepřišly, je 159 tisíc v segmentech B až E, kde máme kanál s doloženým účinkem. Podle rozpětí ze studií získáme 9 až 21 tisíc mamografií ročně. To je 52 až 116 nádorů zachycených dřív, 6 až 14 odvrácených úmrtí, 36 až 80 let života ve zdraví a 5 až 10 milionů korun čisté úspory ročně. Plošná digitální kaskáda by podle finančního modelu přinesla víc. Nabízíme VZP pilot s randomizací, model i kód předáme. Děkujeme. (Mamografie navíc: B+C 66 037 žen × 10–19 p. b., D+E 140 398 žen × 2–6 p. b.; metriky na 1 000 vyšetření z finančního modelu a modelu posunu stadia, viz dopad.py.)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8640"/>
            <a:ext cx="2350008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bsah světl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7046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Nadpis</a:t>
            </a:r>
            <a:endParaRPr lang="en-US" sz="3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453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1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bsah šed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7046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Nadpis</a:t>
            </a:r>
            <a:endParaRPr lang="en-US" sz="3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453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7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00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4"/>
                </a:solidFill>
              </a:rPr>
              <a:t>Koncept · systém cílené prevence VZP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1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mav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3"/>
                </a:solidFill>
              </a:rPr>
              <a:t>Koncept · systém cílené prevence VZP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1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logo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355080"/>
            <a:ext cx="1051560" cy="11887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300" dirty="0">
                <a:solidFill>
                  <a:srgbClr val="7A78C3"/>
                </a:solidFill>
              </a:defRPr>
            </a:lvl1pPr>
          </a:lstStyle>
          <a:p>
            <a:pPr marL="0" indent="0">
              <a:buNone/>
            </a:pPr>
            <a:endParaRPr lang="en-US" sz="90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buNone/>
            </a:pPr>
            <a:endParaRPr lang="en-US" sz="2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1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</a:rPr>
              <a:t>Mámo, graf!</a:t>
            </a:r>
          </a:p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</a:rPr>
              <a:t>Od pozvánky k mamografu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02336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AD8F2"/>
                </a:solidFill>
              </a:rPr>
              <a:t>Co je ve hře, jak to získat a kolik přineseme · Rakathon 2026 · výzva VZP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09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AD8F2"/>
                </a:solidFill>
              </a:rPr>
              <a:t>Každé číslo stojí na třech zdrojích: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4727448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72583" y="4727448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51575" y="4727448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E-commerce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CO JE VE HŘE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U 207 tisíc pozvaných žen, které nepřišly, se nádory najdou pozdě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V roce 2024 VZP adresně pozvala 256 466 žen, hlavně ty, které na screening dlouho nepřišly, a ženy zvané poprvé. Do 12 měsíců jich přišlo 19 %. Kdyby přišly všechny, screening by ročně našel asi 1 100 karcinomů prsu dřív.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82328" y="457200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05872" y="45720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30632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3B7A"/>
                </a:solidFill>
              </a:rPr>
              <a:t>256 466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33472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A4458"/>
                </a:solidFill>
              </a:rPr>
              <a:t>žen VZP v roce 2024 adresně pozvala (nechodí na screening nebo zvané poprvé)</a:t>
            </a:r>
          </a:p>
        </p:txBody>
      </p:sp>
      <p:sp>
        <p:nvSpPr>
          <p:cNvPr id="10" name="Right Arrow 9"/>
          <p:cNvSpPr/>
          <p:nvPr/>
        </p:nvSpPr>
        <p:spPr>
          <a:xfrm rot="5400000">
            <a:off x="2167128" y="3218687"/>
            <a:ext cx="274320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474720"/>
            <a:ext cx="30632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56616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D7CC9"/>
                </a:solidFill>
              </a:rPr>
              <a:t>19 %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05072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A4458"/>
                </a:solidFill>
              </a:rPr>
              <a:t>přišlo do 12 měsíců</a:t>
            </a:r>
          </a:p>
        </p:txBody>
      </p:sp>
      <p:sp>
        <p:nvSpPr>
          <p:cNvPr id="14" name="Right Arrow 13"/>
          <p:cNvSpPr/>
          <p:nvPr/>
        </p:nvSpPr>
        <p:spPr>
          <a:xfrm rot="5400000">
            <a:off x="2167128" y="4590288"/>
            <a:ext cx="274320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846320"/>
            <a:ext cx="30632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37759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27869"/>
                </a:solidFill>
              </a:rPr>
              <a:t>207 201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76672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A4458"/>
                </a:solidFill>
              </a:rPr>
              <a:t>žen nepřišlo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069080" y="2057400"/>
          <a:ext cx="3977639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069080" y="5916168"/>
            <a:ext cx="3977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D27869"/>
                </a:solidFill>
              </a:rPr>
              <a:t>stadium IV: 15,5 % → 0,7 %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057400"/>
            <a:ext cx="3136392" cy="406908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148840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3B7A"/>
                </a:solidFill>
              </a:rPr>
              <a:t>Kdyby přišly všechny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03B7A"/>
                </a:solidFill>
              </a:rPr>
              <a:t>teoretický strop, ročně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74320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27869"/>
                </a:solidFill>
              </a:rPr>
              <a:t>≈ 1 100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12724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A4458"/>
                </a:solidFill>
              </a:rPr>
              <a:t>nádorů zachycených dřív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58444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27869"/>
                </a:solidFill>
              </a:rPr>
              <a:t>≈ 135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968496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A4458"/>
                </a:solidFill>
              </a:rPr>
              <a:t>odvrácených úmrtí (do 5 let od diagnózy)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425696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27869"/>
                </a:solidFill>
              </a:rPr>
              <a:t>≈ 790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80974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A4458"/>
                </a:solidFill>
              </a:rPr>
              <a:t>let života ve zdraví (QALY)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526694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27869"/>
                </a:solidFill>
              </a:rPr>
              <a:t>≈ 100 mil. Kč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65099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A4458"/>
                </a:solidFill>
              </a:rPr>
              <a:t>čistá úspora (léčba IV. stadia 3 mil. Kč)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data VZP pro Rakathon 2026, pozvánky 2024; stadia: audit screeningu 2023, ÚZIS 2022; finanční model týmu (docs/vzp_pitch/dopad.py)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NAŠE ŘEŠENÍ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Tři zdroje, segmentace klientek a nové měřitelné kanály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Každý zdroj odpovídá na jinou otázku. Dohromady určí, koho oslovit, čím a jak poznáme, že to funguje.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7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3B7A"/>
                </a:solidFill>
              </a:rPr>
              <a:t>Vědecká literatura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399" y="2249424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3347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co funguje: účinky intervencí z randomizovaných studií a metaanalýz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7472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1187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3B7A"/>
                </a:solidFill>
              </a:rPr>
              <a:t>Statistický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7" y="3621024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0507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kdo přijde: 1,34 mil. pozvánek VZP, vysvětlitelný model s AUC 0,83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4632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983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3B7A"/>
                </a:solidFill>
              </a:rPr>
              <a:t>Praxe z e-commerce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399" y="4992624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E-commerce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7667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jak doručit a změřit: kaskády zpráv, A/B testy, měření přírůstku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26280" y="3703320"/>
            <a:ext cx="411480" cy="274320"/>
          </a:xfrm>
          <a:prstGeom prst="rightArrow">
            <a:avLst/>
          </a:prstGeom>
          <a:solidFill>
            <a:srgbClr val="3D7C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2880360"/>
            <a:ext cx="2743200" cy="1920240"/>
          </a:xfrm>
          <a:prstGeom prst="roundRect">
            <a:avLst>
              <a:gd name="adj" fmla="val 6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30632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Segmentace klientek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204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6E4F7"/>
                </a:solidFill>
              </a:rPr>
              <a:t>11 skupin podle vztahu k prevenci a stavu ve zvaní; pravidla nad poli VZP, ověřená na roce 2024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46720" y="3703320"/>
            <a:ext cx="411480" cy="274320"/>
          </a:xfrm>
          <a:prstGeom prst="rightArrow">
            <a:avLst/>
          </a:prstGeom>
          <a:solidFill>
            <a:srgbClr val="3D7C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41080" y="2880360"/>
            <a:ext cx="2770632" cy="192024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306324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3B7A"/>
                </a:solidFill>
              </a:rPr>
              <a:t>Nové měřitelné kanály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520440"/>
            <a:ext cx="2423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30F3C"/>
                </a:solidFill>
              </a:rPr>
              <a:t>pevný termín, SMS, lékař, Moje VZP; každý s kontrolní skupinou a výsledkem z vykázaných výkonů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docs/interventions.md a PAPERS.md; data VZP pro Rakathon 2026; zkušenost týmu z 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ODKUD SEGMENTY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Šest otázek nad daty VZP rozdělí ženy do jedenácti skupin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Pravidla stojí jen na polích, která VZP poskytla. Otázky jdou shora dolů; žena patří do první skupiny, na kterou odpoví „ano“.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457200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57400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3B7A"/>
                </a:solidFill>
              </a:rPr>
              <a:t>Screening před &lt; 24 měs.?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11226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B7837"/>
                </a:solidFill>
              </a:rPr>
              <a:t>ano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72968" y="2267712"/>
            <a:ext cx="31089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112264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112264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A</a:t>
            </a:r>
            <a:r>
              <a:rPr sz="850" b="0">
                <a:solidFill>
                  <a:srgbClr val="FFFFFF"/>
                </a:solidFill>
              </a:rPr>
              <a:t> · dopis se minul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2569464"/>
            <a:ext cx="0" cy="155448"/>
          </a:xfrm>
          <a:prstGeom prst="line">
            <a:avLst/>
          </a:prstGeom>
          <a:ln w="12700">
            <a:solidFill>
              <a:srgbClr val="8A8597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1207007" y="2574036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2182B"/>
                </a:solidFill>
              </a:rPr>
              <a:t>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24912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724912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3B7A"/>
                </a:solidFill>
              </a:rPr>
              <a:t>První pozvánka?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77977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B7837"/>
                </a:solidFill>
              </a:rPr>
              <a:t>ano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72968" y="2935224"/>
            <a:ext cx="31089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38728" y="2779776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779776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B1</a:t>
            </a:r>
            <a:r>
              <a:rPr sz="850" b="0">
                <a:solidFill>
                  <a:srgbClr val="FFFFFF"/>
                </a:solidFill>
              </a:rPr>
              <a:t> · &lt; 6 kontaktů za rok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72584" y="2779776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2779776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B2</a:t>
            </a:r>
            <a:r>
              <a:rPr sz="850" b="0">
                <a:solidFill>
                  <a:srgbClr val="FFFFFF"/>
                </a:solidFill>
              </a:rPr>
              <a:t> · v kontaktu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3236976"/>
            <a:ext cx="0" cy="155448"/>
          </a:xfrm>
          <a:prstGeom prst="line">
            <a:avLst/>
          </a:prstGeom>
          <a:ln w="12700">
            <a:solidFill>
              <a:srgbClr val="8A8597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1207007" y="3241548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2182B"/>
                </a:solidFill>
              </a:rPr>
              <a:t>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392424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392424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3B7A"/>
                </a:solidFill>
              </a:rPr>
              <a:t>Screening v posledních 5 letech?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44728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B7837"/>
                </a:solidFill>
              </a:rPr>
              <a:t>ano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72968" y="3602736"/>
            <a:ext cx="31089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38728" y="3447288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3592" y="3447288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C1</a:t>
            </a:r>
            <a:r>
              <a:rPr sz="850" b="0">
                <a:solidFill>
                  <a:srgbClr val="FFFFFF"/>
                </a:solidFill>
              </a:rPr>
              <a:t> · ≤ 48 měs.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72584" y="3447288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7448" y="3447288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0F3C"/>
                </a:solidFill>
              </a:rPr>
              <a:t>C2</a:t>
            </a:r>
            <a:r>
              <a:rPr sz="850" b="0">
                <a:solidFill>
                  <a:srgbClr val="230F3C"/>
                </a:solidFill>
              </a:rPr>
              <a:t> · 4–5+ let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43000" y="3904487"/>
            <a:ext cx="0" cy="155448"/>
          </a:xfrm>
          <a:prstGeom prst="line">
            <a:avLst/>
          </a:prstGeom>
          <a:ln w="12700">
            <a:solidFill>
              <a:srgbClr val="8A8597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1207007" y="3909059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2182B"/>
                </a:solidFill>
              </a:rPr>
              <a:t>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059936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4059936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3B7A"/>
                </a:solidFill>
              </a:rPr>
              <a:t>Preventivní gynekologie?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411480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B7837"/>
                </a:solidFill>
              </a:rPr>
              <a:t>ano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172968" y="4270248"/>
            <a:ext cx="31089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538728" y="4114800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3592" y="4114800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0F3C"/>
                </a:solidFill>
              </a:rPr>
              <a:t>D1</a:t>
            </a:r>
            <a:r>
              <a:rPr sz="850" b="0">
                <a:solidFill>
                  <a:srgbClr val="230F3C"/>
                </a:solidFill>
              </a:rPr>
              <a:t> · ≤ 6 pozvánek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72584" y="4114800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27448" y="4114800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0F3C"/>
                </a:solidFill>
              </a:rPr>
              <a:t>D2</a:t>
            </a:r>
            <a:r>
              <a:rPr sz="850" b="0">
                <a:solidFill>
                  <a:srgbClr val="230F3C"/>
                </a:solidFill>
              </a:rPr>
              <a:t> · 7+ pozvánek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43000" y="4572000"/>
            <a:ext cx="0" cy="155448"/>
          </a:xfrm>
          <a:prstGeom prst="line">
            <a:avLst/>
          </a:prstGeom>
          <a:ln w="12700">
            <a:solidFill>
              <a:srgbClr val="8A8597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1207007" y="4576572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2182B"/>
                </a:solidFill>
              </a:rPr>
              <a:t>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4727448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" y="4727448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3B7A"/>
                </a:solidFill>
              </a:rPr>
              <a:t>Jiná prevence (zubař, praktik)?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54680" y="47823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B7837"/>
                </a:solidFill>
              </a:rPr>
              <a:t>ano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172968" y="4937760"/>
            <a:ext cx="31089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538728" y="4782312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93592" y="4782312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0F3C"/>
                </a:solidFill>
              </a:rPr>
              <a:t>E1</a:t>
            </a:r>
            <a:r>
              <a:rPr sz="850" b="0">
                <a:solidFill>
                  <a:srgbClr val="230F3C"/>
                </a:solidFill>
              </a:rPr>
              <a:t> · ≤ 6 pozvánek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72584" y="4782312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27448" y="4782312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E2</a:t>
            </a:r>
            <a:r>
              <a:rPr sz="850" b="0">
                <a:solidFill>
                  <a:srgbClr val="FFFFFF"/>
                </a:solidFill>
              </a:rPr>
              <a:t> · 7+ pozvánek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143000" y="5239512"/>
            <a:ext cx="0" cy="155448"/>
          </a:xfrm>
          <a:prstGeom prst="line">
            <a:avLst/>
          </a:prstGeom>
          <a:ln w="12700">
            <a:solidFill>
              <a:srgbClr val="8A8597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1207007" y="5244084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2182B"/>
                </a:solidFill>
              </a:rPr>
              <a:t>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5394960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" y="5394960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3B7A"/>
                </a:solidFill>
              </a:rPr>
              <a:t>≥ 6 kontaktů se zdravotnictvím?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54680" y="544982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B7837"/>
                </a:solidFill>
              </a:rPr>
              <a:t>ano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3172968" y="5605272"/>
            <a:ext cx="31089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538728" y="5449824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93592" y="5449824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F</a:t>
            </a:r>
            <a:r>
              <a:rPr sz="850" b="0">
                <a:solidFill>
                  <a:srgbClr val="FFFFFF"/>
                </a:solidFill>
              </a:rPr>
              <a:t> · ano: v kontaktu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72584" y="5449824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27448" y="5449824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G</a:t>
            </a:r>
            <a:r>
              <a:rPr sz="850" b="0">
                <a:solidFill>
                  <a:srgbClr val="FFFFFF"/>
                </a:solidFill>
              </a:rPr>
              <a:t> · ne: odpojená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608076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597"/>
                </a:solidFill>
              </a:rPr>
              <a:t>barva: účast 2024 ≥ 30 % / 10–30 % / &lt; 10 %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5852160" y="2057400"/>
          <a:ext cx="5559552" cy="3447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912"/>
                <a:gridCol w="914400"/>
                <a:gridCol w="914400"/>
                <a:gridCol w="1005840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</a:rPr>
                        <a:t>Ženy 2024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</a:rPr>
                        <a:t>Účast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</a:rPr>
                        <a:t>Nepřišlo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A dopis se minul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7 600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7 418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B1 1. pozvánka, málo kontaktů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7 127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36 %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4 580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B2 1. pozvánka, v kontaktu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30 333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60 %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12 240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C1 vypadlá 3–4 roky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16 167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39 %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9 892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C2 vypadlá 4–5+ let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12 410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26 %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9 219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D1 gynekolog, zvaná málokrát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31 098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27 %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22 679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D2 gynekolog, nereaguje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19 949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10 %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17 894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E1 jiná prevence, zvaná málokrát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29 487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13 %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25 734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E2 jiná prevence, nereaguje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59 864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5 %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56 825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F bez prevence, v kontaktu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18 102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5 %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17 155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G odpojená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24 329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3 %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23 565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0F3C"/>
                          </a:solidFill>
                        </a:rPr>
                        <a:t>Celkem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30F3C"/>
                          </a:solidFill>
                        </a:rPr>
                        <a:t>256 466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30F3C"/>
                          </a:solidFill>
                        </a:rPr>
                        <a:t>19 %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30F3C"/>
                          </a:solidFill>
                        </a:rPr>
                        <a:t>207 201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5852160" y="5559552"/>
            <a:ext cx="555955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89320" y="5605272"/>
            <a:ext cx="5303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4A4458"/>
                </a:solidFill>
              </a:rPr>
              <a:t>Ověřeno na novém roce:</a:t>
            </a:r>
            <a:r>
              <a:rPr sz="950" b="0">
                <a:solidFill>
                  <a:srgbClr val="4A4458"/>
                </a:solidFill>
              </a:rPr>
              <a:t> pravidla z let 2020–2023, test na 2024. Segmenty seřadí ženy s AUC 0,81, celý vysvětlitelný model 0,83.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data VZP pro Rakathon 2026, pozvánky 2020–2024; config/segments_vzp_v2.yaml; naše analýza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NOVÉ KANÁLY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Každý segment dostane kanál a opatření, které lze změřit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Opatření vybíráme z literatury podle toho, co ženě v segmentu brání; účinek ověříme proti kontrolní skupině.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45720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05872" y="45720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E-commerce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057400"/>
          <a:ext cx="699516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657600"/>
                <a:gridCol w="12801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Kanál a opatření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</a:rPr>
                        <a:t>Účinek (p. b.)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A dopis se minul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nezvat, ověřit výkony těsně před odesláním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úspora 7 600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B1 1. pozvánka, málo kontaktů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pevný termín + telefonát navíc k dopisu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30F3C"/>
                          </a:solidFill>
                        </a:rPr>
                        <a:t>+10 až +19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B2 1. pozvánka, v kontaktu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pevný termín v pozvánce + SMS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30F3C"/>
                          </a:solidFill>
                        </a:rPr>
                        <a:t>+10 až +19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C1, C2 vypadlé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pevný termín dřív: ve 25.–36. měsíci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30F3C"/>
                          </a:solidFill>
                        </a:rPr>
                        <a:t>+10 až +19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D1 gynekolog, zvaná málokrát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seznam žen bez mamografie pro gynekologa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+2 až +6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D2 gynekolog, nereaguje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objednání přímo v ordinaci místo dopisu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+2 až +6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E1 jiná prevence, zvaná málokrát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praktik a zubař: seznam žen, upozornění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+2 až +6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E2 jiná prevence, nereaguje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praktik místo dopisu; test vynechání dopisu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+2 až +6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F bez prevence, v kontaktu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upozornění pro ošetřující lékaře (EZ karta)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+1 až +5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G odpojená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zatím ne: nejdřív ověřit kontakt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1000" y="2057400"/>
            <a:ext cx="3410712" cy="3712463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19456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27869"/>
                </a:solidFill>
              </a:rPr>
              <a:t>Jak měříme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06040"/>
            <a:ext cx="3063240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kontrolní skupina u každého kanálu: dostane dnešní dopis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výsledek z vykázaných mamografií, ne z kliknutí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A/B test jako v e-commerce: rozšíříme jen to, co prokazatelně funguje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cena za mamografii navíc pro každý kanál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rozpětí účinku z RCT a metaanalýz (docs/interventions.md), přenos do ČR je náš úsudek; data VZP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NÁŠ VÝSLEDEK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Cílenými kanály získáme 9–21 tisíc mamografií ročně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Počítáme jen s ženami, které VZP v roce 2024 pozvala a nepřišly, a s rozpětím účinku ze studií. Skutečný účinek ověří pilot.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82328" y="457200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05872" y="45720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32461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27869"/>
                </a:solidFill>
              </a:rPr>
              <a:t>207 tis.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33472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pozvaných žen nepřišlo (VZP 2024)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05655" y="2514600"/>
            <a:ext cx="283464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1416" y="2057400"/>
            <a:ext cx="32461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214884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3B7A"/>
                </a:solidFill>
              </a:rPr>
              <a:t>159 tis.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633472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z nich v segmentech B–E s kanálem s doloženým účinkem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99831" y="2514600"/>
            <a:ext cx="283464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65592" y="2057400"/>
            <a:ext cx="32461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214884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D7CC9"/>
                </a:solidFill>
              </a:rPr>
              <a:t>+9–21 tis.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633472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mamografií navíc ročně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7472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566160"/>
            <a:ext cx="2185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3B7A"/>
                </a:solidFill>
              </a:rPr>
              <a:t>52–116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041648"/>
            <a:ext cx="21854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nádorů zachycených dřív ročně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83864" y="347472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3566160"/>
            <a:ext cx="2185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3B7A"/>
                </a:solidFill>
              </a:rPr>
              <a:t>6–14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4041648"/>
            <a:ext cx="21854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odvrácených úmrtí ročně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47472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79" y="3566160"/>
            <a:ext cx="2185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3B7A"/>
                </a:solidFill>
              </a:rPr>
              <a:t>36–80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4041648"/>
            <a:ext cx="21854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let života ve zdraví (QALY) ročně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97111" y="347472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61703" y="3566160"/>
            <a:ext cx="2185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3B7A"/>
                </a:solidFill>
              </a:rPr>
              <a:t>+4,7–10,4 mil.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3" y="4041648"/>
            <a:ext cx="21854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Kč čisté úspory ročně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846320"/>
            <a:ext cx="1063447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956048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4A4458"/>
                </a:solidFill>
              </a:rPr>
              <a:t>5–10 % teoretického stropu</a:t>
            </a:r>
            <a:r>
              <a:rPr sz="1050" b="0">
                <a:solidFill>
                  <a:srgbClr val="4A4458"/>
                </a:solidFill>
              </a:rPr>
              <a:t>, jen z cílených kanálů v segmentech B–E. Plošná digitální kaskáda podle finančního modelu přinese 156 mil. Kč čistě za 2027–2031.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A4458"/>
                </a:solidFill>
              </a:rPr>
              <a:t>Úspora platí při léčbě IV. stadia za 3 mil. Kč; nákladová efektivita 0,26 mil. Kč za QALY (práh SÚKL 1,2 mil.).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4956048"/>
            <a:ext cx="3611880" cy="1060704"/>
          </a:xfrm>
          <a:prstGeom prst="roundRect">
            <a:avLst>
              <a:gd name="adj" fmla="val 6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502920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</a:rPr>
              <a:t>Nabízíme VZP pilot s randomizací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</a:rPr>
              <a:t>model, segmenty i kód předáme · jakub@weiner.cz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data VZP 2024; docs/interventions.md; finanční model týmu 16. 10. 2026; model posunu stadia (docs/vzp_pitch/dopad.py)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mo graf VZP">
  <a:themeElements>
    <a:clrScheme name="Mamo graf VZP">
      <a:dk1>
        <a:srgbClr val="230F3C"/>
      </a:dk1>
      <a:lt1>
        <a:srgbClr val="FFFFFF"/>
      </a:lt1>
      <a:dk2>
        <a:srgbClr val="4A4458"/>
      </a:dk2>
      <a:lt2>
        <a:srgbClr val="F7F6FB"/>
      </a:lt2>
      <a:accent1>
        <a:srgbClr val="003B7A"/>
      </a:accent1>
      <a:accent2>
        <a:srgbClr val="3D7CC9"/>
      </a:accent2>
      <a:accent3>
        <a:srgbClr val="A9C6EA"/>
      </a:accent3>
      <a:accent4>
        <a:srgbClr val="D27869"/>
      </a:accent4>
      <a:accent5>
        <a:srgbClr val="7A78C3"/>
      </a:accent5>
      <a:accent6>
        <a:srgbClr val="7DA0D7"/>
      </a:accent6>
      <a:hlink>
        <a:srgbClr val="3D7CC9"/>
      </a:hlink>
      <a:folHlink>
        <a:srgbClr val="7A78C3"/>
      </a:folHlink>
    </a:clrScheme>
    <a:fontScheme name="Mamo graf VZP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57</Slides>
  <Notes>52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Mamo graf VZP</vt:lpstr>
      <vt:lpstr>PowerPoint Presentation</vt:lpstr>
      <vt:lpstr>Kdo za návrhem stojí</vt:lpstr>
      <vt:lpstr>Naše odpovědi na zadání VZP</vt:lpstr>
      <vt:lpstr>Architektura systému</vt:lpstr>
      <vt:lpstr>Aplikace VZP: přímý kanál a zpětná vazba</vt:lpstr>
      <vt:lpstr>Model pravděpodobnosti účasti: vysvětlitelný (EBM)</vt:lpstr>
      <vt:lpstr>Model upliftu: bayesovský, s modelem účasti jako priorem</vt:lpstr>
      <vt:lpstr>Postup zavedení</vt:lpstr>
      <vt:lpstr>Otázka a data</vt:lpstr>
      <vt:lpstr>Segmentační model: 11 segmentů jako rozhodovací strom</vt:lpstr>
      <vt:lpstr>Kde jsou ženy? (2024: 207 tisíc nepřišlo)</vt:lpstr>
      <vt:lpstr>Uvnitř segmentů: kde má smysl individuální cílení</vt:lpstr>
      <vt:lpstr>Hlavní tok: pět největších segmentů</vt:lpstr>
      <vt:lpstr>Hlavní zjištění (1/2)</vt:lpstr>
      <vt:lpstr>Hlavní zjištění (2/2)</vt:lpstr>
      <vt:lpstr>Návrhy experimentů (1/2)</vt:lpstr>
      <vt:lpstr>Návrhy experimentů (2/2)</vt:lpstr>
      <vt:lpstr>Návrhy experimentů v aplikaci VZP</vt:lpstr>
      <vt:lpstr>Starší ženy chodí po pozvánce méně, výskyt přitom roste</vt:lpstr>
      <vt:lpstr>Kdo nepřijde, předpovíme vysvětlitelným modelem</vt:lpstr>
      <vt:lpstr>S věkem mizí gynekologická prevence; praktik na mamograf neposílá</vt:lpstr>
      <vt:lpstr>Po každé další pozvánce přijde méně žen</vt:lpstr>
      <vt:lpstr>Většinu žen, které nepřišly, lze oslovit jinak než dopisem</vt:lpstr>
      <vt:lpstr>Šest skupin opatření a podklady, ze kterých vycházejí</vt:lpstr>
      <vt:lpstr>Šest skupin opatření podle náročnosti a dopadu</vt:lpstr>
      <vt:lpstr>Hlavní opatření pro zvolené segmenty</vt:lpstr>
      <vt:lpstr>Ukázka dopisů pro tři segmenty</vt:lpstr>
      <vt:lpstr>Experiment ověří účinek proti dnešnímu dopisu</vt:lpstr>
      <vt:lpstr>Co může přinést plošné nasazení: odhad finančního modelu</vt:lpstr>
      <vt:lpstr>PowerPoint Presentation</vt:lpstr>
      <vt:lpstr>Přehled zvažovaných intervencí a jejich očekávaného účinku</vt:lpstr>
      <vt:lpstr>Data VZP a jejich omezení</vt:lpstr>
      <vt:lpstr>Návrat po mamografii podle segmentu</vt:lpstr>
      <vt:lpstr>Otázky pro VZP a data, která by pilot potřeboval</vt:lpstr>
      <vt:lpstr>Většinu žen, které nepřišly, lze oslovit jinak než dopisem</vt:lpstr>
      <vt:lpstr>Šest skupin opatření podle náročnosti a dopadu</vt:lpstr>
      <vt:lpstr>Hlavní opatření pro zvolené segmenty</vt:lpstr>
      <vt:lpstr>Ukázka dopisů pro tři segmenty</vt:lpstr>
      <vt:lpstr>Ukázka navrhovaných úprav aplikace Moje VZP</vt:lpstr>
      <vt:lpstr>Experiment ověří účinek proti dnešnímu dopisu</vt:lpstr>
      <vt:lpstr>Co může přinést plošné nasazení: odhad finančního modelu</vt:lpstr>
      <vt:lpstr>PowerPoint Presentation</vt:lpstr>
      <vt:lpstr>Přehled zvažovaných intervencí a jejich očekávaného účinku</vt:lpstr>
      <vt:lpstr>Praktik vs. gynekolog</vt:lpstr>
      <vt:lpstr>Kolik karcinomů odhalíme včas navíc</vt:lpstr>
      <vt:lpstr>Doprava: okresy bez mamografu</vt:lpstr>
      <vt:lpstr>Kolik karcinomů přinese doprava</vt:lpstr>
      <vt:lpstr>Lékař se jen zapojí, oslovení běží jeho jménem automaticky</vt:lpstr>
      <vt:lpstr>Digitální kaskáda přivede 44–71 tisíc vyšetření navíc ročně</vt:lpstr>
      <vt:lpstr>Včasné oslovení ušetří na léčbě víc, než stojí screening</vt:lpstr>
      <vt:lpstr>Program ušetří VZP za pět let čistě 86–237 milionů Kč</vt:lpstr>
      <vt:lpstr>Kaskáda oslovení běží sama, zastaví ji žádanka nebo mamograf</vt:lpstr>
      <vt:lpstr>Kampaň s influencery jen jako test, rozpočet se uvolňuje po fázích</vt:lpstr>
      <vt:lpstr>Návrat po mamografii podle segmentu</vt:lpstr>
      <vt:lpstr>Otázky pro VZP a data, která by pilot potřeboval</vt:lpstr>
      <vt:lpstr>Citovaná literatura a dokumenty</vt:lpstr>
      <vt:lpstr>Data VZP a jejich omezení</vt:lpstr>
    </vt:vector>
  </TitlesOfParts>
  <Company>Weiner &amp;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Mámo, graf! Od pozvánky k mamografu</dc:title>
  <dc:subject>PptxGenJS Presentation</dc:subject>
  <dc:creator>Weiner &amp;amp; Partners</dc:creator>
  <cp:revision>30</cp:revision>
  <dcterms:created xsi:type="dcterms:W3CDTF">2026-10-17T00:00:54Z</dcterms:created>
  <dcterms:modified xsi:type="dcterms:W3CDTF">2026-10-17T10:51:04Z</dcterms:modified>
</cp:coreProperties>
</file>
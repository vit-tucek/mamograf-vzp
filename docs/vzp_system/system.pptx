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e3732e6e-0a1d-990b-4483-64f947943fa6}">
          <p14:sldIdLst>
            <p14:sldId id="256"/>
          </p14:sldIdLst>
        </p14:section>
        <p14:section name="Systém" id="{4c08f91b-81ca-82cf-43f8-951d61dbbded}">
          <p14:sldIdLst>
            <p14:sldId id="257"/>
          </p14:sldIdLst>
        </p14:section>
        <p14:section name="Modely" id="{8c3d65c7-fdcb-3dc2-cecd-7b7dc24199fc}">
          <p14:sldIdLst>
            <p14:sldId id="258"/>
            <p14:sldId id="259"/>
          </p14:sldIdLst>
        </p14:section>
        <p14:section name="Postup" id="{da8fab57-4322-9ef2-7a3c-382f38c73f2c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D4F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D4F5C"/>
                </a:solidFill>
                <a:latin typeface="+mn-lt"/>
              </a:rPr>
              <a:t>Měsíce od poslední prevence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Měsíce od poslední prevence</c:v>
                </c:pt>
              </c:strCache>
            </c:strRef>
          </c:tx>
          <c:spPr>
            <a:solidFill>
              <a:srgbClr val="5B2A45"/>
            </a:solidFill>
            <a:ln w="25400" cap="flat">
              <a:solidFill>
                <a:srgbClr val="5B2A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2A45"/>
              </a:solidFill>
              <a:ln w="9525" cap="flat">
                <a:solidFill>
                  <a:srgbClr val="5B2A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  <c:pt idx="7">
                    <c:v>42</c:v>
                  </c:pt>
                  <c:pt idx="8">
                    <c:v>48</c:v>
                  </c:pt>
                  <c:pt idx="9">
                    <c:v>54</c:v>
                  </c:pt>
                  <c:pt idx="10">
                    <c:v>60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0.6</c:v>
                </c:pt>
                <c:pt idx="1">
                  <c:v>0.55</c:v>
                </c:pt>
                <c:pt idx="2">
                  <c:v>0.42</c:v>
                </c:pt>
                <c:pt idx="3">
                  <c:v>0.22</c:v>
                </c:pt>
                <c:pt idx="4">
                  <c:v>0.02</c:v>
                </c:pt>
                <c:pt idx="5">
                  <c:v>-0.18</c:v>
                </c:pt>
                <c:pt idx="6">
                  <c:v>-0.36</c:v>
                </c:pt>
                <c:pt idx="7">
                  <c:v>-0.5</c:v>
                </c:pt>
                <c:pt idx="8">
                  <c:v>-0.6</c:v>
                </c:pt>
                <c:pt idx="9">
                  <c:v>-0.66</c:v>
                </c:pt>
                <c:pt idx="10">
                  <c:v>-0.69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8"/>
        </c:scaling>
        <c:delete val="0"/>
        <c:axPos val="l"/>
        <c:majorGridlines>
          <c:spPr>
            <a:ln w="6350" cap="flat">
              <a:solidFill>
                <a:srgbClr val="E3D5D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D4F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D4F5C"/>
                </a:solidFill>
                <a:latin typeface="+mn-lt"/>
              </a:rPr>
              <a:t>Kontakty se zdravotnictvím za rok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Kontakty se zdravotnictvím za rok</c:v>
                </c:pt>
              </c:strCache>
            </c:strRef>
          </c:tx>
          <c:spPr>
            <a:solidFill>
              <a:srgbClr val="5B2A45"/>
            </a:solidFill>
            <a:ln w="25400" cap="flat">
              <a:solidFill>
                <a:srgbClr val="5B2A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2A45"/>
              </a:solidFill>
              <a:ln w="9525" cap="flat">
                <a:solidFill>
                  <a:srgbClr val="5B2A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8</c:v>
                  </c:pt>
                  <c:pt idx="8">
                    <c:v>10</c:v>
                  </c:pt>
                  <c:pt idx="9">
                    <c:v>12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-0.62</c:v>
                </c:pt>
                <c:pt idx="1">
                  <c:v>-0.34</c:v>
                </c:pt>
                <c:pt idx="2">
                  <c:v>-0.14</c:v>
                </c:pt>
                <c:pt idx="3">
                  <c:v>0.02</c:v>
                </c:pt>
                <c:pt idx="4">
                  <c:v>0.13</c:v>
                </c:pt>
                <c:pt idx="5">
                  <c:v>0.21</c:v>
                </c:pt>
                <c:pt idx="6">
                  <c:v>0.26</c:v>
                </c:pt>
                <c:pt idx="7">
                  <c:v>0.31</c:v>
                </c:pt>
                <c:pt idx="8">
                  <c:v>0.33</c:v>
                </c:pt>
                <c:pt idx="9">
                  <c:v>0.34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8"/>
        </c:scaling>
        <c:delete val="0"/>
        <c:axPos val="l"/>
        <c:majorGridlines>
          <c:spPr>
            <a:ln w="6350" cap="flat">
              <a:solidFill>
                <a:srgbClr val="E3D5D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D4F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D4F5C"/>
                </a:solidFill>
                <a:latin typeface="+mn-lt"/>
              </a:rPr>
              <a:t>Věk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Věk</c:v>
                </c:pt>
              </c:strCache>
            </c:strRef>
          </c:tx>
          <c:spPr>
            <a:solidFill>
              <a:srgbClr val="5B2A45"/>
            </a:solidFill>
            <a:ln w="25400" cap="flat">
              <a:solidFill>
                <a:srgbClr val="5B2A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2A45"/>
              </a:solidFill>
              <a:ln w="9525" cap="flat">
                <a:solidFill>
                  <a:srgbClr val="5B2A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45</c:v>
                  </c:pt>
                  <c:pt idx="1">
                    <c:v>50</c:v>
                  </c:pt>
                  <c:pt idx="2">
                    <c:v>55</c:v>
                  </c:pt>
                  <c:pt idx="3">
                    <c:v>60</c:v>
                  </c:pt>
                  <c:pt idx="4">
                    <c:v>65</c:v>
                  </c:pt>
                  <c:pt idx="5">
                    <c:v>70</c:v>
                  </c:pt>
                  <c:pt idx="6">
                    <c:v>75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-0.28</c:v>
                </c:pt>
                <c:pt idx="1">
                  <c:v>-0.06</c:v>
                </c:pt>
                <c:pt idx="2">
                  <c:v>0.12</c:v>
                </c:pt>
                <c:pt idx="3">
                  <c:v>0.22</c:v>
                </c:pt>
                <c:pt idx="4">
                  <c:v>0.24</c:v>
                </c:pt>
                <c:pt idx="5">
                  <c:v>0.12</c:v>
                </c:pt>
                <c:pt idx="6">
                  <c:v>-0.12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8"/>
        </c:scaling>
        <c:delete val="0"/>
        <c:axPos val="l"/>
        <c:majorGridlines>
          <c:spPr>
            <a:ln w="6350" cap="flat">
              <a:solidFill>
                <a:srgbClr val="E3D5D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Koncept je obecný: platí pro mamografický, kolorektální i cervikální screening, očkování nebo preventivní prohlídky. Jádrem je model, který pro každého klienta odhadne, co se mu zdravotně hrozí, jestli k prevenci přijde sám a o kolik účast zvýší jednotlivé intervence. Kolem něj je komunikace s klienty a poskytovateli a nad tím monitoring a experimenty.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Uprostřed je model, který pro každého klienta počítá tři věci: zdravotní rizika (z historie péče, diagnóz, léků), pravděpodobnost, že k prevenci přijde sám, a uplift, tedy o kolik účast zvýší každá intervence (dopis, e-mail, push, SMS, telefonát nebo navigace, předrezervovaný termín, oslovení přes praktika nebo specialistu). Optimalizace z toho sestaví plán: kdo dostane co, kdy a kterým kanálem, v mezích rozpočtu, kapacit a požadavků na rovnost.
Vlevo komunikace s klienty: výstupem jsou intervence, vstupem odezva, rezervace a odhlášení. Vpravo poskytovatelé: seznamy klientů a objednávání, zpět vykázané výkony, které jsou zároveň výsledkem (přišel / nepřišel) pro učení modelu.
Nahoře monitoring: provoz, ekonomika (náklady, cena za vyšetření navíc, ICER a čistý peněžní přínos, dopad na rozpočet) a zdravotní výsledky (stadium při záchytu, odvrácená úmrtí, QALY, kapacity). Součástí je plánování a řízení experimentů s trvalou kontrolní skupinou; jejich výsledky se vracejí do modelu jako aktualizované odhady účinků.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 pravděpodobnost účasti doporučuji Explainable Boosting Machine (InterpretML): zobecněný aditivní model s vybranými dvojicovými interakcemi, učený boostingem. Každý znak má vlastní křivku, kterou lze číst, ověřit s lékaři a případně upravit. Predikce jednoho klienta se přesně rozloží na příspěvky znaků. Přesnost bývá blízko gradient boostingu a pravděpodobnosti jsou dobře kalibrované, což potřebuje optimalizace i ekonomika. Lze vynutit monotónnost (čím déle od poslední prevence, tím nižší pravděpodobnost) a zkontrolovat férovost. Pro různé horizonty (3, 6, 12 měsíců) buď jeden model na horizont, nebo diskrétní model v čase. GBM se SHAP necháváme jako měřítko: ukáže, kolik přesnosti nás vysvětlitelnost stojí. Křivky na snímku jsou ilustrativní, ne z dat.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Klíčové omezení: bohatá data VZP (roky vykázané péče, diagnózy, léky, registrace, historie prevence, dřívější pozvánky a odezvy, dosažitelnost kanálů, region) dobře předpovídají, kdo přijde. Neřeknou ale, kdo přijde díky intervenci, protože kanály nebyly přidělované náhodně. Uplift naučený jen z historie by byl zkreslený.
Proto: (1) každá kampaň randomizuje a zaznamenává pravděpodobnost přiřazení; trvalý podíl průzkumu (např. 10 %) a Thompson sampling; libovolné pravidlo cílení lze pak vyhodnotit offline. (2) Jádrem je bayesovský hierarchický model na škále logitu: f(x) je logit z modelu účasti (EBM) jako pevný offset a prior, β_k průměrný účinek intervence s priorem z literatury, g_k(x) rozdíly mezi klienty na stejných znacích jako EBM, smrštěné k nule (horseshoe, částečné sdílení). Před prvním pokusem je prior upliftu plně dán EBM a literaturou; každý pokus posune posterior. Uplift zůstává vysvětlitelný. (3) Až bude randomizovaných dat dost: víceramenný DR-learner na gradient boostingu (EBM jako model kontrolního ramene), causal forest pro intervaly spolehlivosti, při velkých datech vícehlavá neuronová síť. (4) Cílí se na zdravotní hodnotu, ne na samotnou účast: τ_k(x) krát zdravotní přínos vyšetření pro daného klienta minus náklad, v mezích rozpočtu, kapacit a rovnosti. (5) Vyhodnocení: Qini / AUUC, kalibrace upliftu, DR off-policy hodnota pravidla, trvalá kontrolní skupina. (6) Rizika: negativní uplift, pořadí a kombinace kanálů (později dynamický režim / kontextový bandit), posun v čase, férovost.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Začneme s tím, co máme: model účasti z historických dat a účinky intervencí z literatury. Pilotní pokus s několika rameny po segmentech dá první posterior. Pak cílíme podle zdravotní hodnoty, s trvalým průzkumem a kontrolní skupinou, a model pravidelně přeučujeme. Monitoring sleduje provoz, ekonomiku a zdravotní výsledky od začátku.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ni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Koncept · systém cílené prevence VZP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mavy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Koncept · systém cílené prevence VZP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Systém cílené prevence VZP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Model pro každého klienta: zdravotní rizika, pravděpodobnost účasti a účinek intervencí</a:t>
            </a:r>
            <a:endParaRPr lang="en-US" sz="1800" dirty="0"/>
          </a:p>
          <a:p>
            <a:pPr algn="l"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chemeClr val="accent3"/>
                </a:solidFill>
              </a:rPr>
              <a:t>Komunikace s klienty a poskytovateli · monitoring ekonomiky a zdravotních výsledků · experimenty</a:t>
            </a: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Koncept pro libovolný preventivní program nebo screening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Architektura systému</a:t>
            </a:r>
            <a:endParaRPr lang="en-US" sz="3000" dirty="0"/>
          </a:p>
        </p:txBody>
      </p:sp>
      <p:sp>
        <p:nvSpPr>
          <p:cNvPr id="3" name="monitoring"/>
          <p:cNvSpPr/>
          <p:nvPr/>
        </p:nvSpPr>
        <p:spPr>
          <a:xfrm>
            <a:off x="548640" y="1234440"/>
            <a:ext cx="1109441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monitoring_nadpis"/>
          <p:cNvSpPr txBox="1"/>
          <p:nvPr/>
        </p:nvSpPr>
        <p:spPr>
          <a:xfrm>
            <a:off x="731520" y="1371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Monitoring a experimenty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vyhodnocení celého systému, plánování a řízení pokusů</a:t>
            </a:r>
            <a:endParaRPr lang="en-US" sz="1600" dirty="0"/>
          </a:p>
        </p:txBody>
      </p:sp>
      <p:sp>
        <p:nvSpPr>
          <p:cNvPr id="5" name="pohled_1"/>
          <p:cNvSpPr/>
          <p:nvPr/>
        </p:nvSpPr>
        <p:spPr>
          <a:xfrm>
            <a:off x="2971800" y="1371600"/>
            <a:ext cx="2030654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6" name="pohled_1_text"/>
          <p:cNvSpPr txBox="1"/>
          <p:nvPr/>
        </p:nvSpPr>
        <p:spPr>
          <a:xfrm>
            <a:off x="3099816" y="1474013"/>
            <a:ext cx="1774622" cy="89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Provoz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dosah a odezva kanálů, účast podle segmentů a regionů</a:t>
            </a:r>
            <a:endParaRPr lang="en-US" sz="1500" dirty="0"/>
          </a:p>
        </p:txBody>
      </p:sp>
      <p:sp>
        <p:nvSpPr>
          <p:cNvPr id="7" name="pohled_2"/>
          <p:cNvSpPr/>
          <p:nvPr/>
        </p:nvSpPr>
        <p:spPr>
          <a:xfrm>
            <a:off x="5139614" y="1371600"/>
            <a:ext cx="2030654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8" name="pohled_2_text"/>
          <p:cNvSpPr txBox="1"/>
          <p:nvPr/>
        </p:nvSpPr>
        <p:spPr>
          <a:xfrm>
            <a:off x="5267630" y="1474013"/>
            <a:ext cx="1774622" cy="89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Ekonomika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náklady, cena za vyšetření navíc, ICER / NMB, dopad na rozpočet</a:t>
            </a:r>
            <a:endParaRPr lang="en-US" sz="1500" dirty="0"/>
          </a:p>
        </p:txBody>
      </p:sp>
      <p:sp>
        <p:nvSpPr>
          <p:cNvPr id="9" name="pohled_3"/>
          <p:cNvSpPr/>
          <p:nvPr/>
        </p:nvSpPr>
        <p:spPr>
          <a:xfrm>
            <a:off x="7307428" y="1371600"/>
            <a:ext cx="2030654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10" name="pohled_3_text"/>
          <p:cNvSpPr txBox="1"/>
          <p:nvPr/>
        </p:nvSpPr>
        <p:spPr>
          <a:xfrm>
            <a:off x="7435444" y="1474013"/>
            <a:ext cx="1774622" cy="89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Zdraví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záchyt v časnějším stadiu, odvrácená úmrtí, QALY, vytížení kapacit</a:t>
            </a:r>
            <a:endParaRPr lang="en-US" sz="1500" dirty="0"/>
          </a:p>
        </p:txBody>
      </p:sp>
      <p:sp>
        <p:nvSpPr>
          <p:cNvPr id="11" name="pohled_4"/>
          <p:cNvSpPr/>
          <p:nvPr/>
        </p:nvSpPr>
        <p:spPr>
          <a:xfrm>
            <a:off x="9475241" y="1371600"/>
            <a:ext cx="2030654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12" name="pohled_4_text"/>
          <p:cNvSpPr txBox="1"/>
          <p:nvPr/>
        </p:nvSpPr>
        <p:spPr>
          <a:xfrm>
            <a:off x="9603257" y="1474013"/>
            <a:ext cx="1774622" cy="89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Experimenty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design, randomizace, kontrolní skupina, vyhodnocení, rozšíření</a:t>
            </a:r>
            <a:endParaRPr lang="en-US" sz="1500" dirty="0"/>
          </a:p>
        </p:txBody>
      </p:sp>
      <p:sp>
        <p:nvSpPr>
          <p:cNvPr id="13" name="klient"/>
          <p:cNvSpPr/>
          <p:nvPr/>
        </p:nvSpPr>
        <p:spPr>
          <a:xfrm>
            <a:off x="548640" y="3108960"/>
            <a:ext cx="3063240" cy="324612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4" name="klient_text"/>
          <p:cNvSpPr txBox="1"/>
          <p:nvPr/>
        </p:nvSpPr>
        <p:spPr>
          <a:xfrm>
            <a:off x="713232" y="3240634"/>
            <a:ext cx="2734056" cy="29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Komunikace VZP ↔ klient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Ven:</a:t>
            </a:r>
            <a:r>
              <a:rPr lang="en-US" sz="1400" dirty="0">
                <a:solidFill>
                  <a:schemeClr val="tx1"/>
                </a:solidFill>
              </a:rPr>
              <a:t> dopis, e-mail, push notifikace, SMS, telefonát / navigace, předrezervovaný termín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Zpět:</a:t>
            </a:r>
            <a:r>
              <a:rPr lang="en-US" sz="1400" dirty="0">
                <a:solidFill>
                  <a:schemeClr val="tx1"/>
                </a:solidFill>
              </a:rPr>
              <a:t> odezva, rezervace termínu, odhlášení a preference kanálu</a:t>
            </a:r>
            <a:endParaRPr lang="en-US" sz="1700" dirty="0"/>
          </a:p>
        </p:txBody>
      </p:sp>
      <p:sp>
        <p:nvSpPr>
          <p:cNvPr id="15" name="poskytovatele"/>
          <p:cNvSpPr/>
          <p:nvPr/>
        </p:nvSpPr>
        <p:spPr>
          <a:xfrm>
            <a:off x="8579815" y="3108960"/>
            <a:ext cx="3063240" cy="324612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6" name="poskytovatele_text"/>
          <p:cNvSpPr txBox="1"/>
          <p:nvPr/>
        </p:nvSpPr>
        <p:spPr>
          <a:xfrm>
            <a:off x="8744407" y="3240634"/>
            <a:ext cx="2734056" cy="29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Komunikace VZP ↔ poskytovatelé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Ven:</a:t>
            </a:r>
            <a:r>
              <a:rPr lang="en-US" sz="1400" dirty="0">
                <a:solidFill>
                  <a:schemeClr val="tx1"/>
                </a:solidFill>
              </a:rPr>
              <a:t> seznamy klientů pro praktiky a specialisty, objednání u poskytovatele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Zpět:</a:t>
            </a:r>
            <a:r>
              <a:rPr lang="en-US" sz="1400" dirty="0">
                <a:solidFill>
                  <a:schemeClr val="tx1"/>
                </a:solidFill>
              </a:rPr>
              <a:t> vykázané výkony (výsledek: přišel / nepřišel, nález), volné kapacity</a:t>
            </a:r>
            <a:endParaRPr lang="en-US" sz="1700" dirty="0"/>
          </a:p>
        </p:txBody>
      </p:sp>
      <p:sp>
        <p:nvSpPr>
          <p:cNvPr id="17" name="model"/>
          <p:cNvSpPr/>
          <p:nvPr/>
        </p:nvSpPr>
        <p:spPr>
          <a:xfrm>
            <a:off x="4297680" y="3108960"/>
            <a:ext cx="3596335" cy="3246120"/>
          </a:xfrm>
          <a:prstGeom prst="roundRect">
            <a:avLst>
              <a:gd name="adj" fmla="val 2254"/>
            </a:avLst>
          </a:prstGeom>
          <a:solidFill>
            <a:schemeClr val="accent1"/>
          </a:solidFill>
          <a:ln/>
        </p:spPr>
      </p:sp>
      <p:sp>
        <p:nvSpPr>
          <p:cNvPr id="18" name="model_nadpis"/>
          <p:cNvSpPr txBox="1"/>
          <p:nvPr/>
        </p:nvSpPr>
        <p:spPr>
          <a:xfrm>
            <a:off x="4480560" y="3218688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Model v VZP</a:t>
            </a:r>
            <a:endParaRPr lang="en-US" sz="1800" dirty="0"/>
          </a:p>
        </p:txBody>
      </p:sp>
      <p:sp>
        <p:nvSpPr>
          <p:cNvPr id="19" name="model_cast_1"/>
          <p:cNvSpPr/>
          <p:nvPr/>
        </p:nvSpPr>
        <p:spPr>
          <a:xfrm>
            <a:off x="4480560" y="3639312"/>
            <a:ext cx="3230575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</p:sp>
      <p:sp>
        <p:nvSpPr>
          <p:cNvPr id="20" name="model_cast_1_text"/>
          <p:cNvSpPr txBox="1"/>
          <p:nvPr/>
        </p:nvSpPr>
        <p:spPr>
          <a:xfrm>
            <a:off x="4617720" y="3685032"/>
            <a:ext cx="2956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Zdravotní rizika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jaké nemoci a jak moc hrozí (z historie péče)</a:t>
            </a:r>
            <a:endParaRPr lang="en-US" sz="1300" dirty="0"/>
          </a:p>
        </p:txBody>
      </p:sp>
      <p:sp>
        <p:nvSpPr>
          <p:cNvPr id="21" name="model_cast_2"/>
          <p:cNvSpPr/>
          <p:nvPr/>
        </p:nvSpPr>
        <p:spPr>
          <a:xfrm>
            <a:off x="4480560" y="4297680"/>
            <a:ext cx="3230575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</p:sp>
      <p:sp>
        <p:nvSpPr>
          <p:cNvPr id="22" name="model_cast_2_text"/>
          <p:cNvSpPr txBox="1"/>
          <p:nvPr/>
        </p:nvSpPr>
        <p:spPr>
          <a:xfrm>
            <a:off x="4617720" y="4343400"/>
            <a:ext cx="2956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Pravděpodobnost účasti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přijde klient k prevenci sám, bez zásahu?</a:t>
            </a:r>
            <a:endParaRPr lang="en-US" sz="1300" dirty="0"/>
          </a:p>
        </p:txBody>
      </p:sp>
      <p:sp>
        <p:nvSpPr>
          <p:cNvPr id="23" name="model_cast_3"/>
          <p:cNvSpPr/>
          <p:nvPr/>
        </p:nvSpPr>
        <p:spPr>
          <a:xfrm>
            <a:off x="4480560" y="4956048"/>
            <a:ext cx="3230575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</p:sp>
      <p:sp>
        <p:nvSpPr>
          <p:cNvPr id="24" name="model_cast_3_text"/>
          <p:cNvSpPr txBox="1"/>
          <p:nvPr/>
        </p:nvSpPr>
        <p:spPr>
          <a:xfrm>
            <a:off x="4617720" y="5001768"/>
            <a:ext cx="2956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Uplift intervencí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 kolik účast zvýší každá intervence</a:t>
            </a:r>
            <a:endParaRPr lang="en-US" sz="1300" dirty="0"/>
          </a:p>
        </p:txBody>
      </p:sp>
      <p:sp>
        <p:nvSpPr>
          <p:cNvPr id="25" name="optimalizace"/>
          <p:cNvSpPr/>
          <p:nvPr/>
        </p:nvSpPr>
        <p:spPr>
          <a:xfrm>
            <a:off x="4480560" y="5614416"/>
            <a:ext cx="3230575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26" name="optimalizace_text"/>
          <p:cNvSpPr txBox="1"/>
          <p:nvPr/>
        </p:nvSpPr>
        <p:spPr>
          <a:xfrm>
            <a:off x="4617720" y="5687568"/>
            <a:ext cx="2956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Optimalizace: </a:t>
            </a:r>
            <a:r>
              <a:rPr lang="en-US" sz="1200" dirty="0">
                <a:solidFill>
                  <a:schemeClr val="bg1"/>
                </a:solidFill>
              </a:rPr>
              <a:t>kdo dostane co, kdy a jakým kanálem, v mezích rozpočtu, kapacit a rovnosti</a:t>
            </a:r>
            <a:endParaRPr lang="en-US" sz="1250" dirty="0"/>
          </a:p>
        </p:txBody>
      </p:sp>
      <p:sp>
        <p:nvSpPr>
          <p:cNvPr id="27" name="sip_kl_ven"/>
          <p:cNvSpPr/>
          <p:nvPr/>
        </p:nvSpPr>
        <p:spPr>
          <a:xfrm>
            <a:off x="3611880" y="4023360"/>
            <a:ext cx="68580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headEnd type="triangle"/>
          </a:ln>
        </p:spPr>
      </p:sp>
      <p:sp>
        <p:nvSpPr>
          <p:cNvPr id="28" name="sip_kl_ven_popis"/>
          <p:cNvSpPr txBox="1"/>
          <p:nvPr/>
        </p:nvSpPr>
        <p:spPr>
          <a:xfrm>
            <a:off x="349758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intervence</a:t>
            </a:r>
            <a:endParaRPr lang="en-US" sz="1100" dirty="0"/>
          </a:p>
        </p:txBody>
      </p:sp>
      <p:sp>
        <p:nvSpPr>
          <p:cNvPr id="29" name="sip_kl_zpet"/>
          <p:cNvSpPr/>
          <p:nvPr/>
        </p:nvSpPr>
        <p:spPr>
          <a:xfrm>
            <a:off x="3611880" y="5440680"/>
            <a:ext cx="68580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30" name="sip_kl_zpet_popis"/>
          <p:cNvSpPr txBox="1"/>
          <p:nvPr/>
        </p:nvSpPr>
        <p:spPr>
          <a:xfrm>
            <a:off x="3497580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odezva</a:t>
            </a:r>
            <a:endParaRPr lang="en-US" sz="1100" dirty="0"/>
          </a:p>
        </p:txBody>
      </p:sp>
      <p:sp>
        <p:nvSpPr>
          <p:cNvPr id="31" name="sip_po_ven"/>
          <p:cNvSpPr/>
          <p:nvPr/>
        </p:nvSpPr>
        <p:spPr>
          <a:xfrm>
            <a:off x="7894015" y="4023360"/>
            <a:ext cx="68580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32" name="sip_po_ven_popis"/>
          <p:cNvSpPr txBox="1"/>
          <p:nvPr/>
        </p:nvSpPr>
        <p:spPr>
          <a:xfrm>
            <a:off x="7779715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seznamy</a:t>
            </a:r>
            <a:endParaRPr lang="en-US" sz="1100" dirty="0"/>
          </a:p>
        </p:txBody>
      </p:sp>
      <p:sp>
        <p:nvSpPr>
          <p:cNvPr id="33" name="sip_po_zpet"/>
          <p:cNvSpPr/>
          <p:nvPr/>
        </p:nvSpPr>
        <p:spPr>
          <a:xfrm>
            <a:off x="7894015" y="5440680"/>
            <a:ext cx="68580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headEnd type="triangle"/>
          </a:ln>
        </p:spPr>
      </p:sp>
      <p:sp>
        <p:nvSpPr>
          <p:cNvPr id="34" name="sip_po_zpet_popis"/>
          <p:cNvSpPr txBox="1"/>
          <p:nvPr/>
        </p:nvSpPr>
        <p:spPr>
          <a:xfrm>
            <a:off x="7779715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výkony</a:t>
            </a:r>
            <a:endParaRPr lang="en-US" sz="1100" dirty="0"/>
          </a:p>
        </p:txBody>
      </p:sp>
      <p:sp>
        <p:nvSpPr>
          <p:cNvPr id="35" name="sip_mon_nahoru"/>
          <p:cNvSpPr/>
          <p:nvPr/>
        </p:nvSpPr>
        <p:spPr>
          <a:xfrm>
            <a:off x="5376581" y="2606040"/>
            <a:ext cx="0" cy="50292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headEnd type="triangle"/>
          </a:ln>
        </p:spPr>
      </p:sp>
      <p:sp>
        <p:nvSpPr>
          <p:cNvPr id="36" name="sip_mon_nahoru_popis"/>
          <p:cNvSpPr txBox="1"/>
          <p:nvPr/>
        </p:nvSpPr>
        <p:spPr>
          <a:xfrm>
            <a:off x="3319181" y="27203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predikce, rozhodnutí</a:t>
            </a:r>
            <a:endParaRPr lang="en-US" sz="1100" dirty="0"/>
          </a:p>
        </p:txBody>
      </p:sp>
      <p:sp>
        <p:nvSpPr>
          <p:cNvPr id="37" name="sip_mon_dolu"/>
          <p:cNvSpPr/>
          <p:nvPr/>
        </p:nvSpPr>
        <p:spPr>
          <a:xfrm>
            <a:off x="6815115" y="2606040"/>
            <a:ext cx="0" cy="50292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38" name="sip_mon_dolu_popis"/>
          <p:cNvSpPr txBox="1"/>
          <p:nvPr/>
        </p:nvSpPr>
        <p:spPr>
          <a:xfrm>
            <a:off x="6906555" y="27203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výsledky pokusů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Model pravděpodobnosti účasti: vysvětlitelný (EBM)</a:t>
            </a:r>
            <a:endParaRPr lang="en-US" sz="3000" dirty="0"/>
          </a:p>
        </p:txBody>
      </p:sp>
      <p:sp>
        <p:nvSpPr>
          <p:cNvPr id="3" name="vzorec"/>
          <p:cNvSpPr/>
          <p:nvPr/>
        </p:nvSpPr>
        <p:spPr>
          <a:xfrm>
            <a:off x="548640" y="1234440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4" name="vzorec_text"/>
          <p:cNvSpPr txBox="1"/>
          <p:nvPr/>
        </p:nvSpPr>
        <p:spPr>
          <a:xfrm>
            <a:off x="777240" y="13258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logit p(x) = β</a:t>
            </a:r>
            <a:r>
              <a:rPr lang="en-US" sz="1800" baseline="-40000" dirty="0">
                <a:solidFill>
                  <a:schemeClr val="bg1"/>
                </a:solidFill>
              </a:rPr>
              <a:t>0</a:t>
            </a:r>
            <a:r>
              <a:rPr lang="en-US" sz="1800" dirty="0">
                <a:solidFill>
                  <a:schemeClr val="bg1"/>
                </a:solidFill>
              </a:rPr>
              <a:t> + Σ f</a:t>
            </a:r>
            <a:r>
              <a:rPr lang="en-US" sz="1800" baseline="-40000" dirty="0">
                <a:solidFill>
                  <a:schemeClr val="bg1"/>
                </a:solidFill>
              </a:rPr>
              <a:t>j</a:t>
            </a:r>
            <a:r>
              <a:rPr lang="en-US" sz="1800" dirty="0">
                <a:solidFill>
                  <a:schemeClr val="bg1"/>
                </a:solidFill>
              </a:rPr>
              <a:t>(x</a:t>
            </a:r>
            <a:r>
              <a:rPr lang="en-US" sz="1800" baseline="-40000" dirty="0">
                <a:solidFill>
                  <a:schemeClr val="bg1"/>
                </a:solidFill>
              </a:rPr>
              <a:t>j</a:t>
            </a:r>
            <a:r>
              <a:rPr lang="en-US" sz="1800" dirty="0">
                <a:solidFill>
                  <a:schemeClr val="bg1"/>
                </a:solidFill>
              </a:rPr>
              <a:t>) + Σ f</a:t>
            </a:r>
            <a:r>
              <a:rPr lang="en-US" sz="1800" baseline="-40000" dirty="0">
                <a:solidFill>
                  <a:schemeClr val="bg1"/>
                </a:solidFill>
              </a:rPr>
              <a:t>ij</a:t>
            </a:r>
            <a:r>
              <a:rPr lang="en-US" sz="1800" dirty="0">
                <a:solidFill>
                  <a:schemeClr val="bg1"/>
                </a:solidFill>
              </a:rPr>
              <a:t>(x</a:t>
            </a:r>
            <a:r>
              <a:rPr lang="en-US" sz="1800" baseline="-40000" dirty="0">
                <a:solidFill>
                  <a:schemeClr val="bg1"/>
                </a:solidFill>
              </a:rPr>
              <a:t>i</a:t>
            </a:r>
            <a:r>
              <a:rPr lang="en-US" sz="1800" dirty="0">
                <a:solidFill>
                  <a:schemeClr val="bg1"/>
                </a:solidFill>
              </a:rPr>
              <a:t>, x</a:t>
            </a:r>
            <a:r>
              <a:rPr lang="en-US" sz="1800" baseline="-40000" dirty="0">
                <a:solidFill>
                  <a:schemeClr val="bg1"/>
                </a:solidFill>
              </a:rPr>
              <a:t>j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  <a:r>
              <a:rPr lang="en-US" sz="1300" dirty="0">
                <a:solidFill>
                  <a:schemeClr val="accent3"/>
                </a:solidFill>
              </a:rPr>
              <a:t>     Explainable Boosting Machine: zobecněný aditivní model s vybranými interakcemi, učený boostingem</a:t>
            </a:r>
            <a:endParaRPr lang="en-US" sz="1800" dirty="0"/>
          </a:p>
        </p:txBody>
      </p:sp>
      <p:graphicFrame>
        <p:nvGraphicFramePr>
          <p:cNvPr id="5" name="tvarova_funkce_1" descr=""/>
          <p:cNvGraphicFramePr/>
          <p:nvPr/>
        </p:nvGraphicFramePr>
        <p:xfrm>
          <a:off x="548640" y="2103120"/>
          <a:ext cx="27889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varova_funkce_2" descr=""/>
          <p:cNvGraphicFramePr/>
          <p:nvPr/>
        </p:nvGraphicFramePr>
        <p:xfrm>
          <a:off x="3520440" y="2103120"/>
          <a:ext cx="27889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varova_funkce_3" descr=""/>
          <p:cNvGraphicFramePr/>
          <p:nvPr/>
        </p:nvGraphicFramePr>
        <p:xfrm>
          <a:off x="548640" y="4251960"/>
          <a:ext cx="27889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jak_cist"/>
          <p:cNvSpPr/>
          <p:nvPr/>
        </p:nvSpPr>
        <p:spPr>
          <a:xfrm>
            <a:off x="3520440" y="4251960"/>
            <a:ext cx="27889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9" name="jak_cist_text"/>
          <p:cNvSpPr txBox="1"/>
          <p:nvPr/>
        </p:nvSpPr>
        <p:spPr>
          <a:xfrm>
            <a:off x="3685032" y="4383634"/>
            <a:ext cx="2459736" cy="1702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Jak číst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Každá křivka je </a:t>
            </a:r>
            <a:r>
              <a:rPr lang="en-US" sz="1200" b="1" dirty="0">
                <a:solidFill>
                  <a:schemeClr val="tx1"/>
                </a:solidFill>
              </a:rPr>
              <a:t>příspěvek jednoho znaku k logitu</a:t>
            </a:r>
            <a:r>
              <a:rPr lang="en-US" sz="1200" dirty="0">
                <a:solidFill>
                  <a:schemeClr val="tx1"/>
                </a:solidFill>
              </a:rPr>
              <a:t>. Predikce klienta je jejich součet, takže je </a:t>
            </a:r>
            <a:r>
              <a:rPr lang="en-US" sz="1200" b="1" dirty="0">
                <a:solidFill>
                  <a:schemeClr val="tx1"/>
                </a:solidFill>
              </a:rPr>
              <a:t>přesně</a:t>
            </a:r>
            <a:r>
              <a:rPr lang="en-US" sz="1200" dirty="0">
                <a:solidFill>
                  <a:schemeClr val="tx1"/>
                </a:solidFill>
              </a:rPr>
              <a:t> vidět, proč vyšla. Křivky jsou ilustrativní.</a:t>
            </a:r>
            <a:endParaRPr lang="en-US" sz="1500" dirty="0"/>
          </a:p>
        </p:txBody>
      </p:sp>
      <p:sp>
        <p:nvSpPr>
          <p:cNvPr id="10" name="proc_ebm"/>
          <p:cNvSpPr txBox="1"/>
          <p:nvPr/>
        </p:nvSpPr>
        <p:spPr>
          <a:xfrm>
            <a:off x="6629400" y="2103120"/>
            <a:ext cx="50136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Skleněná skříňka:</a:t>
            </a:r>
            <a:r>
              <a:rPr lang="en-US" sz="1400" dirty="0">
                <a:solidFill>
                  <a:schemeClr val="tx1"/>
                </a:solidFill>
              </a:rPr>
              <a:t> model je přímo čitelný, rozklad predikce je přesný (ne dodatečná aproximace jako SHAP nad černou skříňkou).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Přesnost</a:t>
            </a:r>
            <a:r>
              <a:rPr lang="en-US" sz="1400" dirty="0">
                <a:solidFill>
                  <a:schemeClr val="tx1"/>
                </a:solidFill>
              </a:rPr>
              <a:t> na tabulkových datech blízko gradient boostingu, </a:t>
            </a:r>
            <a:r>
              <a:rPr lang="en-US" sz="1400" b="1" dirty="0">
                <a:solidFill>
                  <a:schemeClr val="tx1"/>
                </a:solidFill>
              </a:rPr>
              <a:t>dobře kalibrované pravděpodobnosti</a:t>
            </a:r>
            <a:r>
              <a:rPr lang="en-US" sz="1400" dirty="0">
                <a:solidFill>
                  <a:schemeClr val="tx1"/>
                </a:solidFill>
              </a:rPr>
              <a:t> pro optimalizaci a ekonomiku.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Kontrola:</a:t>
            </a:r>
            <a:r>
              <a:rPr lang="en-US" sz="1400" dirty="0">
                <a:solidFill>
                  <a:schemeClr val="tx1"/>
                </a:solidFill>
              </a:rPr>
              <a:t> monotónní omezení, úprava křivek s lékaři, kontrola férovosti podle regionů a skupin.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Regulace:</a:t>
            </a:r>
            <a:r>
              <a:rPr lang="en-US" sz="1400" dirty="0">
                <a:solidFill>
                  <a:schemeClr val="tx1"/>
                </a:solidFill>
              </a:rPr>
              <a:t> vysvětlení pro klienta, lékaře i regulátora (GDPR čl. 22, AI Act).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Prior pro uplift:</a:t>
            </a:r>
            <a:r>
              <a:rPr lang="en-US" sz="1400" dirty="0">
                <a:solidFill>
                  <a:schemeClr val="tx1"/>
                </a:solidFill>
              </a:rPr>
              <a:t> logit EBM je výchozí bod modelu účinku intervencí (další snímek).</a:t>
            </a:r>
            <a:endParaRPr lang="en-US" sz="1400" dirty="0"/>
          </a:p>
        </p:txBody>
      </p:sp>
      <p:sp>
        <p:nvSpPr>
          <p:cNvPr id="11" name="alternativy"/>
          <p:cNvSpPr txBox="1"/>
          <p:nvPr/>
        </p:nvSpPr>
        <p:spPr>
          <a:xfrm>
            <a:off x="6629400" y="5623560"/>
            <a:ext cx="5013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Zvážené alternativy:</a:t>
            </a:r>
            <a:r>
              <a:rPr lang="en-US" sz="1100" dirty="0">
                <a:solidFill>
                  <a:schemeClr val="accent4"/>
                </a:solidFill>
              </a:rPr>
              <a:t> logit se splajny (málo pružný), skórkarta (méně přesná), GBM + SHAP (jen dodatečné vysvětlení; zůstává jako měřítko ceny vysvětlitelnosti).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Model upliftu: bayesovský, s modelem účasti jako priorem</a:t>
            </a:r>
            <a:endParaRPr lang="en-US" sz="3000" dirty="0"/>
          </a:p>
        </p:txBody>
      </p:sp>
      <p:sp>
        <p:nvSpPr>
          <p:cNvPr id="3" name="prior_ebm"/>
          <p:cNvSpPr/>
          <p:nvPr/>
        </p:nvSpPr>
        <p:spPr>
          <a:xfrm>
            <a:off x="548640" y="123444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prior_ebm_text"/>
          <p:cNvSpPr txBox="1"/>
          <p:nvPr/>
        </p:nvSpPr>
        <p:spPr>
          <a:xfrm>
            <a:off x="713232" y="1366114"/>
            <a:ext cx="2414016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Model účasti (EBM)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f(x): výchozí logit klienta, </a:t>
            </a:r>
            <a:r>
              <a:rPr lang="en-US" sz="1250" b="1" dirty="0">
                <a:solidFill>
                  <a:schemeClr val="tx1"/>
                </a:solidFill>
              </a:rPr>
              <a:t>prior pro uplift</a:t>
            </a:r>
            <a:endParaRPr lang="en-US" sz="1550" dirty="0"/>
          </a:p>
        </p:txBody>
      </p:sp>
      <p:sp>
        <p:nvSpPr>
          <p:cNvPr id="5" name="prior_literatura"/>
          <p:cNvSpPr/>
          <p:nvPr/>
        </p:nvSpPr>
        <p:spPr>
          <a:xfrm>
            <a:off x="548640" y="265176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6" name="prior_literatura_text"/>
          <p:cNvSpPr txBox="1"/>
          <p:nvPr/>
        </p:nvSpPr>
        <p:spPr>
          <a:xfrm>
            <a:off x="713232" y="2783434"/>
            <a:ext cx="2414016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Literatura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β (průměrný účinek intervence): prior z metaanalýz</a:t>
            </a:r>
            <a:endParaRPr lang="en-US" sz="1550" dirty="0"/>
          </a:p>
        </p:txBody>
      </p:sp>
      <p:sp>
        <p:nvSpPr>
          <p:cNvPr id="7" name="bayes"/>
          <p:cNvSpPr/>
          <p:nvPr/>
        </p:nvSpPr>
        <p:spPr>
          <a:xfrm>
            <a:off x="3886200" y="1234440"/>
            <a:ext cx="4160520" cy="2606040"/>
          </a:xfrm>
          <a:prstGeom prst="roundRect">
            <a:avLst>
              <a:gd name="adj" fmla="val 2807"/>
            </a:avLst>
          </a:prstGeom>
          <a:solidFill>
            <a:schemeClr val="accent1"/>
          </a:solidFill>
          <a:ln/>
        </p:spPr>
      </p:sp>
      <p:sp>
        <p:nvSpPr>
          <p:cNvPr id="8" name="bayes_text"/>
          <p:cNvSpPr txBox="1"/>
          <p:nvPr/>
        </p:nvSpPr>
        <p:spPr>
          <a:xfrm>
            <a:off x="4114800" y="1399032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Bayesovský hierarchický model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logit P(účast | x, k) = f(x) + β</a:t>
            </a:r>
            <a:r>
              <a:rPr lang="en-US" sz="1800" baseline="-40000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 + g</a:t>
            </a:r>
            <a:r>
              <a:rPr lang="en-US" sz="1800" baseline="-40000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(x)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τ</a:t>
            </a:r>
            <a:r>
              <a:rPr lang="en-US" sz="1800" baseline="-40000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(x) = σ(f + β</a:t>
            </a:r>
            <a:r>
              <a:rPr lang="en-US" sz="1800" baseline="-40000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 + g</a:t>
            </a:r>
            <a:r>
              <a:rPr lang="en-US" sz="1800" baseline="-40000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) − σ(f)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chemeClr val="accent3"/>
                </a:solidFill>
              </a:rPr>
              <a:t>g</a:t>
            </a:r>
            <a:r>
              <a:rPr lang="en-US" sz="1350" baseline="-40000" dirty="0">
                <a:solidFill>
                  <a:schemeClr val="accent3"/>
                </a:solidFill>
              </a:rPr>
              <a:t>k</a:t>
            </a:r>
            <a:r>
              <a:rPr lang="en-US" sz="1350" dirty="0">
                <a:solidFill>
                  <a:schemeClr val="accent3"/>
                </a:solidFill>
              </a:rPr>
              <a:t>(x): rozdíly v účinku mezi klienty na stejných znacích jako EBM, prior smrštěný k nule. Uplift je malý u těch, kdo přijdou vždy nebo nikdy, největší uprostřed.</a:t>
            </a:r>
            <a:endParaRPr lang="en-US" sz="1600" dirty="0"/>
          </a:p>
        </p:txBody>
      </p:sp>
      <p:sp>
        <p:nvSpPr>
          <p:cNvPr id="9" name="experimenty"/>
          <p:cNvSpPr/>
          <p:nvPr/>
        </p:nvSpPr>
        <p:spPr>
          <a:xfrm>
            <a:off x="8641080" y="1234440"/>
            <a:ext cx="300197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experimenty_text"/>
          <p:cNvSpPr txBox="1"/>
          <p:nvPr/>
        </p:nvSpPr>
        <p:spPr>
          <a:xfrm>
            <a:off x="8805672" y="1366114"/>
            <a:ext cx="2672791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Randomizované pokusy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zaznamenaná pravděpodobnost přiřazení → </a:t>
            </a:r>
            <a:r>
              <a:rPr lang="en-US" sz="1250" b="1" dirty="0">
                <a:solidFill>
                  <a:schemeClr val="tx1"/>
                </a:solidFill>
              </a:rPr>
              <a:t>posterior</a:t>
            </a:r>
            <a:endParaRPr lang="en-US" sz="1550" dirty="0"/>
          </a:p>
        </p:txBody>
      </p:sp>
      <p:sp>
        <p:nvSpPr>
          <p:cNvPr id="11" name="rozhodnuti"/>
          <p:cNvSpPr/>
          <p:nvPr/>
        </p:nvSpPr>
        <p:spPr>
          <a:xfrm>
            <a:off x="8641080" y="2651760"/>
            <a:ext cx="300197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2" name="rozhodnuti_text"/>
          <p:cNvSpPr txBox="1"/>
          <p:nvPr/>
        </p:nvSpPr>
        <p:spPr>
          <a:xfrm>
            <a:off x="8805672" y="2783434"/>
            <a:ext cx="2672791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Rozhodnutí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τ × zdravotní přínos − náklad, v mezích rozpočtu, kapacit a rovnosti</a:t>
            </a:r>
            <a:endParaRPr lang="en-US" sz="1550" dirty="0"/>
          </a:p>
        </p:txBody>
      </p:sp>
      <p:sp>
        <p:nvSpPr>
          <p:cNvPr id="13" name="sip_ebm"/>
          <p:cNvSpPr/>
          <p:nvPr/>
        </p:nvSpPr>
        <p:spPr>
          <a:xfrm>
            <a:off x="3291840" y="1828800"/>
            <a:ext cx="59436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14" name="sip_lit"/>
          <p:cNvSpPr/>
          <p:nvPr/>
        </p:nvSpPr>
        <p:spPr>
          <a:xfrm>
            <a:off x="3291840" y="3246120"/>
            <a:ext cx="59436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15" name="sip_exp"/>
          <p:cNvSpPr/>
          <p:nvPr/>
        </p:nvSpPr>
        <p:spPr>
          <a:xfrm>
            <a:off x="8046720" y="1828800"/>
            <a:ext cx="59436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headEnd type="triangle"/>
          </a:ln>
        </p:spPr>
      </p:sp>
      <p:sp>
        <p:nvSpPr>
          <p:cNvPr id="16" name="sip_rozh"/>
          <p:cNvSpPr/>
          <p:nvPr/>
        </p:nvSpPr>
        <p:spPr>
          <a:xfrm>
            <a:off x="8046720" y="3246120"/>
            <a:ext cx="59436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17" name="sip_pruzkum"/>
          <p:cNvSpPr/>
          <p:nvPr/>
        </p:nvSpPr>
        <p:spPr>
          <a:xfrm>
            <a:off x="10142068" y="2423160"/>
            <a:ext cx="0" cy="22860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headEnd type="triangle"/>
          </a:ln>
        </p:spPr>
      </p:sp>
      <p:sp>
        <p:nvSpPr>
          <p:cNvPr id="18" name="sip_pruzkum_popis"/>
          <p:cNvSpPr txBox="1"/>
          <p:nvPr/>
        </p:nvSpPr>
        <p:spPr>
          <a:xfrm>
            <a:off x="10233508" y="24003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průzkum ~10 %</a:t>
            </a:r>
            <a:endParaRPr lang="en-US" sz="1100" dirty="0"/>
          </a:p>
        </p:txBody>
      </p:sp>
      <p:sp>
        <p:nvSpPr>
          <p:cNvPr id="19" name="pozdeji"/>
          <p:cNvSpPr/>
          <p:nvPr/>
        </p:nvSpPr>
        <p:spPr>
          <a:xfrm>
            <a:off x="3886200" y="4023360"/>
            <a:ext cx="41605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rgbClr val="3D4F5C"/>
            </a:solidFill>
            <a:prstDash val="dash"/>
          </a:ln>
        </p:spPr>
      </p:sp>
      <p:sp>
        <p:nvSpPr>
          <p:cNvPr id="20" name="pozdeji_text"/>
          <p:cNvSpPr txBox="1"/>
          <p:nvPr/>
        </p:nvSpPr>
        <p:spPr>
          <a:xfrm>
            <a:off x="4023360" y="40965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Později, s dostatkem dat:</a:t>
            </a:r>
            <a:r>
              <a:rPr lang="en-US" sz="1200" dirty="0">
                <a:solidFill>
                  <a:schemeClr val="accent4"/>
                </a:solidFill>
              </a:rPr>
              <a:t> DR-learner + causal forest</a:t>
            </a:r>
            <a:endParaRPr lang="en-US" sz="1200" dirty="0"/>
          </a:p>
        </p:txBody>
      </p:sp>
      <p:sp>
        <p:nvSpPr>
          <p:cNvPr id="21" name="proc_randomizace"/>
          <p:cNvSpPr/>
          <p:nvPr/>
        </p:nvSpPr>
        <p:spPr>
          <a:xfrm>
            <a:off x="548640" y="4754880"/>
            <a:ext cx="354573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2" name="proc_randomizace_text"/>
          <p:cNvSpPr txBox="1"/>
          <p:nvPr/>
        </p:nvSpPr>
        <p:spPr>
          <a:xfrm>
            <a:off x="713232" y="4886554"/>
            <a:ext cx="3216554" cy="1336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Proč randomizace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Data VZP ukážou, </a:t>
            </a:r>
            <a:r>
              <a:rPr lang="en-US" sz="1250" b="1" dirty="0">
                <a:solidFill>
                  <a:schemeClr val="tx1"/>
                </a:solidFill>
              </a:rPr>
              <a:t>kdo přichází</a:t>
            </a:r>
            <a:r>
              <a:rPr lang="en-US" sz="1250" dirty="0">
                <a:solidFill>
                  <a:schemeClr val="tx1"/>
                </a:solidFill>
              </a:rPr>
              <a:t>, ale ne </a:t>
            </a:r>
            <a:r>
              <a:rPr lang="en-US" sz="1250" b="1" dirty="0">
                <a:solidFill>
                  <a:schemeClr val="tx1"/>
                </a:solidFill>
              </a:rPr>
              <a:t>kdo přijde díky intervenci</a:t>
            </a:r>
            <a:r>
              <a:rPr lang="en-US" sz="1250" dirty="0">
                <a:solidFill>
                  <a:schemeClr val="tx1"/>
                </a:solidFill>
              </a:rPr>
              <a:t>: kanály nikdy nebyly přidělené náhodně. Uplift se proto učí z pokusů.</a:t>
            </a:r>
            <a:endParaRPr lang="en-US" sz="1550" dirty="0"/>
          </a:p>
        </p:txBody>
      </p:sp>
      <p:sp>
        <p:nvSpPr>
          <p:cNvPr id="23" name="vyhodnoceni"/>
          <p:cNvSpPr/>
          <p:nvPr/>
        </p:nvSpPr>
        <p:spPr>
          <a:xfrm>
            <a:off x="4322978" y="4754880"/>
            <a:ext cx="354573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4" name="vyhodnoceni_text"/>
          <p:cNvSpPr txBox="1"/>
          <p:nvPr/>
        </p:nvSpPr>
        <p:spPr>
          <a:xfrm>
            <a:off x="4487570" y="4886554"/>
            <a:ext cx="3216554" cy="1336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Vyhodnocení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Qini / AUUC a kalibrace upliftu po decilech, hodnota pravidla cílení off-policy (DR), </a:t>
            </a:r>
            <a:r>
              <a:rPr lang="en-US" sz="1250" b="1" dirty="0">
                <a:solidFill>
                  <a:schemeClr val="tx1"/>
                </a:solidFill>
              </a:rPr>
              <a:t>trvalá kontrolní skupina</a:t>
            </a:r>
            <a:r>
              <a:rPr lang="en-US" sz="1250" dirty="0">
                <a:solidFill>
                  <a:schemeClr val="tx1"/>
                </a:solidFill>
              </a:rPr>
              <a:t>.</a:t>
            </a:r>
            <a:endParaRPr lang="en-US" sz="1550" dirty="0"/>
          </a:p>
        </p:txBody>
      </p:sp>
      <p:sp>
        <p:nvSpPr>
          <p:cNvPr id="25" name="rizika"/>
          <p:cNvSpPr/>
          <p:nvPr/>
        </p:nvSpPr>
        <p:spPr>
          <a:xfrm>
            <a:off x="8097317" y="4754880"/>
            <a:ext cx="354573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6" name="rizika_text"/>
          <p:cNvSpPr txBox="1"/>
          <p:nvPr/>
        </p:nvSpPr>
        <p:spPr>
          <a:xfrm>
            <a:off x="8261909" y="4886554"/>
            <a:ext cx="3216554" cy="1336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Rizika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Negativní uplift („sleeping dogs“), pořadí kanálů (dopis → SMS → telefonát), posun v čase, férovost.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Postup zavedení</a:t>
            </a:r>
            <a:endParaRPr lang="en-US" sz="3000" dirty="0"/>
          </a:p>
        </p:txBody>
      </p:sp>
      <p:sp>
        <p:nvSpPr>
          <p:cNvPr id="3" name="krok_1"/>
          <p:cNvSpPr/>
          <p:nvPr/>
        </p:nvSpPr>
        <p:spPr>
          <a:xfrm>
            <a:off x="548640" y="1645920"/>
            <a:ext cx="2036003" cy="3291840"/>
          </a:xfrm>
          <a:prstGeom prst="roundRect">
            <a:avLst>
              <a:gd name="adj" fmla="val 3593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4" name="krok_1_cislo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krok_1_cislo_text"/>
          <p:cNvSpPr txBox="1"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krok_1_text"/>
          <p:cNvSpPr txBox="1"/>
          <p:nvPr/>
        </p:nvSpPr>
        <p:spPr>
          <a:xfrm>
            <a:off x="777240" y="2788920"/>
            <a:ext cx="157880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Priory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model účasti (EBM) a účinky intervencí z literatury</a:t>
            </a:r>
            <a:endParaRPr lang="en-US" sz="1700" dirty="0"/>
          </a:p>
        </p:txBody>
      </p:sp>
      <p:sp>
        <p:nvSpPr>
          <p:cNvPr id="7" name="sip_krok_1"/>
          <p:cNvSpPr/>
          <p:nvPr/>
        </p:nvSpPr>
        <p:spPr>
          <a:xfrm>
            <a:off x="2602931" y="2240280"/>
            <a:ext cx="192024" cy="0"/>
          </a:xfrm>
          <a:prstGeom prst="line">
            <a:avLst/>
          </a:prstGeom>
          <a:noFill/>
          <a:ln w="25400">
            <a:solidFill>
              <a:srgbClr val="E9C9D3"/>
            </a:solidFill>
            <a:prstDash val="solid"/>
            <a:tailEnd type="triangle"/>
          </a:ln>
        </p:spPr>
      </p:sp>
      <p:sp>
        <p:nvSpPr>
          <p:cNvPr id="8" name="krok_2"/>
          <p:cNvSpPr/>
          <p:nvPr/>
        </p:nvSpPr>
        <p:spPr>
          <a:xfrm>
            <a:off x="2813243" y="1645920"/>
            <a:ext cx="2036003" cy="3291840"/>
          </a:xfrm>
          <a:prstGeom prst="roundRect">
            <a:avLst>
              <a:gd name="adj" fmla="val 3593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krok_2_cislo"/>
          <p:cNvSpPr/>
          <p:nvPr/>
        </p:nvSpPr>
        <p:spPr>
          <a:xfrm>
            <a:off x="3041843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krok_2_cislo_text"/>
          <p:cNvSpPr txBox="1"/>
          <p:nvPr/>
        </p:nvSpPr>
        <p:spPr>
          <a:xfrm>
            <a:off x="3041843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krok_2_text"/>
          <p:cNvSpPr txBox="1"/>
          <p:nvPr/>
        </p:nvSpPr>
        <p:spPr>
          <a:xfrm>
            <a:off x="3041843" y="2788920"/>
            <a:ext cx="157880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Pilotní pokus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víceramenná RCT po segmentech, zaznamenané pravděpodobnosti přiřazení</a:t>
            </a:r>
            <a:endParaRPr lang="en-US" sz="1700" dirty="0"/>
          </a:p>
        </p:txBody>
      </p:sp>
      <p:sp>
        <p:nvSpPr>
          <p:cNvPr id="12" name="sip_krok_2"/>
          <p:cNvSpPr/>
          <p:nvPr/>
        </p:nvSpPr>
        <p:spPr>
          <a:xfrm>
            <a:off x="4867534" y="2240280"/>
            <a:ext cx="192024" cy="0"/>
          </a:xfrm>
          <a:prstGeom prst="line">
            <a:avLst/>
          </a:prstGeom>
          <a:noFill/>
          <a:ln w="25400">
            <a:solidFill>
              <a:srgbClr val="E9C9D3"/>
            </a:solidFill>
            <a:prstDash val="solid"/>
            <a:tailEnd type="triangle"/>
          </a:ln>
        </p:spPr>
      </p:sp>
      <p:sp>
        <p:nvSpPr>
          <p:cNvPr id="13" name="krok_3"/>
          <p:cNvSpPr/>
          <p:nvPr/>
        </p:nvSpPr>
        <p:spPr>
          <a:xfrm>
            <a:off x="5077846" y="1645920"/>
            <a:ext cx="2036003" cy="3291840"/>
          </a:xfrm>
          <a:prstGeom prst="roundRect">
            <a:avLst>
              <a:gd name="adj" fmla="val 3593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4" name="krok_3_cislo"/>
          <p:cNvSpPr/>
          <p:nvPr/>
        </p:nvSpPr>
        <p:spPr>
          <a:xfrm>
            <a:off x="5306446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krok_3_cislo_text"/>
          <p:cNvSpPr txBox="1"/>
          <p:nvPr/>
        </p:nvSpPr>
        <p:spPr>
          <a:xfrm>
            <a:off x="530644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krok_3_text"/>
          <p:cNvSpPr txBox="1"/>
          <p:nvPr/>
        </p:nvSpPr>
        <p:spPr>
          <a:xfrm>
            <a:off x="5306446" y="2788920"/>
            <a:ext cx="157880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První model upliftu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bayesovský posterior: kdo na co reaguje</a:t>
            </a:r>
            <a:endParaRPr lang="en-US" sz="1700" dirty="0"/>
          </a:p>
        </p:txBody>
      </p:sp>
      <p:sp>
        <p:nvSpPr>
          <p:cNvPr id="17" name="sip_krok_3"/>
          <p:cNvSpPr/>
          <p:nvPr/>
        </p:nvSpPr>
        <p:spPr>
          <a:xfrm>
            <a:off x="7132137" y="2240280"/>
            <a:ext cx="192024" cy="0"/>
          </a:xfrm>
          <a:prstGeom prst="line">
            <a:avLst/>
          </a:prstGeom>
          <a:noFill/>
          <a:ln w="25400">
            <a:solidFill>
              <a:srgbClr val="E9C9D3"/>
            </a:solidFill>
            <a:prstDash val="solid"/>
            <a:tailEnd type="triangle"/>
          </a:ln>
        </p:spPr>
      </p:sp>
      <p:sp>
        <p:nvSpPr>
          <p:cNvPr id="18" name="krok_4"/>
          <p:cNvSpPr/>
          <p:nvPr/>
        </p:nvSpPr>
        <p:spPr>
          <a:xfrm>
            <a:off x="7342449" y="1645920"/>
            <a:ext cx="2036003" cy="3291840"/>
          </a:xfrm>
          <a:prstGeom prst="roundRect">
            <a:avLst>
              <a:gd name="adj" fmla="val 3593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9" name="krok_4_cislo"/>
          <p:cNvSpPr/>
          <p:nvPr/>
        </p:nvSpPr>
        <p:spPr>
          <a:xfrm>
            <a:off x="7571049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krok_4_cislo_text"/>
          <p:cNvSpPr txBox="1"/>
          <p:nvPr/>
        </p:nvSpPr>
        <p:spPr>
          <a:xfrm>
            <a:off x="7571049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krok_4_text"/>
          <p:cNvSpPr txBox="1"/>
          <p:nvPr/>
        </p:nvSpPr>
        <p:spPr>
          <a:xfrm>
            <a:off x="7571049" y="2788920"/>
            <a:ext cx="157880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Cílení s průzkumem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optimalizace podle zdravotní hodnoty, ~10 % průzkum, trvalá kontrolní skupina</a:t>
            </a:r>
            <a:endParaRPr lang="en-US" sz="1700" dirty="0"/>
          </a:p>
        </p:txBody>
      </p:sp>
      <p:sp>
        <p:nvSpPr>
          <p:cNvPr id="22" name="sip_krok_4"/>
          <p:cNvSpPr/>
          <p:nvPr/>
        </p:nvSpPr>
        <p:spPr>
          <a:xfrm>
            <a:off x="9396740" y="2240280"/>
            <a:ext cx="192024" cy="0"/>
          </a:xfrm>
          <a:prstGeom prst="line">
            <a:avLst/>
          </a:prstGeom>
          <a:noFill/>
          <a:ln w="25400">
            <a:solidFill>
              <a:srgbClr val="E9C9D3"/>
            </a:solidFill>
            <a:prstDash val="solid"/>
            <a:tailEnd type="triangle"/>
          </a:ln>
        </p:spPr>
      </p:sp>
      <p:sp>
        <p:nvSpPr>
          <p:cNvPr id="23" name="krok_5"/>
          <p:cNvSpPr/>
          <p:nvPr/>
        </p:nvSpPr>
        <p:spPr>
          <a:xfrm>
            <a:off x="9607052" y="1645920"/>
            <a:ext cx="2036003" cy="3291840"/>
          </a:xfrm>
          <a:prstGeom prst="roundRect">
            <a:avLst>
              <a:gd name="adj" fmla="val 3593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24" name="krok_5_cislo"/>
          <p:cNvSpPr/>
          <p:nvPr/>
        </p:nvSpPr>
        <p:spPr>
          <a:xfrm>
            <a:off x="9835652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krok_5_cislo_text"/>
          <p:cNvSpPr txBox="1"/>
          <p:nvPr/>
        </p:nvSpPr>
        <p:spPr>
          <a:xfrm>
            <a:off x="983565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krok_5_text"/>
          <p:cNvSpPr txBox="1"/>
          <p:nvPr/>
        </p:nvSpPr>
        <p:spPr>
          <a:xfrm>
            <a:off x="9835652" y="2788920"/>
            <a:ext cx="157880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Učení dokola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pravidelné přeučení, vyhodnocení v monitoringu, rozhodnutí o rozšíření</a:t>
            </a:r>
            <a:endParaRPr lang="en-US" sz="1700" dirty="0"/>
          </a:p>
        </p:txBody>
      </p:sp>
      <p:sp>
        <p:nvSpPr>
          <p:cNvPr id="27" name="monitoring_pointa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Monitoring běží od prvního dne:</a:t>
            </a:r>
            <a:r>
              <a:rPr lang="en-US" sz="1600" dirty="0">
                <a:solidFill>
                  <a:schemeClr val="bg1"/>
                </a:solidFill>
              </a:rPr>
              <a:t> provoz, ekonomika a zdravotní výsledky, vždy proti kontrolní skupině.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mograf">
      <a:dk1>
        <a:srgbClr val="262626"/>
      </a:dk1>
      <a:lt1>
        <a:srgbClr val="FFFFFF"/>
      </a:lt1>
      <a:dk2>
        <a:srgbClr val="5B2A45"/>
      </a:dk2>
      <a:lt2>
        <a:srgbClr val="F7EEF2"/>
      </a:lt2>
      <a:accent1>
        <a:srgbClr val="5B2A45"/>
      </a:accent1>
      <a:accent2>
        <a:srgbClr val="2A9D8F"/>
      </a:accent2>
      <a:accent3>
        <a:srgbClr val="E9C9D3"/>
      </a:accent3>
      <a:accent4>
        <a:srgbClr val="3D4F5C"/>
      </a:accent4>
      <a:accent5>
        <a:srgbClr val="B5838D"/>
      </a:accent5>
      <a:accent6>
        <a:srgbClr val="8DBDB5"/>
      </a:accent6>
      <a:hlink>
        <a:srgbClr val="2A9D8F"/>
      </a:hlink>
      <a:folHlink>
        <a:srgbClr val="5B2A45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Systém cílené prevence VZP</dc:title>
  <dc:subject>PptxGenJS Presentation</dc:subject>
  <dc:creator>PptxGenJS</dc:creator>
  <cp:lastModifiedBy>PptxGenJS</cp:lastModifiedBy>
  <cp:revision>1</cp:revision>
  <dcterms:created xsi:type="dcterms:W3CDTF">2026-10-17T08:27:22Z</dcterms:created>
  <dcterms:modified xsi:type="dcterms:W3CDTF">2026-10-17T08:27:22Z</dcterms:modified>
</cp:coreProperties>
</file>
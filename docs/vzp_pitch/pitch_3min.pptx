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D9509F33-0D5F-A211-AA72-4F5AD8641F3B}">
          <p14:sldIdLst>
            <p14:sldId id="256"/>
            <p14:sldId id="257"/>
            <p14:sldId id="258"/>
            <p14:sldId id="327"/>
            <p14:sldId id="328"/>
            <p14:sldId id="329"/>
            <p14:sldId id="330"/>
            <p14:sldId id="331"/>
          </p14:sldIdLst>
        </p14:section>
        <p14:section name="Model" id="{CCE29113-D4A8-317F-61A0-C3635F8A45EF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32"/>
            <p14:sldId id="333"/>
            <p14:sldId id="334"/>
          </p14:sldIdLst>
        </p14:section>
        <p14:section name="Model" id="{0AC06BD6-BB53-4E48-92C6-352B1699892C}">
          <p14:sldIdLst/>
        </p14:section>
        <p14:section name="Problém a příčiny" id="{3DA29C05-E597-4CBD-ABAC-225C8FB1DC35}">
          <p14:sldIdLst>
            <p14:sldId id="259"/>
            <p14:sldId id="260"/>
            <p14:sldId id="261"/>
            <p14:sldId id="262"/>
            <p14:sldId id="286"/>
            <p14:sldId id="304"/>
            <p14:sldId id="285"/>
            <p14:sldId id="284"/>
            <p14:sldId id="283"/>
            <p14:sldId id="281"/>
            <p14:sldId id="280"/>
            <p14:sldId id="279"/>
            <p14:sldId id="278"/>
            <p14:sldId id="277"/>
            <p14:sldId id="276"/>
            <p14:sldId id="275"/>
          </p14:sldIdLst>
        </p14:section>
        <p14:section name="Skupiny a návrhy" id="{421C17CE-61A2-0D87-DAD9-C2BEA89A7DEB}">
          <p14:sldIdLst>
            <p14:sldId id="263"/>
            <p14:sldId id="264"/>
            <p14:sldId id="265"/>
            <p14:sldId id="266"/>
            <p14:sldId id="273"/>
          </p14:sldIdLst>
        </p14:section>
        <p14:section name="Ověření a dopad" id="{225EEA1D-8C4C-152E-A195-CC28FAE774E7}">
          <p14:sldIdLst>
            <p14:sldId id="267"/>
            <p14:sldId id="268"/>
            <p14:sldId id="269"/>
            <p14:sldId id="274"/>
            <p14:sldId id="295"/>
            <p14:sldId id="296"/>
            <p14:sldId id="297"/>
            <p14:sldId id="298"/>
          </p14:sldIdLst>
        </p14:section>
        <p14:section name="Komunikace" id="{82EC2976-A6EC-43FC-80ED-1E53A12D3740}">
          <p14:sldIdLst>
            <p14:sldId id="310"/>
            <p14:sldId id="307"/>
            <p14:sldId id="300"/>
            <p14:sldId id="308"/>
            <p14:sldId id="309"/>
            <p14:sldId id="311"/>
          </p14:sldIdLst>
        </p14:section>
        <p14:section name="Příloha" id="{7AC58F15-9135-444C-95ED-B56E9497F3E8}">
          <p14:sldIdLst>
            <p14:sldId id="271"/>
            <p14:sldId id="272"/>
            <p14:sldId id="305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17T01:24:15.244"/>
    <p1510:client id="{7FCB1DC3-EF90-7449-BDC5-16AD28E29D30}" v="5" dt="2026-10-17T01:02:12.481"/>
    <p1510:client id="{A05E5FF7-CE86-B81C-0EA8-15421224548A}" v="13" dt="2026-10-17T10:30:09.920"/>
    <p1510:client id="{A1C84B34-CEF5-B14A-8000-68F8A6018631}" v="630" dt="2026-10-17T01:25:23.814"/>
    <p1510:client id="{A3A62A93-0DD2-70F3-D67F-F3A4CB527190}" v="11" dt="2026-10-17T01:23:52.582"/>
    <p1510:client id="{F68B5562-04A5-F295-4EAD-FED569BB31F9}" v="591" dt="2026-10-17T10:50:22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Relationship Id="rId64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4A4458"/>
                </a:solidFill>
              </a:rPr>
              <a:t>Účast do 12 měsíců podle pořadí pozvánky, 2024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Účast do 12 měsíců (%)</c:v>
                </c:pt>
              </c:strCache>
            </c:strRef>
          </c:tx>
          <c:spPr>
            <a:solidFill>
              <a:srgbClr val="3D7CC9"/>
            </a:solidFill>
          </c:spPr>
          <c:dPt>
            <c:idx val="0"/>
            <c:spPr>
              <a:solidFill>
                <a:srgbClr val="003B7A"/>
              </a:solidFill>
            </c:spPr>
          </c:dPt>
          <c:cat>
            <c:strRef>
              <c:f>Sheet1!$A$2:$A$9</c:f>
              <c:strCache>
                <c:ptCount val="8"/>
                <c:pt idx="0">
                  <c:v>1.</c:v>
                </c:pt>
                <c:pt idx="1">
                  <c:v>2.</c:v>
                </c:pt>
                <c:pt idx="2">
                  <c:v>3.</c:v>
                </c:pt>
                <c:pt idx="3">
                  <c:v>4.</c:v>
                </c:pt>
                <c:pt idx="4">
                  <c:v>5.</c:v>
                </c:pt>
                <c:pt idx="5">
                  <c:v>6.</c:v>
                </c:pt>
                <c:pt idx="6">
                  <c:v>7.</c:v>
                </c:pt>
                <c:pt idx="7">
                  <c:v>8. a další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52.7</c:v>
                </c:pt>
                <c:pt idx="1">
                  <c:v>32.1</c:v>
                </c:pt>
                <c:pt idx="2">
                  <c:v>24.4</c:v>
                </c:pt>
                <c:pt idx="3">
                  <c:v>18.4</c:v>
                </c:pt>
                <c:pt idx="4">
                  <c:v>14.8</c:v>
                </c:pt>
                <c:pt idx="5">
                  <c:v>12.9</c:v>
                </c:pt>
                <c:pt idx="6">
                  <c:v>9.9</c:v>
                </c:pt>
                <c:pt idx="7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30F3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CEC"/>
            </a:solidFill>
          </a:ln>
        </c:spPr>
        <c:txPr>
          <a:bodyPr/>
          <a:lstStyle/>
          <a:p>
            <a:pPr>
              <a:defRPr sz="1000">
                <a:solidFill>
                  <a:srgbClr val="4A44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08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s. Dobrý den, jsme tým Mámo, graf! z Weiner &amp; Partners. Za tři minuty ukážeme, komu, čím a s jakým dopadem pomoci k mamografu. Každé číslo stojí na datech VZP, na vědecké literatuře a na naší zkušenosti z e-commerce.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s. V roce 2024 VZP pozvala 256 tisíc žen a 207 tisíc z nich do roka nepřišlo. Po první pozvánce přijde polovina žen, po osmé jen pět procent, a téměř polovina nepřišlých už osmou pozvánku dostala. Další stejný dopis tedy nepomůže. A s věkem mizí preventivní gynekologie, hlavní cesta k mamografu: ze 63 na 17 procent.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s. Odkud segmenty? Ze tří otázek nad daty, která VZP poskytla. Zaprvé historie screeningu: nedávno vyšetřená, první pozvánka, nebo vypadla z rytmu. Zadruhé, chodí na jinou prevenci, ke gynekologovi nebo k zubaři a praktikovi? Zatřetí, je vůbec v kontaktu se zdravotnictvím? Tak vznikne sedm skupin s účastí od 2 do 55 procent. Pravidla jsme stanovili na letech 2020 až 2023 a otestovali na roce 2024: segmenty seřadí ženy skoro stejně dobře jako celý model. (AUC segmentů 0,789 je přepočet z dat; AUC 0,83 logistické regrese je model týmu z prezentace v41.)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s. Jak je používáme? Každý segment dostane kanál, kterým ho zastihneme, a opatření, které podle studií funguje. Prvním pozvaným a vypadlým pevný termín místo otevřené pozvánky: v anglických studiích plus deset až devatenáct bodů. Ženám u gynekologa nebo praktika oslovení přes lékaře. Nedávno vyšetřeným dopis neposíláme vůbec. Z e-commerce přinášíme způsob práce: automatické kaskády zpráv, A/B test s kontrolní skupinou u každé změny a měření skutečného přírůstku, ne kliknutí.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s. Jak odhadujeme dopad? Ve třech krocích. Vezmeme počet žen v segmentu z dat VZP, v segmentech B až E jich je 206 tisíc. Vynásobíme rozpětím účinku z randomizovaných studií. Vyjde devět až jednadvacet tisíc mamografií navíc ročně. Model posunu stadia z toho udělá 36 až 80 let života ve zdraví a pět až jedenáct odvrácených úmrtí ročně, za 260 tisíc korun na rok ve zdraví, hluboko pod prahem SÚKL. A protože literatura je jen odhad, ověříme to experimentem proti dnešnímu dopisu, přesně jako A/B test. (Výpočet: B+C 66 037 žen × 10–19 p. b. a D+E 140 398 žen × 2–6 p. b.; 3,82 QALY na 1 000 mamografií, 993 Kč na mamografii včetně léčby, 1 945 mamografií na odvrácené úmrtí.)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s. Shrnuto: máme model, sedm segmentů a opatření pro každý z nich. Nabízíme VZP pilot s randomizací v segmentech B až E v rámci řízeného vstupu inovací; model, segmenty i návrh experimentu předáme včetně kódu. Výsledkem může být až dvacet tisíc mamografií ročně navíc a desítky let života ve zdraví. Děkujeme.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2350008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světl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1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šed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4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3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355080"/>
            <a:ext cx="1051560" cy="1188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300" dirty="0">
                <a:solidFill>
                  <a:srgbClr val="7A78C3"/>
                </a:solidFill>
              </a:defRPr>
            </a:lvl1pPr>
          </a:lstStyle>
          <a:p>
            <a:pPr marL="0" indent="0">
              <a:buNone/>
            </a:pPr>
            <a:endParaRPr lang="en-US" sz="90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buNone/>
            </a:pP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1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</a:rPr>
              <a:t>Mámo, graf!</a:t>
            </a:r>
          </a:p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</a:rPr>
              <a:t>Od pozvánky k mamografu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0233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AD8F2"/>
                </a:solidFill>
              </a:rPr>
              <a:t>Komu, čím a s jakým dopadem · Rakathon 2026 · výzva VZP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AD8F2"/>
                </a:solidFill>
              </a:rPr>
              <a:t>Každé číslo stojí na třech zdrojích: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4727448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583" y="4727448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51575" y="4727448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PROBLÉM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Každý rok 207 tisíc pozvaných žen na mamograf nepřijde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V roce 2024 VZP pozvala 256 466 žen, do 12 měsíců přišlo 19 %. S každou další pozvánkou účast klesá; další stejný dopis přináší málo.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103120"/>
          <a:ext cx="72237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2103120"/>
            <a:ext cx="31363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6488" y="2212848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27869"/>
                </a:solidFill>
              </a:rPr>
              <a:t>207 201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6488" y="2706624"/>
            <a:ext cx="2734056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žen do 12 měsíců nepřišlo, 81 % pozvaných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474720"/>
            <a:ext cx="31363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3584448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46 %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4078224"/>
            <a:ext cx="2734056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nepřišlých dostalo už osmou nebo další pozvánku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846320"/>
            <a:ext cx="31363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4956048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D7CC9"/>
                </a:solidFill>
              </a:rPr>
              <a:t>63 % → 17 %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5449824"/>
            <a:ext cx="2734056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žen s preventivní gynekologií ve věku 45–49 vs. 70–74 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pro Rakathon 2026, pozvánky 2024 (256 466 žen); naše analýza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ODKUD SEGMENTY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Tři otázky nad daty VZP rozdělí ženy do sedmi skupin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Pravidla stojí jen na polích, která VZP poskytla. Pořadí otázek je priorita: žena patří do první skupiny, jejíž podmínka platí.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3977639" cy="132588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854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1 · Historie screeningu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365760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A</a:t>
            </a:r>
            <a:r>
              <a:rPr sz="1100" b="0">
                <a:solidFill>
                  <a:srgbClr val="230F3C"/>
                </a:solidFill>
              </a:rPr>
              <a:t> screening před méně než 24 měs.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B</a:t>
            </a:r>
            <a:r>
              <a:rPr sz="1100" b="0">
                <a:solidFill>
                  <a:srgbClr val="230F3C"/>
                </a:solidFill>
              </a:rPr>
              <a:t> první pozvánka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C</a:t>
            </a:r>
            <a:r>
              <a:rPr sz="1100" b="0">
                <a:solidFill>
                  <a:srgbClr val="230F3C"/>
                </a:solidFill>
              </a:rPr>
              <a:t> screening v posledních 5 letech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977639" cy="105156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941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2 · Prevence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365760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D</a:t>
            </a:r>
            <a:r>
              <a:rPr sz="1100" b="0">
                <a:solidFill>
                  <a:srgbClr val="230F3C"/>
                </a:solidFill>
              </a:rPr>
              <a:t> preventivní gynekologie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E</a:t>
            </a:r>
            <a:r>
              <a:rPr sz="1100" b="0">
                <a:solidFill>
                  <a:srgbClr val="230F3C"/>
                </a:solidFill>
              </a:rPr>
              <a:t> jiná prevence: zubař, praktik, jiný screening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00600"/>
            <a:ext cx="3977639" cy="105156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28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3 · Kontakt se zdravotnictvím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365760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F</a:t>
            </a:r>
            <a:r>
              <a:rPr sz="1100" b="0">
                <a:solidFill>
                  <a:srgbClr val="230F3C"/>
                </a:solidFill>
              </a:rPr>
              <a:t> aspoň jedna návštěva lékaře za rok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30F3C"/>
                </a:solidFill>
              </a:rPr>
              <a:t>G</a:t>
            </a:r>
            <a:r>
              <a:rPr sz="1100" b="0">
                <a:solidFill>
                  <a:srgbClr val="230F3C"/>
                </a:solidFill>
              </a:rPr>
              <a:t> žádný kontakt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983480" y="2057400"/>
          <a:ext cx="6428232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072"/>
                <a:gridCol w="1188720"/>
                <a:gridCol w="1188720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Ženy 2024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Účast 12 měs.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Nepřišlo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A nedávno vyšetřená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7 600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2 %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7 418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B první pozvánka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37 460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55 %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16 820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C vypadlá z rytmu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28 577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33 %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19 111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D bez screeningu, gynekolog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51 047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21 %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40 573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E bez screeningu, jiná prevence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89 351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8 %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82 559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F jen léčebná péče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28 368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5 %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26 977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G mimo péči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14 063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2 %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13 743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0F3C"/>
                          </a:solidFill>
                        </a:rPr>
                        <a:t>Celkem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30F3C"/>
                          </a:solidFill>
                        </a:rPr>
                        <a:t>256 466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30F3C"/>
                          </a:solidFill>
                        </a:rPr>
                        <a:t>19 %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30F3C"/>
                          </a:solidFill>
                        </a:rPr>
                        <a:t>207 201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983480" y="5029200"/>
            <a:ext cx="642823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5120640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4A4458"/>
                </a:solidFill>
              </a:rPr>
              <a:t>Ověřeno na novém roce:</a:t>
            </a:r>
            <a:r>
              <a:rPr sz="1050" b="0">
                <a:solidFill>
                  <a:srgbClr val="4A4458"/>
                </a:solidFill>
              </a:rPr>
              <a:t> pravidla z let 2020–2023, test na 2024. Samotné segmenty seřadí ženy s AUC 0,79, celý vysvětlitelný model 0,83.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458"/>
                </a:solidFill>
              </a:rPr>
              <a:t>Segmenty jsou stabilní pět let; jemnější verze s 11 segmenty slouží k cílení.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pro Rakathon 2026, pozvánky 2020–2024; naše analýza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JAK SEGMENTY POUŽÍVÁME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Každý segment dostane svůj kanál a opatření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Opatření vybíráme z literatury podle toho, co ženě v segmentu brání. Z e-commerce víme, jak je doručit a změřit.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05872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057400"/>
          <a:ext cx="699516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11880"/>
                <a:gridCol w="146304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Kanál a opatření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Účinek (p. b.)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A nedávno vyšetřená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nezvat, ověřit výkony těsně před odesláním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úspora 7 600 dopisů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B první pozvánka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pevný termín v pozvánce + SMS připomínka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C vypadlá z rytmu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pevný termín dřív: ve 25.–36. měsíci místo po 3–5 letech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D gynekolog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seznam žen bez mamografie pro gynekologa, objednání v ordinaci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E jiná prevence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praktik jako nový kanál: seznam žen, upozornění při prohlídce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F, G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30F3C"/>
                          </a:solidFill>
                        </a:rPr>
                        <a:t>zatím ne: nízká účast a nejistý účinek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30F3C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057400"/>
            <a:ext cx="3410712" cy="3712463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19456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27869"/>
                </a:solidFill>
              </a:rPr>
              <a:t>Co přinášíme z 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06040"/>
            <a:ext cx="306324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segmentace podle chování, ne podle demografie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automatické kaskády zpráv spuštěné událostí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A/B test s kontrolní skupinou u každé změny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měříme přírůstek (uplift), ne kliknutí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cena za konverzi → cena za mamografii navíc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rozpětí účinku z RCT a metaanalýz (docs/interventions.md), přenos do ČR je náš úsudek; data VZP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DOPAD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Dopad počítáme ve třech krocích a ověříme ho experimentem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Každý krok má svůj zdroj: kolik žen je v segmentu, o kolik víc jich podle studií přijde a co to znamená pro zdraví a náklady.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1 · Kolik žen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206 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pozvaných ročně v segmentech B–E: B+C 66 tis., D+E 140 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9476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2999232"/>
            <a:ext cx="256032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2 · O kolik víc přijde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D7CC9"/>
                </a:solidFill>
              </a:rPr>
              <a:t>+2–19 p. 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rozpětí účinku opatření z randomizovaných studií a metaanalýz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79476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999232"/>
            <a:ext cx="256032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3 · Mamografie navíc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9–21 tis.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ročně: dolní a horní mez rozpětí účinku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05088" y="2999232"/>
            <a:ext cx="256032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4 · Zdraví a náklady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27869"/>
                </a:solidFill>
              </a:rPr>
              <a:t>36–80 QALY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a 5–11 odvrácených úmrtí ročně; 0,26 mil. Kč za QALY (práh SÚKL 1,2 mil.)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379476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389120"/>
            <a:ext cx="5806440" cy="173736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988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Ověření experimentem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79" y="4517136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46320"/>
            <a:ext cx="5440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0F3C"/>
                </a:solidFill>
              </a:rPr>
              <a:t>Ženy v segmentech B–E náhodně rozdělíme: kontrola dostane dnešní dopis, ramena nová opatření. Výsledek měříme vykázanými mamografiemi a vyhodnotíme podle přidělení. Jako A/B test v e-commerce: rozšíříme jen to, co prokazatelně funguje.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389120"/>
            <a:ext cx="459943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498848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Čistý přínos v hodnotě zdraví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80060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27869"/>
                </a:solidFill>
              </a:rPr>
              <a:t>34–75 mil. Kč ročně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30352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A4458"/>
                </a:solidFill>
              </a:rPr>
              <a:t>při prahu 1,2 mil. Kč za QALY. Horní scénář finančního modelu digitální kaskády: 86–237 mil. Kč čistě za 2027–2031.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2024; docs/interventions.md; model posunu stadia (docs/ZJISTENI.md, věk 45–74); finanční model 16. 10.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</a:rPr>
              <a:t>Co přinášíme VZP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Máme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1,34 mil. pozvánek a okresní data ČR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vysvětlitelný model účasti (AUC 0,83)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7 segmentů z dat, ověřených na roce 2024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opatření z literatury pro každý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03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Nabízíme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pilot v segmentech B–E s randomizací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pevný termín + SMS a lékař jako kanál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Moje VZP: rezervace, dotazník bariér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model, segmenty i kód předáme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2103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Přineseme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56032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9–21 tis. mamografií navíc ročně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36–80 QALY a 5–11 odvrácených úmrtí ročně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0,26 mil. Kč za QALY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34–75 mil. Kč ročně v hodnotě zdraví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Jakub Weiner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jakub@weiner.cz · +420 602 307 893 · www.weinerpartners.cz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mo graf VZP">
  <a:themeElements>
    <a:clrScheme name="Mamo graf VZP">
      <a:dk1>
        <a:srgbClr val="230F3C"/>
      </a:dk1>
      <a:lt1>
        <a:srgbClr val="FFFFFF"/>
      </a:lt1>
      <a:dk2>
        <a:srgbClr val="4A4458"/>
      </a:dk2>
      <a:lt2>
        <a:srgbClr val="F7F6FB"/>
      </a:lt2>
      <a:accent1>
        <a:srgbClr val="003B7A"/>
      </a:accent1>
      <a:accent2>
        <a:srgbClr val="3D7CC9"/>
      </a:accent2>
      <a:accent3>
        <a:srgbClr val="A9C6EA"/>
      </a:accent3>
      <a:accent4>
        <a:srgbClr val="D27869"/>
      </a:accent4>
      <a:accent5>
        <a:srgbClr val="7A78C3"/>
      </a:accent5>
      <a:accent6>
        <a:srgbClr val="7DA0D7"/>
      </a:accent6>
      <a:hlink>
        <a:srgbClr val="3D7CC9"/>
      </a:hlink>
      <a:folHlink>
        <a:srgbClr val="7A78C3"/>
      </a:folHlink>
    </a:clrScheme>
    <a:fontScheme name="Mamo graf VZP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57</Slides>
  <Notes>52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Mamo graf VZP</vt:lpstr>
      <vt:lpstr>PowerPoint Presentation</vt:lpstr>
      <vt:lpstr>Kdo za návrhem stojí</vt:lpstr>
      <vt:lpstr>Naše odpovědi na zadání VZP</vt:lpstr>
      <vt:lpstr>Architektura systému</vt:lpstr>
      <vt:lpstr>Aplikace VZP: přímý kanál a zpětná vazba</vt:lpstr>
      <vt:lpstr>Model pravděpodobnosti účasti: vysvětlitelný (EBM)</vt:lpstr>
      <vt:lpstr>Model upliftu: bayesovský, s modelem účasti jako priorem</vt:lpstr>
      <vt:lpstr>Postup zavedení</vt:lpstr>
      <vt:lpstr>Otázka a data</vt:lpstr>
      <vt:lpstr>Segmentační model: 11 segmentů jako rozhodovací strom</vt:lpstr>
      <vt:lpstr>Kde jsou ženy? (2024: 207 tisíc nepřišlo)</vt:lpstr>
      <vt:lpstr>Uvnitř segmentů: kde má smysl individuální cílení</vt:lpstr>
      <vt:lpstr>Hlavní tok: pět největších segmentů</vt:lpstr>
      <vt:lpstr>Hlavní zjištění (1/2)</vt:lpstr>
      <vt:lpstr>Hlavní zjištění (2/2)</vt:lpstr>
      <vt:lpstr>Návrhy experimentů (1/2)</vt:lpstr>
      <vt:lpstr>Návrhy experimentů (2/2)</vt:lpstr>
      <vt:lpstr>Návrhy experimentů v aplikaci VZP</vt:lpstr>
      <vt:lpstr>Starší ženy chodí po pozvánce méně, výskyt přitom roste</vt:lpstr>
      <vt:lpstr>Kdo nepřijde, předpovíme vysvětlitelným modelem</vt:lpstr>
      <vt:lpstr>S věkem mizí gynekologická prevence; praktik na mamograf neposílá</vt:lpstr>
      <vt:lpstr>Po každé další pozvánce přijde méně žen</vt:lpstr>
      <vt:lpstr>Většinu žen, které nepřišly, lze oslovit jinak než dopisem</vt:lpstr>
      <vt:lpstr>Šest skupin opatření a podklady, ze kterých vycházejí</vt:lpstr>
      <vt:lpstr>Šest skupin opatření podle náročnosti a dopadu</vt:lpstr>
      <vt:lpstr>Hlavní opatření pro zvolené segmenty</vt:lpstr>
      <vt:lpstr>Ukázka dopisů pro tři segmenty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Data VZP a jejich omezení</vt:lpstr>
      <vt:lpstr>Návrat po mamografii podle segmentu</vt:lpstr>
      <vt:lpstr>Otázky pro VZP a data, která by pilot potřeboval</vt:lpstr>
      <vt:lpstr>Většinu žen, které nepřišly, lze oslovit jinak než dopisem</vt:lpstr>
      <vt:lpstr>Šest skupin opatření podle náročnosti a dopadu</vt:lpstr>
      <vt:lpstr>Hlavní opatření pro zvolené segmenty</vt:lpstr>
      <vt:lpstr>Ukázka dopisů pro tři segmenty</vt:lpstr>
      <vt:lpstr>Ukázka navrhovaných úprav aplikace Moje VZP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Praktik vs. gynekolog</vt:lpstr>
      <vt:lpstr>Kolik karcinomů odhalíme včas navíc</vt:lpstr>
      <vt:lpstr>Doprava: okresy bez mamografu</vt:lpstr>
      <vt:lpstr>Kolik karcinomů přinese doprava</vt:lpstr>
      <vt:lpstr>Lékař se jen zapojí, oslovení běží jeho jménem automaticky</vt:lpstr>
      <vt:lpstr>Digitální kaskáda přivede 44–71 tisíc vyšetření navíc ročně</vt:lpstr>
      <vt:lpstr>Včasné oslovení ušetří na léčbě víc, než stojí screening</vt:lpstr>
      <vt:lpstr>Program ušetří VZP za pět let čistě 86–237 milionů Kč</vt:lpstr>
      <vt:lpstr>Kaskáda oslovení běží sama, zastaví ji žádanka nebo mamograf</vt:lpstr>
      <vt:lpstr>Kampaň s influencery jen jako test, rozpočet se uvolňuje po fázích</vt:lpstr>
      <vt:lpstr>Návrat po mamografii podle segmentu</vt:lpstr>
      <vt:lpstr>Otázky pro VZP a data, která by pilot potřeboval</vt:lpstr>
      <vt:lpstr>Citovaná literatura a dokumenty</vt:lpstr>
      <vt:lpstr>Data VZP a jejich omezení</vt:lpstr>
    </vt:vector>
  </TitlesOfParts>
  <Company>Weiner &amp;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Mámo, graf! Od pozvánky k mamografu</dc:title>
  <dc:subject>PptxGenJS Presentation</dc:subject>
  <dc:creator>Weiner &amp;amp; Partners</dc:creator>
  <cp:revision>30</cp:revision>
  <dcterms:created xsi:type="dcterms:W3CDTF">2026-10-17T00:00:54Z</dcterms:created>
  <dcterms:modified xsi:type="dcterms:W3CDTF">2026-10-17T10:51:04Z</dcterms:modified>
</cp:coreProperties>
</file>
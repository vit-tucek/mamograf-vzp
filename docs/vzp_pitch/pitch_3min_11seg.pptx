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9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Úvod" id="{D9509F33-0D5F-A211-AA72-4F5AD8641F3B}">
          <p14:sldIdLst>
            <p14:sldId id="256"/>
            <p14:sldId id="257"/>
            <p14:sldId id="258"/>
            <p14:sldId id="327"/>
            <p14:sldId id="328"/>
            <p14:sldId id="329"/>
            <p14:sldId id="330"/>
            <p14:sldId id="331"/>
          </p14:sldIdLst>
        </p14:section>
        <p14:section name="Model" id="{CCE29113-D4A8-317F-61A0-C3635F8A45EF}">
          <p14:sldIdLst>
            <p14:sldId id="318"/>
            <p14:sldId id="319"/>
            <p14:sldId id="320"/>
            <p14:sldId id="321"/>
            <p14:sldId id="322"/>
            <p14:sldId id="323"/>
            <p14:sldId id="324"/>
            <p14:sldId id="332"/>
            <p14:sldId id="333"/>
            <p14:sldId id="334"/>
          </p14:sldIdLst>
        </p14:section>
        <p14:section name="Model" id="{0AC06BD6-BB53-4E48-92C6-352B1699892C}">
          <p14:sldIdLst/>
        </p14:section>
        <p14:section name="Problém a příčiny" id="{3DA29C05-E597-4CBD-ABAC-225C8FB1DC35}">
          <p14:sldIdLst>
            <p14:sldId id="259"/>
            <p14:sldId id="260"/>
            <p14:sldId id="261"/>
            <p14:sldId id="262"/>
            <p14:sldId id="286"/>
            <p14:sldId id="304"/>
            <p14:sldId id="285"/>
            <p14:sldId id="284"/>
            <p14:sldId id="283"/>
            <p14:sldId id="281"/>
            <p14:sldId id="280"/>
            <p14:sldId id="279"/>
            <p14:sldId id="278"/>
            <p14:sldId id="277"/>
            <p14:sldId id="276"/>
            <p14:sldId id="275"/>
          </p14:sldIdLst>
        </p14:section>
        <p14:section name="Skupiny a návrhy" id="{421C17CE-61A2-0D87-DAD9-C2BEA89A7DEB}">
          <p14:sldIdLst>
            <p14:sldId id="263"/>
            <p14:sldId id="264"/>
            <p14:sldId id="265"/>
            <p14:sldId id="266"/>
            <p14:sldId id="273"/>
          </p14:sldIdLst>
        </p14:section>
        <p14:section name="Ověření a dopad" id="{225EEA1D-8C4C-152E-A195-CC28FAE774E7}">
          <p14:sldIdLst>
            <p14:sldId id="267"/>
            <p14:sldId id="268"/>
            <p14:sldId id="269"/>
            <p14:sldId id="274"/>
            <p14:sldId id="295"/>
            <p14:sldId id="296"/>
            <p14:sldId id="297"/>
            <p14:sldId id="298"/>
          </p14:sldIdLst>
        </p14:section>
        <p14:section name="Komunikace" id="{82EC2976-A6EC-43FC-80ED-1E53A12D3740}">
          <p14:sldIdLst>
            <p14:sldId id="310"/>
            <p14:sldId id="307"/>
            <p14:sldId id="300"/>
            <p14:sldId id="308"/>
            <p14:sldId id="309"/>
            <p14:sldId id="311"/>
          </p14:sldIdLst>
        </p14:section>
        <p14:section name="Příloha" id="{7AC58F15-9135-444C-95ED-B56E9497F3E8}">
          <p14:sldIdLst>
            <p14:sldId id="271"/>
            <p14:sldId id="272"/>
            <p14:sldId id="305"/>
            <p14:sldId id="2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" dt="2026-10-17T01:24:15.244"/>
    <p1510:client id="{7FCB1DC3-EF90-7449-BDC5-16AD28E29D30}" v="5" dt="2026-10-17T01:02:12.481"/>
    <p1510:client id="{A05E5FF7-CE86-B81C-0EA8-15421224548A}" v="13" dt="2026-10-17T10:30:09.920"/>
    <p1510:client id="{A1C84B34-CEF5-B14A-8000-68F8A6018631}" v="630" dt="2026-10-17T01:25:23.814"/>
    <p1510:client id="{A3A62A93-0DD2-70F3-D67F-F3A4CB527190}" v="11" dt="2026-10-17T01:23:52.582"/>
    <p1510:client id="{F68B5562-04A5-F295-4EAD-FED569BB31F9}" v="591" dt="2026-10-17T10:50:22.7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Relationship Id="rId64" Type="http://schemas.microsoft.com/office/2015/10/relationships/revisionInfo" Target="revisionInfo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0">
                <a:solidFill>
                  <a:srgbClr val="4A4458"/>
                </a:solidFill>
              </a:rPr>
              <a:t>Účast do 12 měsíců podle pořadí pozvánky, 2024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Účast do 12 měsíců (%)</c:v>
                </c:pt>
              </c:strCache>
            </c:strRef>
          </c:tx>
          <c:spPr>
            <a:solidFill>
              <a:srgbClr val="3D7CC9"/>
            </a:solidFill>
          </c:spPr>
          <c:dPt>
            <c:idx val="0"/>
            <c:spPr>
              <a:solidFill>
                <a:srgbClr val="003B7A"/>
              </a:solidFill>
            </c:spPr>
          </c:dPt>
          <c:cat>
            <c:strRef>
              <c:f>Sheet1!$A$2:$A$9</c:f>
              <c:strCache>
                <c:ptCount val="8"/>
                <c:pt idx="0">
                  <c:v>1.</c:v>
                </c:pt>
                <c:pt idx="1">
                  <c:v>2.</c:v>
                </c:pt>
                <c:pt idx="2">
                  <c:v>3.</c:v>
                </c:pt>
                <c:pt idx="3">
                  <c:v>4.</c:v>
                </c:pt>
                <c:pt idx="4">
                  <c:v>5.</c:v>
                </c:pt>
                <c:pt idx="5">
                  <c:v>6.</c:v>
                </c:pt>
                <c:pt idx="6">
                  <c:v>7.</c:v>
                </c:pt>
                <c:pt idx="7">
                  <c:v>8. a další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52.7</c:v>
                </c:pt>
                <c:pt idx="1">
                  <c:v>32.1</c:v>
                </c:pt>
                <c:pt idx="2">
                  <c:v>24.4</c:v>
                </c:pt>
                <c:pt idx="3">
                  <c:v>18.4</c:v>
                </c:pt>
                <c:pt idx="4">
                  <c:v>14.8</c:v>
                </c:pt>
                <c:pt idx="5">
                  <c:v>12.9</c:v>
                </c:pt>
                <c:pt idx="6">
                  <c:v>9.9</c:v>
                </c:pt>
                <c:pt idx="7">
                  <c:v>5.3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230F3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EDCEC"/>
            </a:solidFill>
          </a:ln>
        </c:spPr>
        <c:txPr>
          <a:bodyPr/>
          <a:lstStyle/>
          <a:p>
            <a:pPr>
              <a:defRPr sz="1000">
                <a:solidFill>
                  <a:srgbClr val="4A445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2086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10 s. Dobrý den, jsme tým Mámo, graf! z Weiner &amp; Partners. Za tři minuty ukážeme, komu, čím a s jakým dopadem pomoci k mamografu. Každé číslo stojí na datech VZP, na vědecké literatuře a na naší zkušenosti z e-commerce.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25 s. V roce 2024 VZP pozvala 256 tisíc žen a 207 tisíc z nich do roka nepřišlo. Po první pozvánce přijde polovina žen, po osmé jen pět procent, a téměř polovina nepřišlých už osmou pozvánku dostala. Další stejný dopis tedy nepomůže. A s věkem mizí preventivní gynekologie, hlavní cesta k mamografu: ze 63 na 17 procent.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35 s. Odkud segmenty? Z šesti otázek nad daty, která VZP poskytla, kladených shora dolů. Nejdřív historie screeningu: nedávno vyšetřená, první pozvánka, vypadla z rytmu. Pak prevence: chodí ke gynekologovi, nebo k zubaři a praktikovi? U nich rozhoduje, kolik pozvánek už ignorovala. Nakonec, je vůbec v kontaktu se zdravotnictvím? Vznikne jedenáct skupin s účastí od 2 do 60 procent. Pravidla jsme stanovili na letech 2020 až 2023 a otestovali na roce 2024: segmenty seřadí ženy skoro stejně dobře jako celý model. (AUC segmentů 0,807 z notebooku vzp_segmentation_final; AUC 0,83 logistické regrese je model týmu z prezentace v41.)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35 s. Jak je používáme? Každý segment dostane kanál, kterým ho zastihneme, a opatření, které podle studií funguje. Prvním pozvaným a vypadlým pevný termín místo otevřené pozvánky: v anglických studiích plus deset až devatenáct bodů. Ženám u gynekologa nebo praktika oslovení přes lékaře. Nedávno vyšetřeným dopis neposíláme vůbec. Z e-commerce přinášíme způsob práce: automatické kaskády zpráv, A/B test s kontrolní skupinou u každé změny a měření skutečného přírůstku, ne kliknutí.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40 s. Jak odhadujeme dopad? Ve třech krocích. Vezmeme počet žen v segmentu z dat VZP, v segmentech B až E jich je 206 tisíc. Vynásobíme rozpětím účinku z randomizovaných studií. Vyjde devět až jednadvacet tisíc mamografií navíc ročně. Model posunu stadia z toho udělá 36 až 80 let života ve zdraví a pět až jedenáct odvrácených úmrtí ročně, za 260 tisíc korun na rok ve zdraví, hluboko pod prahem SÚKL. A protože literatura je jen odhad, ověříme to experimentem proti dnešnímu dopisu, přesně jako A/B test. (Výpočet: B+C 66 037 žen × 10–19 p. b. a D+E 140 398 žen × 2–6 p. b.; 3,82 QALY na 1 000 mamografií, 993 Kč na mamografii včetně léčby, 1 945 mamografií na odvrácené úmrtí.)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30 s. Shrnuto: máme model, jedenáct segmentů a opatření pro každý z nich. Nabízíme VZP pilot s randomizací v segmentech B až E v rámci řízeného vstupu inovací; model, segmenty i návrh experimentu předáme včetně kódu. Výsledkem může být až dvacet tisíc mamografií ročně navíc a desítky let života ve zdraví. Děkujeme.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mg/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48640"/>
            <a:ext cx="2350008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bsah světl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812902" y="749808"/>
            <a:ext cx="10570464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600" b="1">
                <a:solidFill>
                  <a:schemeClr val="tx1"/>
                </a:solidFill>
              </a:rPr>
              <a:t>Nadpis</a:t>
            </a:r>
            <a:endParaRPr lang="en-US" sz="36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453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712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bsah šed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812902" y="749808"/>
            <a:ext cx="10570464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600" b="1">
                <a:solidFill>
                  <a:schemeClr val="tx1"/>
                </a:solidFill>
              </a:rPr>
              <a:t>Nadpis</a:t>
            </a:r>
            <a:endParaRPr lang="en-US" sz="36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27080" y="62453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773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sa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300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chemeClr val="accent4"/>
                </a:solidFill>
              </a:rPr>
              <a:t>Koncept · systém cílené prevence VZP</a:t>
            </a:r>
            <a:endParaRPr lang="en-US" sz="10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213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mav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chemeClr val="accent3"/>
                </a:solidFill>
              </a:rPr>
              <a:t>Koncept · systém cílené prevence VZP</a:t>
            </a:r>
            <a:endParaRPr lang="en-US" sz="10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017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SAH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img/logo_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355080"/>
            <a:ext cx="1051560" cy="118872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77240" y="457200"/>
            <a:ext cx="10634472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900" kern="0" spc="300" dirty="0">
                <a:solidFill>
                  <a:srgbClr val="7A78C3"/>
                </a:solidFill>
              </a:defRPr>
            </a:lvl1pPr>
          </a:lstStyle>
          <a:p>
            <a:pPr marL="0" indent="0">
              <a:buNone/>
            </a:pPr>
            <a:endParaRPr lang="en-US" sz="900"/>
          </a:p>
        </p:txBody>
      </p:sp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777240" y="768096"/>
            <a:ext cx="106344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dirty="0">
                <a:solidFill>
                  <a:srgbClr val="230F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marL="0" indent="0" algn="l">
              <a:buNone/>
            </a:pPr>
            <a:endParaRPr lang="en-US" sz="2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4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3072" y="6345936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44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1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86868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</a:rPr>
              <a:t>Mámo, graf!</a:t>
            </a:r>
          </a:p>
          <a:p>
            <a:pPr algn="l"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</a:rPr>
              <a:t>Od pozvánky k mamografu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402336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AD8F2"/>
                </a:solidFill>
              </a:rPr>
              <a:t>Komu, čím a s jakým dopadem · Rakathon 2026 · výzva VZP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7091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DAD8F2"/>
                </a:solidFill>
              </a:rPr>
              <a:t>Každé číslo stojí na třech zdrojích: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39" y="4727448"/>
            <a:ext cx="850392" cy="246888"/>
          </a:xfrm>
          <a:prstGeom prst="roundRect">
            <a:avLst>
              <a:gd name="adj" fmla="val 50000"/>
            </a:avLst>
          </a:prstGeom>
          <a:solidFill>
            <a:srgbClr val="003B7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Data VZP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72583" y="4727448"/>
            <a:ext cx="1005840" cy="246888"/>
          </a:xfrm>
          <a:prstGeom prst="roundRect">
            <a:avLst>
              <a:gd name="adj" fmla="val 50000"/>
            </a:avLst>
          </a:prstGeom>
          <a:solidFill>
            <a:srgbClr val="3D7CC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Literatura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51575" y="4727448"/>
            <a:ext cx="1005840" cy="246888"/>
          </a:xfrm>
          <a:prstGeom prst="roundRect">
            <a:avLst>
              <a:gd name="adj" fmla="val 50000"/>
            </a:avLst>
          </a:prstGeom>
          <a:solidFill>
            <a:srgbClr val="D2786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E-commerce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PROBLÉM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Každý rok 207 tisíc pozvaných žen na mamograf nepřijde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44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A4458"/>
                </a:solidFill>
              </a:rPr>
              <a:t>V roce 2024 VZP pozvala 256 466 žen, do 12 měsíců přišlo 19 %. S každou další pozvánkou účast klesá; další stejný dopis přináší málo.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457200"/>
            <a:ext cx="850392" cy="246888"/>
          </a:xfrm>
          <a:prstGeom prst="roundRect">
            <a:avLst>
              <a:gd name="adj" fmla="val 50000"/>
            </a:avLst>
          </a:prstGeom>
          <a:solidFill>
            <a:srgbClr val="003B7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Data VZP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" y="2103120"/>
          <a:ext cx="722376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75320" y="2103120"/>
            <a:ext cx="313639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76488" y="2212848"/>
            <a:ext cx="273405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D27869"/>
                </a:solidFill>
              </a:rPr>
              <a:t>207 201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6488" y="2706624"/>
            <a:ext cx="2734056" cy="521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A4458"/>
                </a:solidFill>
              </a:rPr>
              <a:t>žen do 12 měsíců nepřišlo, 81 % pozvaných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3474720"/>
            <a:ext cx="313639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76488" y="3584448"/>
            <a:ext cx="273405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003B7A"/>
                </a:solidFill>
              </a:rPr>
              <a:t>46 %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6488" y="4078224"/>
            <a:ext cx="2734056" cy="521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A4458"/>
                </a:solidFill>
              </a:rPr>
              <a:t>nepřišlých dostalo už osmou nebo další pozvánku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846320"/>
            <a:ext cx="3136392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76488" y="4956048"/>
            <a:ext cx="273405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3D7CC9"/>
                </a:solidFill>
              </a:rPr>
              <a:t>63 % → 17 %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5449824"/>
            <a:ext cx="2734056" cy="5669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A4458"/>
                </a:solidFill>
              </a:rPr>
              <a:t>žen s preventivní gynekologií ve věku 45–49 vs. 70–74 let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6291072"/>
            <a:ext cx="8503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8597"/>
                </a:solidFill>
              </a:rPr>
              <a:t>Zdroj: data VZP pro Rakathon 2026, pozvánky 2024 (256 466 žen); naše analýza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ODKUD SEGMENTY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Šest otázek nad daty VZP rozdělí ženy do jedenácti skupin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44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A4458"/>
                </a:solidFill>
              </a:rPr>
              <a:t>Pravidla stojí jen na polích, která VZP poskytla. Otázky jdou shora dolů; žena patří do první skupiny, na kterou odpoví „ano“.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61320" y="457200"/>
            <a:ext cx="850392" cy="246888"/>
          </a:xfrm>
          <a:prstGeom prst="roundRect">
            <a:avLst>
              <a:gd name="adj" fmla="val 50000"/>
            </a:avLst>
          </a:prstGeom>
          <a:solidFill>
            <a:srgbClr val="003B7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Data VZP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2331720" cy="512064"/>
          </a:xfrm>
          <a:prstGeom prst="roundRect">
            <a:avLst>
              <a:gd name="adj" fmla="val 6000"/>
            </a:avLst>
          </a:prstGeom>
          <a:solidFill>
            <a:srgbClr val="F7F6FB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057400"/>
            <a:ext cx="21488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3B7A"/>
                </a:solidFill>
              </a:rPr>
              <a:t>Screening před &lt; 24 měs.?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112264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B7837"/>
                </a:solidFill>
              </a:rPr>
              <a:t>ano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72968" y="2267712"/>
            <a:ext cx="310896" cy="274320"/>
          </a:xfrm>
          <a:prstGeom prst="rightArrow">
            <a:avLst/>
          </a:prstGeom>
          <a:solidFill>
            <a:srgbClr val="A9C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38728" y="2112264"/>
            <a:ext cx="1078992" cy="402336"/>
          </a:xfrm>
          <a:prstGeom prst="roundRect">
            <a:avLst>
              <a:gd name="adj" fmla="val 15000"/>
            </a:avLst>
          </a:prstGeom>
          <a:solidFill>
            <a:srgbClr val="D278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2112264"/>
            <a:ext cx="96926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</a:rPr>
              <a:t>A</a:t>
            </a:r>
            <a:r>
              <a:rPr sz="850" b="0">
                <a:solidFill>
                  <a:srgbClr val="FFFFFF"/>
                </a:solidFill>
              </a:rPr>
              <a:t> · dopis se minul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43000" y="2569464"/>
            <a:ext cx="0" cy="155448"/>
          </a:xfrm>
          <a:prstGeom prst="line">
            <a:avLst/>
          </a:prstGeom>
          <a:ln w="12700">
            <a:solidFill>
              <a:srgbClr val="8A8597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1207007" y="2574036"/>
            <a:ext cx="2743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B2182B"/>
                </a:solidFill>
              </a:rPr>
              <a:t>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724912"/>
            <a:ext cx="2331720" cy="512064"/>
          </a:xfrm>
          <a:prstGeom prst="roundRect">
            <a:avLst>
              <a:gd name="adj" fmla="val 6000"/>
            </a:avLst>
          </a:prstGeom>
          <a:solidFill>
            <a:srgbClr val="F7F6FB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2724912"/>
            <a:ext cx="21488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3B7A"/>
                </a:solidFill>
              </a:rPr>
              <a:t>První pozvánka?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779775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B7837"/>
                </a:solidFill>
              </a:rPr>
              <a:t>ano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172968" y="2935224"/>
            <a:ext cx="310896" cy="274320"/>
          </a:xfrm>
          <a:prstGeom prst="rightArrow">
            <a:avLst/>
          </a:prstGeom>
          <a:solidFill>
            <a:srgbClr val="A9C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38728" y="2779776"/>
            <a:ext cx="1078992" cy="402336"/>
          </a:xfrm>
          <a:prstGeom prst="roundRect">
            <a:avLst>
              <a:gd name="adj" fmla="val 15000"/>
            </a:avLst>
          </a:prstGeom>
          <a:solidFill>
            <a:srgbClr val="003B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93592" y="2779776"/>
            <a:ext cx="96926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</a:rPr>
              <a:t>B1</a:t>
            </a:r>
            <a:r>
              <a:rPr sz="850" b="0">
                <a:solidFill>
                  <a:srgbClr val="FFFFFF"/>
                </a:solidFill>
              </a:rPr>
              <a:t> · &lt; 6 kontaktů za rok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72584" y="2779776"/>
            <a:ext cx="1078992" cy="402336"/>
          </a:xfrm>
          <a:prstGeom prst="roundRect">
            <a:avLst>
              <a:gd name="adj" fmla="val 15000"/>
            </a:avLst>
          </a:prstGeom>
          <a:solidFill>
            <a:srgbClr val="003B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27448" y="2779776"/>
            <a:ext cx="96926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</a:rPr>
              <a:t>B2</a:t>
            </a:r>
            <a:r>
              <a:rPr sz="850" b="0">
                <a:solidFill>
                  <a:srgbClr val="FFFFFF"/>
                </a:solidFill>
              </a:rPr>
              <a:t> · v kontaktu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43000" y="3236976"/>
            <a:ext cx="0" cy="155448"/>
          </a:xfrm>
          <a:prstGeom prst="line">
            <a:avLst/>
          </a:prstGeom>
          <a:ln w="12700">
            <a:solidFill>
              <a:srgbClr val="8A8597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1207007" y="3241548"/>
            <a:ext cx="2743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B2182B"/>
                </a:solidFill>
              </a:rPr>
              <a:t>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392424"/>
            <a:ext cx="2331720" cy="512064"/>
          </a:xfrm>
          <a:prstGeom prst="roundRect">
            <a:avLst>
              <a:gd name="adj" fmla="val 6000"/>
            </a:avLst>
          </a:prstGeom>
          <a:solidFill>
            <a:srgbClr val="F7F6FB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3392424"/>
            <a:ext cx="21488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3B7A"/>
                </a:solidFill>
              </a:rPr>
              <a:t>Screening v posledních 5 letech?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344728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B7837"/>
                </a:solidFill>
              </a:rPr>
              <a:t>ano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172968" y="3602736"/>
            <a:ext cx="310896" cy="274320"/>
          </a:xfrm>
          <a:prstGeom prst="rightArrow">
            <a:avLst/>
          </a:prstGeom>
          <a:solidFill>
            <a:srgbClr val="A9C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538728" y="3447288"/>
            <a:ext cx="1078992" cy="402336"/>
          </a:xfrm>
          <a:prstGeom prst="roundRect">
            <a:avLst>
              <a:gd name="adj" fmla="val 15000"/>
            </a:avLst>
          </a:prstGeom>
          <a:solidFill>
            <a:srgbClr val="003B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93592" y="3447288"/>
            <a:ext cx="96926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</a:rPr>
              <a:t>C1</a:t>
            </a:r>
            <a:r>
              <a:rPr sz="850" b="0">
                <a:solidFill>
                  <a:srgbClr val="FFFFFF"/>
                </a:solidFill>
              </a:rPr>
              <a:t> · ≤ 48 měs.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72584" y="3447288"/>
            <a:ext cx="1078992" cy="402336"/>
          </a:xfrm>
          <a:prstGeom prst="roundRect">
            <a:avLst>
              <a:gd name="adj" fmla="val 15000"/>
            </a:avLst>
          </a:prstGeom>
          <a:solidFill>
            <a:srgbClr val="A9C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27448" y="3447288"/>
            <a:ext cx="96926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230F3C"/>
                </a:solidFill>
              </a:rPr>
              <a:t>C2</a:t>
            </a:r>
            <a:r>
              <a:rPr sz="850" b="0">
                <a:solidFill>
                  <a:srgbClr val="230F3C"/>
                </a:solidFill>
              </a:rPr>
              <a:t> · 4–5+ let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143000" y="3904487"/>
            <a:ext cx="0" cy="155448"/>
          </a:xfrm>
          <a:prstGeom prst="line">
            <a:avLst/>
          </a:prstGeom>
          <a:ln w="12700">
            <a:solidFill>
              <a:srgbClr val="8A8597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1207007" y="3909059"/>
            <a:ext cx="2743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B2182B"/>
                </a:solidFill>
              </a:rPr>
              <a:t>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4059936"/>
            <a:ext cx="2331720" cy="512064"/>
          </a:xfrm>
          <a:prstGeom prst="roundRect">
            <a:avLst>
              <a:gd name="adj" fmla="val 6000"/>
            </a:avLst>
          </a:prstGeom>
          <a:solidFill>
            <a:srgbClr val="F7F6FB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" y="4059936"/>
            <a:ext cx="21488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3B7A"/>
                </a:solidFill>
              </a:rPr>
              <a:t>Preventivní gynekologie?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4680" y="411480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B7837"/>
                </a:solidFill>
              </a:rPr>
              <a:t>ano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3172968" y="4270248"/>
            <a:ext cx="310896" cy="274320"/>
          </a:xfrm>
          <a:prstGeom prst="rightArrow">
            <a:avLst/>
          </a:prstGeom>
          <a:solidFill>
            <a:srgbClr val="A9C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538728" y="4114800"/>
            <a:ext cx="1078992" cy="402336"/>
          </a:xfrm>
          <a:prstGeom prst="roundRect">
            <a:avLst>
              <a:gd name="adj" fmla="val 15000"/>
            </a:avLst>
          </a:prstGeom>
          <a:solidFill>
            <a:srgbClr val="A9C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93592" y="4114800"/>
            <a:ext cx="96926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230F3C"/>
                </a:solidFill>
              </a:rPr>
              <a:t>D1</a:t>
            </a:r>
            <a:r>
              <a:rPr sz="850" b="0">
                <a:solidFill>
                  <a:srgbClr val="230F3C"/>
                </a:solidFill>
              </a:rPr>
              <a:t> · ≤ 6 pozvánek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72584" y="4114800"/>
            <a:ext cx="1078992" cy="402336"/>
          </a:xfrm>
          <a:prstGeom prst="roundRect">
            <a:avLst>
              <a:gd name="adj" fmla="val 15000"/>
            </a:avLst>
          </a:prstGeom>
          <a:solidFill>
            <a:srgbClr val="A9C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27448" y="4114800"/>
            <a:ext cx="96926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230F3C"/>
                </a:solidFill>
              </a:rPr>
              <a:t>D2</a:t>
            </a:r>
            <a:r>
              <a:rPr sz="850" b="0">
                <a:solidFill>
                  <a:srgbClr val="230F3C"/>
                </a:solidFill>
              </a:rPr>
              <a:t> · 7+ pozvánek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143000" y="4572000"/>
            <a:ext cx="0" cy="155448"/>
          </a:xfrm>
          <a:prstGeom prst="line">
            <a:avLst/>
          </a:prstGeom>
          <a:ln w="12700">
            <a:solidFill>
              <a:srgbClr val="8A8597"/>
            </a:solidFill>
          </a:ln>
        </p:spPr>
      </p:cxnSp>
      <p:sp>
        <p:nvSpPr>
          <p:cNvPr id="43" name="TextBox 42"/>
          <p:cNvSpPr txBox="1"/>
          <p:nvPr/>
        </p:nvSpPr>
        <p:spPr>
          <a:xfrm>
            <a:off x="1207007" y="4576572"/>
            <a:ext cx="2743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B2182B"/>
                </a:solidFill>
              </a:rPr>
              <a:t>ne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" y="4727448"/>
            <a:ext cx="2331720" cy="512064"/>
          </a:xfrm>
          <a:prstGeom prst="roundRect">
            <a:avLst>
              <a:gd name="adj" fmla="val 6000"/>
            </a:avLst>
          </a:prstGeom>
          <a:solidFill>
            <a:srgbClr val="F7F6FB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6968" y="4727448"/>
            <a:ext cx="21488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3B7A"/>
                </a:solidFill>
              </a:rPr>
              <a:t>Jiná prevence (zubař, praktik)?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54680" y="478231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B7837"/>
                </a:solidFill>
              </a:rPr>
              <a:t>ano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3172968" y="4937760"/>
            <a:ext cx="310896" cy="274320"/>
          </a:xfrm>
          <a:prstGeom prst="rightArrow">
            <a:avLst/>
          </a:prstGeom>
          <a:solidFill>
            <a:srgbClr val="A9C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538728" y="4782312"/>
            <a:ext cx="1078992" cy="402336"/>
          </a:xfrm>
          <a:prstGeom prst="roundRect">
            <a:avLst>
              <a:gd name="adj" fmla="val 15000"/>
            </a:avLst>
          </a:prstGeom>
          <a:solidFill>
            <a:srgbClr val="A9C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93592" y="4782312"/>
            <a:ext cx="96926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230F3C"/>
                </a:solidFill>
              </a:rPr>
              <a:t>E1</a:t>
            </a:r>
            <a:r>
              <a:rPr sz="850" b="0">
                <a:solidFill>
                  <a:srgbClr val="230F3C"/>
                </a:solidFill>
              </a:rPr>
              <a:t> · ≤ 6 pozvánek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672584" y="4782312"/>
            <a:ext cx="1078992" cy="402336"/>
          </a:xfrm>
          <a:prstGeom prst="roundRect">
            <a:avLst>
              <a:gd name="adj" fmla="val 15000"/>
            </a:avLst>
          </a:prstGeom>
          <a:solidFill>
            <a:srgbClr val="D278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27448" y="4782312"/>
            <a:ext cx="96926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</a:rPr>
              <a:t>E2</a:t>
            </a:r>
            <a:r>
              <a:rPr sz="850" b="0">
                <a:solidFill>
                  <a:srgbClr val="FFFFFF"/>
                </a:solidFill>
              </a:rPr>
              <a:t> · 7+ pozvánek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143000" y="5239512"/>
            <a:ext cx="0" cy="155448"/>
          </a:xfrm>
          <a:prstGeom prst="line">
            <a:avLst/>
          </a:prstGeom>
          <a:ln w="12700">
            <a:solidFill>
              <a:srgbClr val="8A8597"/>
            </a:solidFill>
          </a:ln>
        </p:spPr>
      </p:cxnSp>
      <p:sp>
        <p:nvSpPr>
          <p:cNvPr id="53" name="TextBox 52"/>
          <p:cNvSpPr txBox="1"/>
          <p:nvPr/>
        </p:nvSpPr>
        <p:spPr>
          <a:xfrm>
            <a:off x="1207007" y="5244084"/>
            <a:ext cx="2743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B2182B"/>
                </a:solidFill>
              </a:rPr>
              <a:t>ne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77240" y="5394960"/>
            <a:ext cx="2331720" cy="512064"/>
          </a:xfrm>
          <a:prstGeom prst="roundRect">
            <a:avLst>
              <a:gd name="adj" fmla="val 6000"/>
            </a:avLst>
          </a:prstGeom>
          <a:solidFill>
            <a:srgbClr val="F7F6FB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6968" y="5394960"/>
            <a:ext cx="21488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3B7A"/>
                </a:solidFill>
              </a:rPr>
              <a:t>≥ 6 kontaktů se zdravotnictvím?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54680" y="5449824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1B7837"/>
                </a:solidFill>
              </a:rPr>
              <a:t>ano</a:t>
            </a:r>
          </a:p>
        </p:txBody>
      </p:sp>
      <p:sp>
        <p:nvSpPr>
          <p:cNvPr id="57" name="Right Arrow 56"/>
          <p:cNvSpPr/>
          <p:nvPr/>
        </p:nvSpPr>
        <p:spPr>
          <a:xfrm>
            <a:off x="3172968" y="5605272"/>
            <a:ext cx="310896" cy="274320"/>
          </a:xfrm>
          <a:prstGeom prst="rightArrow">
            <a:avLst/>
          </a:prstGeom>
          <a:solidFill>
            <a:srgbClr val="A9C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3538728" y="5449824"/>
            <a:ext cx="1078992" cy="402336"/>
          </a:xfrm>
          <a:prstGeom prst="roundRect">
            <a:avLst>
              <a:gd name="adj" fmla="val 15000"/>
            </a:avLst>
          </a:prstGeom>
          <a:solidFill>
            <a:srgbClr val="D278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593592" y="5449824"/>
            <a:ext cx="96926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</a:rPr>
              <a:t>F</a:t>
            </a:r>
            <a:r>
              <a:rPr sz="850" b="0">
                <a:solidFill>
                  <a:srgbClr val="FFFFFF"/>
                </a:solidFill>
              </a:rPr>
              <a:t> · ano: v kontaktu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672584" y="5449824"/>
            <a:ext cx="1078992" cy="402336"/>
          </a:xfrm>
          <a:prstGeom prst="roundRect">
            <a:avLst>
              <a:gd name="adj" fmla="val 15000"/>
            </a:avLst>
          </a:prstGeom>
          <a:solidFill>
            <a:srgbClr val="D278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27448" y="5449824"/>
            <a:ext cx="96926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</a:rPr>
              <a:t>G</a:t>
            </a:r>
            <a:r>
              <a:rPr sz="850" b="0">
                <a:solidFill>
                  <a:srgbClr val="FFFFFF"/>
                </a:solidFill>
              </a:rPr>
              <a:t> · ne: odpojená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240" y="608076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597"/>
                </a:solidFill>
              </a:rPr>
              <a:t>barva: účast 2024 ≥ 30 % / 10–30 % / &lt; 10 %</a:t>
            </a: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5852160" y="2057400"/>
          <a:ext cx="5559552" cy="3447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4912"/>
                <a:gridCol w="914400"/>
                <a:gridCol w="914400"/>
                <a:gridCol w="1005840"/>
              </a:tblGrid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</a:rPr>
                        <a:t>Segment</a:t>
                      </a:r>
                    </a:p>
                  </a:txBody>
                  <a:tcPr marL="73152" marR="73152" marT="27432" marB="27432" anchor="ctr">
                    <a:solidFill>
                      <a:srgbClr val="003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</a:rPr>
                        <a:t>Ženy 2024</a:t>
                      </a:r>
                    </a:p>
                  </a:txBody>
                  <a:tcPr marL="73152" marR="73152" marT="27432" marB="27432" anchor="ctr">
                    <a:solidFill>
                      <a:srgbClr val="003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</a:rPr>
                        <a:t>Účast</a:t>
                      </a:r>
                    </a:p>
                  </a:txBody>
                  <a:tcPr marL="73152" marR="73152" marT="27432" marB="27432" anchor="ctr">
                    <a:solidFill>
                      <a:srgbClr val="003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</a:rPr>
                        <a:t>Nepřišlo</a:t>
                      </a:r>
                    </a:p>
                  </a:txBody>
                  <a:tcPr marL="73152" marR="73152" marT="27432" marB="27432" anchor="ctr">
                    <a:solidFill>
                      <a:srgbClr val="003B7A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A dopis se minul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7 600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2 %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7 418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B1 1. pozvánka, málo kontaktů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7 127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36 %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4 580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B2 1. pozvánka, v kontaktu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30 333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60 %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12 240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C1 vypadlá 3–4 roky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16 167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39 %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9 892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C2 vypadlá 4–5+ let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12 410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26 %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9 219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D1 gynekolog, zvaná málokrát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31 098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27 %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22 679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D2 gynekolog, nereaguje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19 949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10 %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17 894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E1 jiná prevence, zvaná málokrát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29 487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13 %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25 734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E2 jiná prevence, nereaguje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59 864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5 %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56 825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F bez prevence, v kontaktu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18 102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5 %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17 155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G odpojená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24 329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3 %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23 565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30F3C"/>
                          </a:solidFill>
                        </a:rPr>
                        <a:t>Celkem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230F3C"/>
                          </a:solidFill>
                        </a:rPr>
                        <a:t>256 466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230F3C"/>
                          </a:solidFill>
                        </a:rPr>
                        <a:t>19 %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230F3C"/>
                          </a:solidFill>
                        </a:rPr>
                        <a:t>207 201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</a:tr>
            </a:tbl>
          </a:graphicData>
        </a:graphic>
      </p:graphicFrame>
      <p:sp>
        <p:nvSpPr>
          <p:cNvPr id="64" name="Rounded Rectangle 63"/>
          <p:cNvSpPr/>
          <p:nvPr/>
        </p:nvSpPr>
        <p:spPr>
          <a:xfrm>
            <a:off x="5852160" y="5559552"/>
            <a:ext cx="5559552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89320" y="5605272"/>
            <a:ext cx="53035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4A4458"/>
                </a:solidFill>
              </a:rPr>
              <a:t>Ověřeno na novém roce:</a:t>
            </a:r>
            <a:r>
              <a:rPr sz="950" b="0">
                <a:solidFill>
                  <a:srgbClr val="4A4458"/>
                </a:solidFill>
              </a:rPr>
              <a:t> pravidla z let 2020–2023, test na 2024. Segmenty seřadí ženy s AUC 0,81, celý vysvětlitelný model 0,83.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03120" y="6291072"/>
            <a:ext cx="8503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8597"/>
                </a:solidFill>
              </a:rPr>
              <a:t>Zdroj: data VZP pro Rakathon 2026, pozvánky 2020–2024; config/segments_vzp_v2.yaml; naše analýza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JAK SEGMENTY POUŽÍVÁME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Každý segment dostane svůj kanál a opatření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44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A4458"/>
                </a:solidFill>
              </a:rPr>
              <a:t>Opatření vybíráme z literatury podle toho, co ženě v segmentu brání. Z e-commerce víme, jak je doručit a změřit.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457200"/>
            <a:ext cx="1005840" cy="246888"/>
          </a:xfrm>
          <a:prstGeom prst="roundRect">
            <a:avLst>
              <a:gd name="adj" fmla="val 50000"/>
            </a:avLst>
          </a:prstGeom>
          <a:solidFill>
            <a:srgbClr val="3D7CC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Literatura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05872" y="457200"/>
            <a:ext cx="1005840" cy="246888"/>
          </a:xfrm>
          <a:prstGeom prst="roundRect">
            <a:avLst>
              <a:gd name="adj" fmla="val 50000"/>
            </a:avLst>
          </a:prstGeom>
          <a:solidFill>
            <a:srgbClr val="D2786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E-commerce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2057400"/>
          <a:ext cx="6995160" cy="3822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3657600"/>
                <a:gridCol w="128016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</a:rPr>
                        <a:t>Segment</a:t>
                      </a:r>
                    </a:p>
                  </a:txBody>
                  <a:tcPr marL="73152" marR="73152" marT="27432" marB="27432" anchor="ctr">
                    <a:solidFill>
                      <a:srgbClr val="003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</a:rPr>
                        <a:t>Kanál a opatření</a:t>
                      </a:r>
                    </a:p>
                  </a:txBody>
                  <a:tcPr marL="73152" marR="73152" marT="27432" marB="27432" anchor="ctr">
                    <a:solidFill>
                      <a:srgbClr val="003B7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</a:rPr>
                        <a:t>Účinek (p. b.)</a:t>
                      </a:r>
                    </a:p>
                  </a:txBody>
                  <a:tcPr marL="73152" marR="73152" marT="27432" marB="27432" anchor="ctr">
                    <a:solidFill>
                      <a:srgbClr val="003B7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A dopis se minul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nezvat, ověřit výkony těsně před odesláním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úspora 7 600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B1 1. pozvánka, málo kontaktů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pevný termín + telefonát navíc k dopisu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230F3C"/>
                          </a:solidFill>
                        </a:rPr>
                        <a:t>+10 až +19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B2 1. pozvánka, v kontaktu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pevný termín v pozvánce + SMS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230F3C"/>
                          </a:solidFill>
                        </a:rPr>
                        <a:t>+10 až +19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C1, C2 vypadlé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pevný termín dřív: ve 25.–36. měsíci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230F3C"/>
                          </a:solidFill>
                        </a:rPr>
                        <a:t>+10 až +19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D1 gynekolog, zvaná málokrát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seznam žen bez mamografie pro gynekologa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+2 až +6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D2 gynekolog, nereaguje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objednání přímo v ordinaci místo dopisu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+2 až +6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E1 jiná prevence, zvaná málokrát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praktik a zubař: seznam žen, upozornění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+2 až +6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E2 jiná prevence, nereaguje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praktik místo dopisu; test vynechání dopisu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+2 až +6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F bez prevence, v kontaktu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upozornění pro ošetřující lékaře (EZ karta)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+1 až +5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G odpojená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0F3C"/>
                          </a:solidFill>
                        </a:rPr>
                        <a:t>zatím ne: nejdřív ověřit kontakt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0F3C"/>
                          </a:solidFill>
                        </a:rPr>
                        <a:t>–</a:t>
                      </a:r>
                    </a:p>
                  </a:txBody>
                  <a:tcPr marL="73152" marR="73152" marT="27432" marB="27432" anchor="ctr">
                    <a:solidFill>
                      <a:srgbClr val="F7F6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001000" y="2057400"/>
            <a:ext cx="3410712" cy="3712463"/>
          </a:xfrm>
          <a:prstGeom prst="roundRect">
            <a:avLst>
              <a:gd name="adj" fmla="val 6000"/>
            </a:avLst>
          </a:prstGeom>
          <a:solidFill>
            <a:srgbClr val="F7F6FB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2194560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27869"/>
                </a:solidFill>
              </a:rPr>
              <a:t>Co přinášíme z e-commerce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606040"/>
            <a:ext cx="3063240" cy="3063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1000"/>
              </a:spcAft>
              <a:buChar char="•"/>
            </a:pPr>
            <a:r>
              <a:rPr sz="1200" b="0">
                <a:solidFill>
                  <a:srgbClr val="230F3C"/>
                </a:solidFill>
              </a:rPr>
              <a:t>segmentace podle chování, ne podle demografie</a:t>
            </a:r>
          </a:p>
          <a:p>
            <a:pPr algn="l" marL="164592" indent="-164592">
              <a:spcAft>
                <a:spcPts val="1000"/>
              </a:spcAft>
              <a:buChar char="•"/>
            </a:pPr>
            <a:r>
              <a:rPr sz="1200" b="0">
                <a:solidFill>
                  <a:srgbClr val="230F3C"/>
                </a:solidFill>
              </a:rPr>
              <a:t>automatické kaskády zpráv spuštěné událostí</a:t>
            </a:r>
          </a:p>
          <a:p>
            <a:pPr algn="l" marL="164592" indent="-164592">
              <a:spcAft>
                <a:spcPts val="1000"/>
              </a:spcAft>
              <a:buChar char="•"/>
            </a:pPr>
            <a:r>
              <a:rPr sz="1200" b="0">
                <a:solidFill>
                  <a:srgbClr val="230F3C"/>
                </a:solidFill>
              </a:rPr>
              <a:t>A/B test s kontrolní skupinou u každé změny</a:t>
            </a:r>
          </a:p>
          <a:p>
            <a:pPr algn="l" marL="164592" indent="-164592">
              <a:spcAft>
                <a:spcPts val="1000"/>
              </a:spcAft>
              <a:buChar char="•"/>
            </a:pPr>
            <a:r>
              <a:rPr sz="1200" b="0">
                <a:solidFill>
                  <a:srgbClr val="230F3C"/>
                </a:solidFill>
              </a:rPr>
              <a:t>měříme přírůstek (uplift), ne kliknutí</a:t>
            </a:r>
          </a:p>
          <a:p>
            <a:pPr algn="l" marL="164592" indent="-164592">
              <a:spcAft>
                <a:spcPts val="1000"/>
              </a:spcAft>
              <a:buChar char="•"/>
            </a:pPr>
            <a:r>
              <a:rPr sz="1200" b="0">
                <a:solidFill>
                  <a:srgbClr val="230F3C"/>
                </a:solidFill>
              </a:rPr>
              <a:t>cena za konverzi → cena za mamografii navíc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6291072"/>
            <a:ext cx="8503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8597"/>
                </a:solidFill>
              </a:rPr>
              <a:t>Zdroj: rozpětí účinku z RCT a metaanalýz (docs/interventions.md), přenos do ČR je náš úsudek; data VZP 2024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DOPAD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Dopad počítáme ve třech krocích a ověříme ho experimentem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344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A4458"/>
                </a:solidFill>
              </a:rPr>
              <a:t>Každý krok má svůj zdroj: kolik žen je v segmentu, o kolik víc jich podle studií přijde a co to znamená pro zdraví a náklady.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2395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12848"/>
            <a:ext cx="20299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8597"/>
                </a:solidFill>
              </a:rPr>
              <a:t>1 · Kolik žen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42032"/>
            <a:ext cx="20299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003B7A"/>
                </a:solidFill>
              </a:rPr>
              <a:t>206 tis.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63240"/>
            <a:ext cx="202996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A4458"/>
                </a:solidFill>
              </a:rPr>
              <a:t>pozvaných ročně v B1–E2: 1. pozvánky a vypadlé 66 tis., gynekolog a jiná prevence 140 tis.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794760"/>
            <a:ext cx="850392" cy="246888"/>
          </a:xfrm>
          <a:prstGeom prst="roundRect">
            <a:avLst>
              <a:gd name="adj" fmla="val 50000"/>
            </a:avLst>
          </a:prstGeom>
          <a:solidFill>
            <a:srgbClr val="003B7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Data VZP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18688" y="2999232"/>
            <a:ext cx="256032" cy="274320"/>
          </a:xfrm>
          <a:prstGeom prst="rightArrow">
            <a:avLst/>
          </a:prstGeom>
          <a:solidFill>
            <a:srgbClr val="A9C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20440" y="2103120"/>
            <a:ext cx="2395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212848"/>
            <a:ext cx="20299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8597"/>
                </a:solidFill>
              </a:rPr>
              <a:t>2 · O kolik víc přijde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542032"/>
            <a:ext cx="20299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3D7CC9"/>
                </a:solidFill>
              </a:rPr>
              <a:t>+2–19 p. 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063240"/>
            <a:ext cx="202996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A4458"/>
                </a:solidFill>
              </a:rPr>
              <a:t>rozpětí účinku opatření z randomizovaných studií a metaanalýz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794760"/>
            <a:ext cx="1005840" cy="246888"/>
          </a:xfrm>
          <a:prstGeom prst="roundRect">
            <a:avLst>
              <a:gd name="adj" fmla="val 50000"/>
            </a:avLst>
          </a:prstGeom>
          <a:solidFill>
            <a:srgbClr val="3D7CC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Literatura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61888" y="2999232"/>
            <a:ext cx="256032" cy="274320"/>
          </a:xfrm>
          <a:prstGeom prst="rightArrow">
            <a:avLst/>
          </a:prstGeom>
          <a:solidFill>
            <a:srgbClr val="A9C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2103120"/>
            <a:ext cx="2395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212848"/>
            <a:ext cx="20299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8597"/>
                </a:solidFill>
              </a:rPr>
              <a:t>3 · Mamografie navíc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542032"/>
            <a:ext cx="20299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003B7A"/>
                </a:solidFill>
              </a:rPr>
              <a:t>9–21 tis.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063240"/>
            <a:ext cx="202996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A4458"/>
                </a:solidFill>
              </a:rPr>
              <a:t>ročně: dolní a horní mez rozpětí účinku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705088" y="2999232"/>
            <a:ext cx="256032" cy="274320"/>
          </a:xfrm>
          <a:prstGeom prst="rightArrow">
            <a:avLst/>
          </a:prstGeom>
          <a:solidFill>
            <a:srgbClr val="A9C6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06840" y="2103120"/>
            <a:ext cx="2395728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19" y="2212848"/>
            <a:ext cx="20299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A8597"/>
                </a:solidFill>
              </a:rPr>
              <a:t>4 · Zdraví a náklady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19" y="2542032"/>
            <a:ext cx="20299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D27869"/>
                </a:solidFill>
              </a:rPr>
              <a:t>36–80 QALY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19" y="3063240"/>
            <a:ext cx="202996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A4458"/>
                </a:solidFill>
              </a:rPr>
              <a:t>a 5–11 odvrácených úmrtí ročně; 0,26 mil. Kč za QALY (práh SÚKL 1,2 mil.)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9719" y="3794760"/>
            <a:ext cx="1005840" cy="246888"/>
          </a:xfrm>
          <a:prstGeom prst="roundRect">
            <a:avLst>
              <a:gd name="adj" fmla="val 50000"/>
            </a:avLst>
          </a:prstGeom>
          <a:solidFill>
            <a:srgbClr val="3D7CC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Literatura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389120"/>
            <a:ext cx="5806440" cy="1737360"/>
          </a:xfrm>
          <a:prstGeom prst="roundRect">
            <a:avLst>
              <a:gd name="adj" fmla="val 6000"/>
            </a:avLst>
          </a:prstGeom>
          <a:solidFill>
            <a:srgbClr val="F7F6FB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49884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3B7A"/>
                </a:solidFill>
              </a:rPr>
              <a:t>Ověření experimentem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40679" y="4517136"/>
            <a:ext cx="1005840" cy="246888"/>
          </a:xfrm>
          <a:prstGeom prst="roundRect">
            <a:avLst>
              <a:gd name="adj" fmla="val 50000"/>
            </a:avLst>
          </a:prstGeom>
          <a:solidFill>
            <a:srgbClr val="D2786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</a:rPr>
              <a:t>E-commerce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846320"/>
            <a:ext cx="54406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30F3C"/>
                </a:solidFill>
              </a:rPr>
              <a:t>Ženy v segmentech B–E náhodně rozdělíme: kontrola dostane dnešní dopis, ramena nová opatření. Výsledek měříme vykázanými mamografiemi a vyhodnotíme podle přidělení. Jako A/B test v e-commerce: rozšíříme jen to, co prokazatelně funguje.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12280" y="4389120"/>
            <a:ext cx="4599432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EDC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95160" y="4498848"/>
            <a:ext cx="4251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3B7A"/>
                </a:solidFill>
              </a:rPr>
              <a:t>Čistý přínos v hodnotě zdraví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4800600"/>
            <a:ext cx="4251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D27869"/>
                </a:solidFill>
              </a:rPr>
              <a:t>34–75 mil. Kč ročně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5303520"/>
            <a:ext cx="4251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4A4458"/>
                </a:solidFill>
              </a:rPr>
              <a:t>při prahu 1,2 mil. Kč za QALY. Horní scénář finančního modelu digitální kaskády: 86–237 mil. Kč čistě za 2027–2031.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6291072"/>
            <a:ext cx="8503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8597"/>
                </a:solidFill>
              </a:rPr>
              <a:t>Zdroj: data VZP 2024; docs/interventions.md; model posunu stadia (docs/ZJISTENI.md, věk 45–74); finanční model 16. 10.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43000"/>
            <a:ext cx="7132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0">
                <a:solidFill>
                  <a:srgbClr val="FFFFFF"/>
                </a:solidFill>
              </a:rPr>
              <a:t>Co přinášíme VZP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10312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</a:rPr>
              <a:t>Máme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224028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700"/>
              </a:spcAft>
              <a:buChar char="•"/>
            </a:pPr>
            <a:r>
              <a:rPr sz="1150" b="0">
                <a:solidFill>
                  <a:srgbClr val="E6E4F7"/>
                </a:solidFill>
              </a:rPr>
              <a:t>1,34 mil. pozvánek a okresní data ČR</a:t>
            </a:r>
          </a:p>
          <a:p>
            <a:pPr algn="l" marL="164592" indent="-164592">
              <a:spcAft>
                <a:spcPts val="700"/>
              </a:spcAft>
              <a:buChar char="•"/>
            </a:pPr>
            <a:r>
              <a:rPr sz="1150" b="0">
                <a:solidFill>
                  <a:srgbClr val="E6E4F7"/>
                </a:solidFill>
              </a:rPr>
              <a:t>vysvětlitelný model účasti (AUC 0,83)</a:t>
            </a:r>
          </a:p>
          <a:p>
            <a:pPr algn="l" marL="164592" indent="-164592">
              <a:spcAft>
                <a:spcPts val="700"/>
              </a:spcAft>
              <a:buChar char="•"/>
            </a:pPr>
            <a:r>
              <a:rPr sz="1150" b="0">
                <a:solidFill>
                  <a:srgbClr val="E6E4F7"/>
                </a:solidFill>
              </a:rPr>
              <a:t>11 segmentů z dat, ověřených na roce 2024</a:t>
            </a:r>
          </a:p>
          <a:p>
            <a:pPr algn="l" marL="164592" indent="-164592">
              <a:spcAft>
                <a:spcPts val="700"/>
              </a:spcAft>
              <a:buChar char="•"/>
            </a:pPr>
            <a:r>
              <a:rPr sz="1150" b="0">
                <a:solidFill>
                  <a:srgbClr val="E6E4F7"/>
                </a:solidFill>
              </a:rPr>
              <a:t>opatření z literatury pro každý segment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210312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</a:rPr>
              <a:t>Nabízíme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560320"/>
            <a:ext cx="224028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700"/>
              </a:spcAft>
              <a:buChar char="•"/>
            </a:pPr>
            <a:r>
              <a:rPr sz="1150" b="0">
                <a:solidFill>
                  <a:srgbClr val="E6E4F7"/>
                </a:solidFill>
              </a:rPr>
              <a:t>pilot v segmentech B–E s randomizací</a:t>
            </a:r>
          </a:p>
          <a:p>
            <a:pPr algn="l" marL="164592" indent="-164592">
              <a:spcAft>
                <a:spcPts val="700"/>
              </a:spcAft>
              <a:buChar char="•"/>
            </a:pPr>
            <a:r>
              <a:rPr sz="1150" b="0">
                <a:solidFill>
                  <a:srgbClr val="E6E4F7"/>
                </a:solidFill>
              </a:rPr>
              <a:t>pevný termín + SMS a lékař jako kanál</a:t>
            </a:r>
          </a:p>
          <a:p>
            <a:pPr algn="l" marL="164592" indent="-164592">
              <a:spcAft>
                <a:spcPts val="700"/>
              </a:spcAft>
              <a:buChar char="•"/>
            </a:pPr>
            <a:r>
              <a:rPr sz="1150" b="0">
                <a:solidFill>
                  <a:srgbClr val="E6E4F7"/>
                </a:solidFill>
              </a:rPr>
              <a:t>Moje VZP: rezervace, dotazník bariér</a:t>
            </a:r>
          </a:p>
          <a:p>
            <a:pPr algn="l" marL="164592" indent="-164592">
              <a:spcAft>
                <a:spcPts val="700"/>
              </a:spcAft>
              <a:buChar char="•"/>
            </a:pPr>
            <a:r>
              <a:rPr sz="1150" b="0">
                <a:solidFill>
                  <a:srgbClr val="E6E4F7"/>
                </a:solidFill>
              </a:rPr>
              <a:t>model, segmenty i kód předáme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560" y="210312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</a:rPr>
              <a:t>Přineseme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2560320"/>
            <a:ext cx="224028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64592" indent="-164592">
              <a:spcAft>
                <a:spcPts val="700"/>
              </a:spcAft>
              <a:buChar char="•"/>
            </a:pPr>
            <a:r>
              <a:rPr sz="1150" b="0">
                <a:solidFill>
                  <a:srgbClr val="E6E4F7"/>
                </a:solidFill>
              </a:rPr>
              <a:t>9–21 tis. mamografií navíc ročně</a:t>
            </a:r>
          </a:p>
          <a:p>
            <a:pPr algn="l" marL="164592" indent="-164592">
              <a:spcAft>
                <a:spcPts val="700"/>
              </a:spcAft>
              <a:buChar char="•"/>
            </a:pPr>
            <a:r>
              <a:rPr sz="1150" b="0">
                <a:solidFill>
                  <a:srgbClr val="E6E4F7"/>
                </a:solidFill>
              </a:rPr>
              <a:t>36–80 QALY a 5–11 odvrácených úmrtí ročně</a:t>
            </a:r>
          </a:p>
          <a:p>
            <a:pPr algn="l" marL="164592" indent="-164592">
              <a:spcAft>
                <a:spcPts val="700"/>
              </a:spcAft>
              <a:buChar char="•"/>
            </a:pPr>
            <a:r>
              <a:rPr sz="1150" b="0">
                <a:solidFill>
                  <a:srgbClr val="E6E4F7"/>
                </a:solidFill>
              </a:rPr>
              <a:t>0,26 mil. Kč za QALY</a:t>
            </a:r>
          </a:p>
          <a:p>
            <a:pPr algn="l" marL="164592" indent="-164592">
              <a:spcAft>
                <a:spcPts val="700"/>
              </a:spcAft>
              <a:buChar char="•"/>
            </a:pPr>
            <a:r>
              <a:rPr sz="1150" b="0">
                <a:solidFill>
                  <a:srgbClr val="E6E4F7"/>
                </a:solidFill>
              </a:rPr>
              <a:t>34–75 mil. Kč ročně v hodnotě zdraví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074920"/>
            <a:ext cx="9144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Jakub Weiner</a:t>
            </a:r>
          </a:p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</a:rPr>
              <a:t>jakub@weiner.cz · +420 602 307 893 · www.weinerpartners.cz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mo graf VZP">
  <a:themeElements>
    <a:clrScheme name="Mamo graf VZP">
      <a:dk1>
        <a:srgbClr val="230F3C"/>
      </a:dk1>
      <a:lt1>
        <a:srgbClr val="FFFFFF"/>
      </a:lt1>
      <a:dk2>
        <a:srgbClr val="4A4458"/>
      </a:dk2>
      <a:lt2>
        <a:srgbClr val="F7F6FB"/>
      </a:lt2>
      <a:accent1>
        <a:srgbClr val="003B7A"/>
      </a:accent1>
      <a:accent2>
        <a:srgbClr val="3D7CC9"/>
      </a:accent2>
      <a:accent3>
        <a:srgbClr val="A9C6EA"/>
      </a:accent3>
      <a:accent4>
        <a:srgbClr val="D27869"/>
      </a:accent4>
      <a:accent5>
        <a:srgbClr val="7A78C3"/>
      </a:accent5>
      <a:accent6>
        <a:srgbClr val="7DA0D7"/>
      </a:accent6>
      <a:hlink>
        <a:srgbClr val="3D7CC9"/>
      </a:hlink>
      <a:folHlink>
        <a:srgbClr val="7A78C3"/>
      </a:folHlink>
    </a:clrScheme>
    <a:fontScheme name="Mamo graf VZP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57</Slides>
  <Notes>52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58" baseType="lpstr">
      <vt:lpstr>Mamo graf VZP</vt:lpstr>
      <vt:lpstr>PowerPoint Presentation</vt:lpstr>
      <vt:lpstr>Kdo za návrhem stojí</vt:lpstr>
      <vt:lpstr>Naše odpovědi na zadání VZP</vt:lpstr>
      <vt:lpstr>Architektura systému</vt:lpstr>
      <vt:lpstr>Aplikace VZP: přímý kanál a zpětná vazba</vt:lpstr>
      <vt:lpstr>Model pravděpodobnosti účasti: vysvětlitelný (EBM)</vt:lpstr>
      <vt:lpstr>Model upliftu: bayesovský, s modelem účasti jako priorem</vt:lpstr>
      <vt:lpstr>Postup zavedení</vt:lpstr>
      <vt:lpstr>Otázka a data</vt:lpstr>
      <vt:lpstr>Segmentační model: 11 segmentů jako rozhodovací strom</vt:lpstr>
      <vt:lpstr>Kde jsou ženy? (2024: 207 tisíc nepřišlo)</vt:lpstr>
      <vt:lpstr>Uvnitř segmentů: kde má smysl individuální cílení</vt:lpstr>
      <vt:lpstr>Hlavní tok: pět největších segmentů</vt:lpstr>
      <vt:lpstr>Hlavní zjištění (1/2)</vt:lpstr>
      <vt:lpstr>Hlavní zjištění (2/2)</vt:lpstr>
      <vt:lpstr>Návrhy experimentů (1/2)</vt:lpstr>
      <vt:lpstr>Návrhy experimentů (2/2)</vt:lpstr>
      <vt:lpstr>Návrhy experimentů v aplikaci VZP</vt:lpstr>
      <vt:lpstr>Starší ženy chodí po pozvánce méně, výskyt přitom roste</vt:lpstr>
      <vt:lpstr>Kdo nepřijde, předpovíme vysvětlitelným modelem</vt:lpstr>
      <vt:lpstr>S věkem mizí gynekologická prevence; praktik na mamograf neposílá</vt:lpstr>
      <vt:lpstr>Po každé další pozvánce přijde méně žen</vt:lpstr>
      <vt:lpstr>Většinu žen, které nepřišly, lze oslovit jinak než dopisem</vt:lpstr>
      <vt:lpstr>Šest skupin opatření a podklady, ze kterých vycházejí</vt:lpstr>
      <vt:lpstr>Šest skupin opatření podle náročnosti a dopadu</vt:lpstr>
      <vt:lpstr>Hlavní opatření pro zvolené segmenty</vt:lpstr>
      <vt:lpstr>Ukázka dopisů pro tři segmenty</vt:lpstr>
      <vt:lpstr>Experiment ověří účinek proti dnešnímu dopisu</vt:lpstr>
      <vt:lpstr>Co může přinést plošné nasazení: odhad finančního modelu</vt:lpstr>
      <vt:lpstr>PowerPoint Presentation</vt:lpstr>
      <vt:lpstr>Přehled zvažovaných intervencí a jejich očekávaného účinku</vt:lpstr>
      <vt:lpstr>Data VZP a jejich omezení</vt:lpstr>
      <vt:lpstr>Návrat po mamografii podle segmentu</vt:lpstr>
      <vt:lpstr>Otázky pro VZP a data, která by pilot potřeboval</vt:lpstr>
      <vt:lpstr>Většinu žen, které nepřišly, lze oslovit jinak než dopisem</vt:lpstr>
      <vt:lpstr>Šest skupin opatření podle náročnosti a dopadu</vt:lpstr>
      <vt:lpstr>Hlavní opatření pro zvolené segmenty</vt:lpstr>
      <vt:lpstr>Ukázka dopisů pro tři segmenty</vt:lpstr>
      <vt:lpstr>Ukázka navrhovaných úprav aplikace Moje VZP</vt:lpstr>
      <vt:lpstr>Experiment ověří účinek proti dnešnímu dopisu</vt:lpstr>
      <vt:lpstr>Co může přinést plošné nasazení: odhad finančního modelu</vt:lpstr>
      <vt:lpstr>PowerPoint Presentation</vt:lpstr>
      <vt:lpstr>Přehled zvažovaných intervencí a jejich očekávaného účinku</vt:lpstr>
      <vt:lpstr>Praktik vs. gynekolog</vt:lpstr>
      <vt:lpstr>Kolik karcinomů odhalíme včas navíc</vt:lpstr>
      <vt:lpstr>Doprava: okresy bez mamografu</vt:lpstr>
      <vt:lpstr>Kolik karcinomů přinese doprava</vt:lpstr>
      <vt:lpstr>Lékař se jen zapojí, oslovení běží jeho jménem automaticky</vt:lpstr>
      <vt:lpstr>Digitální kaskáda přivede 44–71 tisíc vyšetření navíc ročně</vt:lpstr>
      <vt:lpstr>Včasné oslovení ušetří na léčbě víc, než stojí screening</vt:lpstr>
      <vt:lpstr>Program ušetří VZP za pět let čistě 86–237 milionů Kč</vt:lpstr>
      <vt:lpstr>Kaskáda oslovení běží sama, zastaví ji žádanka nebo mamograf</vt:lpstr>
      <vt:lpstr>Kampaň s influencery jen jako test, rozpočet se uvolňuje po fázích</vt:lpstr>
      <vt:lpstr>Návrat po mamografii podle segmentu</vt:lpstr>
      <vt:lpstr>Otázky pro VZP a data, která by pilot potřeboval</vt:lpstr>
      <vt:lpstr>Citovaná literatura a dokumenty</vt:lpstr>
      <vt:lpstr>Data VZP a jejich omezení</vt:lpstr>
    </vt:vector>
  </TitlesOfParts>
  <Company>Weiner &amp; Partners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Mámo, graf! Od pozvánky k mamografu</dc:title>
  <dc:subject>PptxGenJS Presentation</dc:subject>
  <dc:creator>Weiner &amp;amp; Partners</dc:creator>
  <cp:revision>30</cp:revision>
  <dcterms:created xsi:type="dcterms:W3CDTF">2026-10-17T00:00:54Z</dcterms:created>
  <dcterms:modified xsi:type="dcterms:W3CDTF">2026-10-17T10:51:04Z</dcterms:modified>
</cp:coreProperties>
</file>
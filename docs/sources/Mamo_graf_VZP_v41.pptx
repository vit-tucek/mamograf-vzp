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7.xml" ContentType="application/vnd.openxmlformats-officedocument.drawingml.chart+xml"/>
  <Override PartName="/ppt/notesSlides/notesSlide41.xml" ContentType="application/vnd.openxmlformats-officedocument.presentationml.notesSlide+xml"/>
  <Override PartName="/ppt/charts/chart8.xml" ContentType="application/vnd.openxmlformats-officedocument.drawingml.chart+xml"/>
  <Override PartName="/ppt/notesSlides/notesSlide42.xml" ContentType="application/vnd.openxmlformats-officedocument.presentationml.notesSlide+xml"/>
  <Override PartName="/ppt/charts/chart9.xml" ContentType="application/vnd.openxmlformats-officedocument.drawingml.chart+xml"/>
  <Override PartName="/ppt/notesSlides/notesSlide43.xml" ContentType="application/vnd.openxmlformats-officedocument.presentationml.notesSlide+xml"/>
  <Override PartName="/ppt/charts/chart10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rts/chart11.xml" ContentType="application/vnd.openxmlformats-officedocument.drawingml.chart+xml"/>
  <Override PartName="/ppt/notesSlides/notesSlide46.xml" ContentType="application/vnd.openxmlformats-officedocument.presentationml.notesSlide+xml"/>
  <Override PartName="/ppt/charts/chart12.xml" ContentType="application/vnd.openxmlformats-officedocument.drawingml.chart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327" r:id="rId5"/>
    <p:sldId id="328" r:id="rId6"/>
    <p:sldId id="329" r:id="rId7"/>
    <p:sldId id="330" r:id="rId8"/>
    <p:sldId id="331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32" r:id="rId17"/>
    <p:sldId id="333" r:id="rId18"/>
    <p:sldId id="334" r:id="rId19"/>
    <p:sldId id="259" r:id="rId20"/>
    <p:sldId id="260" r:id="rId21"/>
    <p:sldId id="261" r:id="rId22"/>
    <p:sldId id="262" r:id="rId23"/>
    <p:sldId id="286" r:id="rId24"/>
    <p:sldId id="304" r:id="rId25"/>
    <p:sldId id="285" r:id="rId26"/>
    <p:sldId id="284" r:id="rId27"/>
    <p:sldId id="283" r:id="rId28"/>
    <p:sldId id="281" r:id="rId29"/>
    <p:sldId id="280" r:id="rId30"/>
    <p:sldId id="279" r:id="rId31"/>
    <p:sldId id="278" r:id="rId32"/>
    <p:sldId id="277" r:id="rId33"/>
    <p:sldId id="276" r:id="rId34"/>
    <p:sldId id="275" r:id="rId35"/>
    <p:sldId id="263" r:id="rId36"/>
    <p:sldId id="264" r:id="rId37"/>
    <p:sldId id="265" r:id="rId38"/>
    <p:sldId id="266" r:id="rId39"/>
    <p:sldId id="273" r:id="rId40"/>
    <p:sldId id="267" r:id="rId41"/>
    <p:sldId id="268" r:id="rId42"/>
    <p:sldId id="269" r:id="rId43"/>
    <p:sldId id="274" r:id="rId44"/>
    <p:sldId id="295" r:id="rId45"/>
    <p:sldId id="296" r:id="rId46"/>
    <p:sldId id="297" r:id="rId47"/>
    <p:sldId id="298" r:id="rId48"/>
    <p:sldId id="310" r:id="rId49"/>
    <p:sldId id="307" r:id="rId50"/>
    <p:sldId id="300" r:id="rId51"/>
    <p:sldId id="308" r:id="rId52"/>
    <p:sldId id="309" r:id="rId53"/>
    <p:sldId id="311" r:id="rId54"/>
    <p:sldId id="271" r:id="rId55"/>
    <p:sldId id="272" r:id="rId56"/>
    <p:sldId id="305" r:id="rId57"/>
    <p:sldId id="270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D9509F33-0D5F-A211-AA72-4F5AD8641F3B}">
          <p14:sldIdLst>
            <p14:sldId id="256"/>
            <p14:sldId id="257"/>
            <p14:sldId id="258"/>
            <p14:sldId id="327"/>
            <p14:sldId id="328"/>
            <p14:sldId id="329"/>
            <p14:sldId id="330"/>
            <p14:sldId id="331"/>
          </p14:sldIdLst>
        </p14:section>
        <p14:section name="Model" id="{CCE29113-D4A8-317F-61A0-C3635F8A45EF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32"/>
            <p14:sldId id="333"/>
            <p14:sldId id="334"/>
          </p14:sldIdLst>
        </p14:section>
        <p14:section name="Model" id="{0AC06BD6-BB53-4E48-92C6-352B1699892C}">
          <p14:sldIdLst/>
        </p14:section>
        <p14:section name="Problém a příčiny" id="{3DA29C05-E597-4CBD-ABAC-225C8FB1DC35}">
          <p14:sldIdLst>
            <p14:sldId id="259"/>
            <p14:sldId id="260"/>
            <p14:sldId id="261"/>
            <p14:sldId id="262"/>
            <p14:sldId id="286"/>
            <p14:sldId id="304"/>
            <p14:sldId id="285"/>
            <p14:sldId id="284"/>
            <p14:sldId id="283"/>
            <p14:sldId id="281"/>
            <p14:sldId id="280"/>
            <p14:sldId id="279"/>
            <p14:sldId id="278"/>
            <p14:sldId id="277"/>
            <p14:sldId id="276"/>
            <p14:sldId id="275"/>
          </p14:sldIdLst>
        </p14:section>
        <p14:section name="Skupiny a návrhy" id="{421C17CE-61A2-0D87-DAD9-C2BEA89A7DEB}">
          <p14:sldIdLst>
            <p14:sldId id="263"/>
            <p14:sldId id="264"/>
            <p14:sldId id="265"/>
            <p14:sldId id="266"/>
            <p14:sldId id="273"/>
          </p14:sldIdLst>
        </p14:section>
        <p14:section name="Ověření a dopad" id="{225EEA1D-8C4C-152E-A195-CC28FAE774E7}">
          <p14:sldIdLst>
            <p14:sldId id="267"/>
            <p14:sldId id="268"/>
            <p14:sldId id="269"/>
            <p14:sldId id="274"/>
            <p14:sldId id="295"/>
            <p14:sldId id="296"/>
            <p14:sldId id="297"/>
            <p14:sldId id="298"/>
          </p14:sldIdLst>
        </p14:section>
        <p14:section name="Komunikace" id="{82EC2976-A6EC-43FC-80ED-1E53A12D3740}">
          <p14:sldIdLst>
            <p14:sldId id="310"/>
            <p14:sldId id="307"/>
            <p14:sldId id="300"/>
            <p14:sldId id="308"/>
            <p14:sldId id="309"/>
            <p14:sldId id="311"/>
          </p14:sldIdLst>
        </p14:section>
        <p14:section name="Příloha" id="{7AC58F15-9135-444C-95ED-B56E9497F3E8}">
          <p14:sldIdLst>
            <p14:sldId id="271"/>
            <p14:sldId id="272"/>
            <p14:sldId id="305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10-17T01:24:15.244"/>
    <p1510:client id="{7FCB1DC3-EF90-7449-BDC5-16AD28E29D30}" v="5" dt="2026-10-17T01:02:12.481"/>
    <p1510:client id="{A05E5FF7-CE86-B81C-0EA8-15421224548A}" v="13" dt="2026-10-17T10:30:09.920"/>
    <p1510:client id="{A1C84B34-CEF5-B14A-8000-68F8A6018631}" v="630" dt="2026-10-17T01:25:23.814"/>
    <p1510:client id="{A3A62A93-0DD2-70F3-D67F-F3A4CB527190}" v="11" dt="2026-10-17T01:23:52.582"/>
    <p1510:client id="{F68B5562-04A5-F295-4EAD-FED569BB31F9}" v="591" dt="2026-10-17T10:50:22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List_Microsoft_Excelu_103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List_Microsoft_Excelu_105_0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List_Microsoft_Excelu_106_0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7_3F531E0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8_29987FDA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9_6C37F32C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A_DC8061DF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33_1FFDE569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C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F5C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3D4F5C"/>
                </a:solidFill>
                <a:latin typeface="+mn-lt"/>
              </a:rPr>
              <a:t>Měsíce od poslední prevence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Měsíce od poslední prevence</c:v>
                </c:pt>
              </c:strCache>
            </c:strRef>
          </c:tx>
          <c:spPr>
            <a:ln w="25400" cap="flat">
              <a:solidFill>
                <a:srgbClr val="5B2A4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6</c:v>
                </c:pt>
                <c:pt idx="2">
                  <c:v>12</c:v>
                </c:pt>
                <c:pt idx="3">
                  <c:v>18</c:v>
                </c:pt>
                <c:pt idx="4">
                  <c:v>24</c:v>
                </c:pt>
                <c:pt idx="5">
                  <c:v>30</c:v>
                </c:pt>
                <c:pt idx="6">
                  <c:v>36</c:v>
                </c:pt>
                <c:pt idx="7">
                  <c:v>42</c:v>
                </c:pt>
                <c:pt idx="8">
                  <c:v>48</c:v>
                </c:pt>
                <c:pt idx="9">
                  <c:v>54</c:v>
                </c:pt>
                <c:pt idx="10">
                  <c:v>60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0.6</c:v>
                </c:pt>
                <c:pt idx="1">
                  <c:v>0.55000000000000004</c:v>
                </c:pt>
                <c:pt idx="2">
                  <c:v>0.42</c:v>
                </c:pt>
                <c:pt idx="3">
                  <c:v>0.22</c:v>
                </c:pt>
                <c:pt idx="4">
                  <c:v>0.02</c:v>
                </c:pt>
                <c:pt idx="5">
                  <c:v>-0.18</c:v>
                </c:pt>
                <c:pt idx="6">
                  <c:v>-0.36</c:v>
                </c:pt>
                <c:pt idx="7">
                  <c:v>-0.5</c:v>
                </c:pt>
                <c:pt idx="8">
                  <c:v>-0.6</c:v>
                </c:pt>
                <c:pt idx="9">
                  <c:v>-0.66</c:v>
                </c:pt>
                <c:pt idx="10">
                  <c:v>-0.69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879-4C8B-BE27-301522227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l"/>
        <c:majorGridlines>
          <c:spPr>
            <a:ln w="6350" cap="flat">
              <a:solidFill>
                <a:srgbClr val="E3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F5C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3D4F5C"/>
                </a:solidFill>
                <a:latin typeface="+mn-lt"/>
              </a:rPr>
              <a:t>Kontakty se zdravotnictvím za rok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Kontakty se zdravotnictvím za rok</c:v>
                </c:pt>
              </c:strCache>
            </c:strRef>
          </c:tx>
          <c:spPr>
            <a:ln w="25400" cap="flat">
              <a:solidFill>
                <a:srgbClr val="5B2A4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8</c:v>
                </c:pt>
                <c:pt idx="8">
                  <c:v>10</c:v>
                </c:pt>
                <c:pt idx="9">
                  <c:v>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-0.62</c:v>
                </c:pt>
                <c:pt idx="1">
                  <c:v>-0.34</c:v>
                </c:pt>
                <c:pt idx="2">
                  <c:v>-0.14000000000000001</c:v>
                </c:pt>
                <c:pt idx="3">
                  <c:v>0.02</c:v>
                </c:pt>
                <c:pt idx="4">
                  <c:v>0.13</c:v>
                </c:pt>
                <c:pt idx="5">
                  <c:v>0.21</c:v>
                </c:pt>
                <c:pt idx="6">
                  <c:v>0.26</c:v>
                </c:pt>
                <c:pt idx="7">
                  <c:v>0.31</c:v>
                </c:pt>
                <c:pt idx="8">
                  <c:v>0.33</c:v>
                </c:pt>
                <c:pt idx="9">
                  <c:v>0.34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BE8-4F12-97D4-A159774F5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l"/>
        <c:majorGridlines>
          <c:spPr>
            <a:ln w="6350" cap="flat">
              <a:solidFill>
                <a:srgbClr val="E3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F5C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3D4F5C"/>
                </a:solidFill>
                <a:latin typeface="+mn-lt"/>
              </a:rPr>
              <a:t>Věk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Věk</c:v>
                </c:pt>
              </c:strCache>
            </c:strRef>
          </c:tx>
          <c:spPr>
            <a:ln w="25400" cap="flat">
              <a:solidFill>
                <a:srgbClr val="5B2A4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45</c:v>
                </c:pt>
                <c:pt idx="1">
                  <c:v>50</c:v>
                </c:pt>
                <c:pt idx="2">
                  <c:v>55</c:v>
                </c:pt>
                <c:pt idx="3">
                  <c:v>60</c:v>
                </c:pt>
                <c:pt idx="4">
                  <c:v>65</c:v>
                </c:pt>
                <c:pt idx="5">
                  <c:v>70</c:v>
                </c:pt>
                <c:pt idx="6">
                  <c:v>75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-0.28000000000000003</c:v>
                </c:pt>
                <c:pt idx="1">
                  <c:v>-0.06</c:v>
                </c:pt>
                <c:pt idx="2">
                  <c:v>0.12</c:v>
                </c:pt>
                <c:pt idx="3">
                  <c:v>0.22</c:v>
                </c:pt>
                <c:pt idx="4">
                  <c:v>0.24</c:v>
                </c:pt>
                <c:pt idx="5">
                  <c:v>0.12</c:v>
                </c:pt>
                <c:pt idx="6">
                  <c:v>-0.12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18A-4994-A1A6-816EBA8CB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l"/>
        <c:majorGridlines>
          <c:spPr>
            <a:ln w="6350" cap="flat">
              <a:solidFill>
                <a:srgbClr val="E3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0F3C"/>
                </a:solidFill>
                <a:latin typeface="+mn-lt"/>
              </a:defRPr>
            </a:pPr>
            <a:r>
              <a:rPr lang="cs-CZ" sz="1100" b="0" i="0" u="none" strike="noStrike">
                <a:solidFill>
                  <a:srgbClr val="230F3C"/>
                </a:solidFill>
                <a:latin typeface="+mn-lt"/>
              </a:rPr>
              <a:t>Účast po pozvánce VZP (sloupce, %) a nové případy na 100 tis. žen (čára)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Účast do 12 měsíců po pozvánce VZP (%)</c:v>
                </c:pt>
              </c:strCache>
            </c:strRef>
          </c:tx>
          <c:spPr>
            <a:solidFill>
              <a:srgbClr val="3D7CC9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cs-CZ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45–49</c:v>
                </c:pt>
                <c:pt idx="1">
                  <c:v>50–54</c:v>
                </c:pt>
                <c:pt idx="2">
                  <c:v>55–59</c:v>
                </c:pt>
                <c:pt idx="3">
                  <c:v>60–64</c:v>
                </c:pt>
                <c:pt idx="4">
                  <c:v>65–69</c:v>
                </c:pt>
                <c:pt idx="5">
                  <c:v>70–74</c:v>
                </c:pt>
                <c:pt idx="6">
                  <c:v>75–79</c:v>
                </c:pt>
                <c:pt idx="7">
                  <c:v>80–84</c:v>
                </c:pt>
                <c:pt idx="8">
                  <c:v>85+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31.9</c:v>
                </c:pt>
                <c:pt idx="1">
                  <c:v>14.3</c:v>
                </c:pt>
                <c:pt idx="2">
                  <c:v>12.3</c:v>
                </c:pt>
                <c:pt idx="3">
                  <c:v>11.5</c:v>
                </c:pt>
                <c:pt idx="4">
                  <c:v>10.4</c:v>
                </c:pt>
                <c:pt idx="5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F6-4D4A-A74D-745FD51774A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Nové případy na 100 tis. žen</c:v>
                </c:pt>
              </c:strCache>
            </c:strRef>
          </c:tx>
          <c:spPr>
            <a:ln w="31750" cap="flat">
              <a:solidFill>
                <a:srgbClr val="D27869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D27869"/>
              </a:solidFill>
              <a:ln w="9525" cap="flat">
                <a:solidFill>
                  <a:srgbClr val="D27869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45–49</c:v>
                </c:pt>
                <c:pt idx="1">
                  <c:v>50–54</c:v>
                </c:pt>
                <c:pt idx="2">
                  <c:v>55–59</c:v>
                </c:pt>
                <c:pt idx="3">
                  <c:v>60–64</c:v>
                </c:pt>
                <c:pt idx="4">
                  <c:v>65–69</c:v>
                </c:pt>
                <c:pt idx="5">
                  <c:v>70–74</c:v>
                </c:pt>
                <c:pt idx="6">
                  <c:v>75–79</c:v>
                </c:pt>
                <c:pt idx="7">
                  <c:v>80–84</c:v>
                </c:pt>
                <c:pt idx="8">
                  <c:v>85+</c:v>
                </c:pt>
              </c:strCache>
            </c:strRef>
          </c:cat>
          <c:val>
            <c:numRef>
              <c:f>Sheet1!$C$2:$C$10</c:f>
              <c:numCache>
                <c:formatCode>0.0</c:formatCode>
                <c:ptCount val="9"/>
                <c:pt idx="0">
                  <c:v>192</c:v>
                </c:pt>
                <c:pt idx="1">
                  <c:v>194</c:v>
                </c:pt>
                <c:pt idx="2">
                  <c:v>210</c:v>
                </c:pt>
                <c:pt idx="3">
                  <c:v>250</c:v>
                </c:pt>
                <c:pt idx="4">
                  <c:v>305</c:v>
                </c:pt>
                <c:pt idx="5">
                  <c:v>356</c:v>
                </c:pt>
                <c:pt idx="6">
                  <c:v>367</c:v>
                </c:pt>
                <c:pt idx="7">
                  <c:v>300</c:v>
                </c:pt>
                <c:pt idx="8">
                  <c:v>239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F6-4D4A-A74D-745FD51774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A4458"/>
                    </a:solidFill>
                    <a:latin typeface="Arial"/>
                  </a:defRPr>
                </a:pPr>
                <a:r>
                  <a:rPr lang="cs-CZ" sz="900" b="0" i="0" u="none" strike="noStrike">
                    <a:solidFill>
                      <a:srgbClr val="4A4458"/>
                    </a:solidFill>
                    <a:latin typeface="Arial"/>
                  </a:rPr>
                  <a:t>účast do 12 měsíců (%)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40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A4458"/>
                    </a:solidFill>
                    <a:latin typeface="Arial"/>
                  </a:defRPr>
                </a:pPr>
                <a:r>
                  <a:rPr lang="cs-CZ" sz="900" b="0" i="0" u="none" strike="noStrike">
                    <a:solidFill>
                      <a:srgbClr val="4A4458"/>
                    </a:solidFill>
                    <a:latin typeface="Arial"/>
                  </a:rPr>
                  <a:t>nové případy na 100 tis.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458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0F3C"/>
                </a:solidFill>
                <a:latin typeface="+mn-lt"/>
              </a:defRPr>
            </a:pPr>
            <a:r>
              <a:rPr lang="cs-CZ" sz="1100" b="0" i="0" u="none" strike="noStrike">
                <a:solidFill>
                  <a:srgbClr val="230F3C"/>
                </a:solidFill>
                <a:latin typeface="+mn-lt"/>
              </a:rPr>
              <a:t>Podíl zvaných žen s preventivní prohlídkou podle věku (%), 2024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Gynekologická prevence za 24 měsíců</c:v>
                </c:pt>
              </c:strCache>
            </c:strRef>
          </c:tx>
          <c:spPr>
            <a:ln w="31750" cap="rnd">
              <a:solidFill>
                <a:srgbClr val="003B7A"/>
              </a:solidFill>
              <a:round/>
            </a:ln>
          </c:spPr>
          <c:marker>
            <c:symbol val="circle"/>
            <c:size val="7"/>
            <c:spPr>
              <a:solidFill>
                <a:srgbClr val="003B7A"/>
              </a:solidFill>
              <a:ln w="9525">
                <a:solidFill>
                  <a:srgbClr val="003B7A"/>
                </a:solidFill>
              </a:ln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0F3C"/>
                    </a:solidFill>
                    <a:latin typeface="+mn-lt"/>
                  </a:defRPr>
                </a:pPr>
                <a:endParaRPr lang="cs-CZ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45–49</c:v>
                </c:pt>
                <c:pt idx="1">
                  <c:v>50–54</c:v>
                </c:pt>
                <c:pt idx="2">
                  <c:v>55–59</c:v>
                </c:pt>
                <c:pt idx="3">
                  <c:v>60–64</c:v>
                </c:pt>
                <c:pt idx="4">
                  <c:v>65–69</c:v>
                </c:pt>
                <c:pt idx="5">
                  <c:v>70–74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60.9</c:v>
                </c:pt>
                <c:pt idx="1">
                  <c:v>37.799999999999997</c:v>
                </c:pt>
                <c:pt idx="2">
                  <c:v>27</c:v>
                </c:pt>
                <c:pt idx="3">
                  <c:v>19.8</c:v>
                </c:pt>
                <c:pt idx="4">
                  <c:v>16</c:v>
                </c:pt>
                <c:pt idx="5">
                  <c:v>14.8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01-A341-8002-081097806D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Prevence u praktika za 24 měsíců</c:v>
                </c:pt>
              </c:strCache>
            </c:strRef>
          </c:tx>
          <c:spPr>
            <a:ln w="31750" cap="rnd">
              <a:solidFill>
                <a:srgbClr val="7FA8DC"/>
              </a:solidFill>
              <a:round/>
            </a:ln>
          </c:spPr>
          <c:marker>
            <c:symbol val="circle"/>
            <c:size val="7"/>
            <c:spPr>
              <a:solidFill>
                <a:srgbClr val="7FA8DC"/>
              </a:solidFill>
              <a:ln w="9525">
                <a:solidFill>
                  <a:srgbClr val="7FA8DC"/>
                </a:solidFill>
              </a:ln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0F3C"/>
                    </a:solidFill>
                    <a:latin typeface="+mn-lt"/>
                  </a:defRPr>
                </a:pPr>
                <a:endParaRPr lang="cs-CZ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45–49</c:v>
                </c:pt>
                <c:pt idx="1">
                  <c:v>50–54</c:v>
                </c:pt>
                <c:pt idx="2">
                  <c:v>55–59</c:v>
                </c:pt>
                <c:pt idx="3">
                  <c:v>60–64</c:v>
                </c:pt>
                <c:pt idx="4">
                  <c:v>65–69</c:v>
                </c:pt>
                <c:pt idx="5">
                  <c:v>70–74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42.8</c:v>
                </c:pt>
                <c:pt idx="1">
                  <c:v>41.6</c:v>
                </c:pt>
                <c:pt idx="2">
                  <c:v>42.2</c:v>
                </c:pt>
                <c:pt idx="3">
                  <c:v>40.200000000000003</c:v>
                </c:pt>
                <c:pt idx="4">
                  <c:v>42.3</c:v>
                </c:pt>
                <c:pt idx="5">
                  <c:v>42.4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01-A341-8002-081097806DD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0F3C"/>
                </a:solidFill>
                <a:latin typeface="+mn-lt"/>
              </a:defRPr>
            </a:pPr>
            <a:r>
              <a:rPr lang="cs-CZ" sz="1100" b="0" i="0" u="none" strike="noStrike">
                <a:solidFill>
                  <a:srgbClr val="230F3C"/>
                </a:solidFill>
                <a:latin typeface="+mn-lt"/>
              </a:rPr>
              <a:t>Účast do 12 měsíců podle pořadí pozvánky (%), pozvánky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Účast do 12 měsíců (%)</c:v>
                </c:pt>
              </c:strCache>
            </c:strRef>
          </c:tx>
          <c:spPr>
            <a:solidFill>
              <a:srgbClr val="3D7CC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0F3C"/>
                    </a:solidFill>
                    <a:latin typeface="+mn-lt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</c:v>
                </c:pt>
                <c:pt idx="1">
                  <c:v>2.</c:v>
                </c:pt>
                <c:pt idx="2">
                  <c:v>3.</c:v>
                </c:pt>
                <c:pt idx="3">
                  <c:v>4.</c:v>
                </c:pt>
                <c:pt idx="4">
                  <c:v>5.</c:v>
                </c:pt>
                <c:pt idx="5">
                  <c:v>6.</c:v>
                </c:pt>
                <c:pt idx="6">
                  <c:v>7.</c:v>
                </c:pt>
                <c:pt idx="7">
                  <c:v>8. a další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52.7</c:v>
                </c:pt>
                <c:pt idx="1">
                  <c:v>32.1</c:v>
                </c:pt>
                <c:pt idx="2">
                  <c:v>24.4</c:v>
                </c:pt>
                <c:pt idx="3">
                  <c:v>18.399999999999999</c:v>
                </c:pt>
                <c:pt idx="4">
                  <c:v>14.8</c:v>
                </c:pt>
                <c:pt idx="5">
                  <c:v>12.9</c:v>
                </c:pt>
                <c:pt idx="6">
                  <c:v>9.9</c:v>
                </c:pt>
                <c:pt idx="7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F-794A-A1B5-3D1AEC2AD9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A4458"/>
                    </a:solidFill>
                    <a:latin typeface="Arial"/>
                  </a:defRPr>
                </a:pPr>
                <a:r>
                  <a:rPr lang="cs-CZ" sz="900" b="0" i="0" u="none" strike="noStrike">
                    <a:solidFill>
                      <a:srgbClr val="4A4458"/>
                    </a:solidFill>
                    <a:latin typeface="Arial"/>
                  </a:rPr>
                  <a:t>pořadí pozvánky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Ženy jen u praktika</c:v>
                </c:pt>
              </c:strCache>
            </c:strRef>
          </c:tx>
          <c:spPr>
            <a:solidFill>
              <a:srgbClr val="336E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2A2A"/>
                    </a:solidFill>
                    <a:latin typeface="+mn-lt"/>
                  </a:defRPr>
                </a:pPr>
                <a:endParaRPr lang="en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45–49</c:v>
                </c:pt>
                <c:pt idx="1">
                  <c:v>50–54</c:v>
                </c:pt>
                <c:pt idx="2">
                  <c:v>55–59</c:v>
                </c:pt>
                <c:pt idx="3">
                  <c:v>60–64</c:v>
                </c:pt>
                <c:pt idx="4">
                  <c:v>65–69</c:v>
                </c:pt>
                <c:pt idx="5">
                  <c:v>70–74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15.1</c:v>
                </c:pt>
                <c:pt idx="1">
                  <c:v>10.8</c:v>
                </c:pt>
                <c:pt idx="2">
                  <c:v>10.199999999999999</c:v>
                </c:pt>
                <c:pt idx="3">
                  <c:v>10.199999999999999</c:v>
                </c:pt>
                <c:pt idx="4">
                  <c:v>9.9</c:v>
                </c:pt>
                <c:pt idx="5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6-C348-BCDE-560488575A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Ženy po gynekologické prevenci</c:v>
                </c:pt>
              </c:strCache>
            </c:strRef>
          </c:tx>
          <c:spPr>
            <a:solidFill>
              <a:srgbClr val="C23B2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2A2A"/>
                    </a:solidFill>
                    <a:latin typeface="+mn-lt"/>
                  </a:defRPr>
                </a:pPr>
                <a:endParaRPr lang="en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45–49</c:v>
                </c:pt>
                <c:pt idx="1">
                  <c:v>50–54</c:v>
                </c:pt>
                <c:pt idx="2">
                  <c:v>55–59</c:v>
                </c:pt>
                <c:pt idx="3">
                  <c:v>60–64</c:v>
                </c:pt>
                <c:pt idx="4">
                  <c:v>65–69</c:v>
                </c:pt>
                <c:pt idx="5">
                  <c:v>70–74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42.7</c:v>
                </c:pt>
                <c:pt idx="1">
                  <c:v>22.6</c:v>
                </c:pt>
                <c:pt idx="2">
                  <c:v>23.2</c:v>
                </c:pt>
                <c:pt idx="3">
                  <c:v>24.3</c:v>
                </c:pt>
                <c:pt idx="4">
                  <c:v>24.8</c:v>
                </c:pt>
                <c:pt idx="5">
                  <c:v>22.9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06-C348-BCDE-560488575A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E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2A2A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14000000000000001"/>
          <c:w val="0.91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Podíl případů</c:v>
                </c:pt>
              </c:strCache>
            </c:strRef>
          </c:tx>
          <c:spPr>
            <a:solidFill>
              <a:srgbClr val="C9C9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85-2846-9AF2-B68527ABB10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F85-2846-9AF2-B68527ABB10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F85-2846-9AF2-B68527ABB10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F85-2846-9AF2-B68527ABB10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F85-2846-9AF2-B68527ABB10B}"/>
              </c:ext>
            </c:extLst>
          </c:dPt>
          <c:dPt>
            <c:idx val="5"/>
            <c:invertIfNegative val="0"/>
            <c:bubble3D val="0"/>
            <c:spPr>
              <a:solidFill>
                <a:srgbClr val="C23B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F85-2846-9AF2-B68527ABB10B}"/>
              </c:ext>
            </c:extLst>
          </c:dPt>
          <c:dPt>
            <c:idx val="6"/>
            <c:invertIfNegative val="0"/>
            <c:bubble3D val="0"/>
            <c:spPr>
              <a:solidFill>
                <a:srgbClr val="C23B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F85-2846-9AF2-B68527ABB10B}"/>
              </c:ext>
            </c:extLst>
          </c:dPt>
          <c:dPt>
            <c:idx val="7"/>
            <c:invertIfNegative val="0"/>
            <c:bubble3D val="0"/>
            <c:spPr>
              <a:solidFill>
                <a:srgbClr val="C23B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F85-2846-9AF2-B68527ABB10B}"/>
              </c:ext>
            </c:extLst>
          </c:dPt>
          <c:dPt>
            <c:idx val="8"/>
            <c:invertIfNegative val="0"/>
            <c:bubble3D val="0"/>
            <c:spPr>
              <a:solidFill>
                <a:srgbClr val="C23B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F85-2846-9AF2-B68527ABB10B}"/>
              </c:ext>
            </c:extLst>
          </c:dPt>
          <c:dPt>
            <c:idx val="9"/>
            <c:invertIfNegative val="0"/>
            <c:bubble3D val="0"/>
            <c:spPr>
              <a:solidFill>
                <a:srgbClr val="C23B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F85-2846-9AF2-B68527ABB10B}"/>
              </c:ext>
            </c:extLst>
          </c:dPt>
          <c:dPt>
            <c:idx val="10"/>
            <c:invertIfNegative val="0"/>
            <c:bubble3D val="0"/>
            <c:spPr>
              <a:solidFill>
                <a:srgbClr val="C23B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0F85-2846-9AF2-B68527ABB10B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0F85-2846-9AF2-B68527ABB10B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0F85-2846-9AF2-B68527ABB10B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0F85-2846-9AF2-B68527ABB10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A2A"/>
                    </a:solidFill>
                    <a:latin typeface="+mn-lt"/>
                  </a:defRPr>
                </a:pPr>
                <a:endParaRPr lang="en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40</c:v>
                </c:pt>
                <c:pt idx="5">
                  <c:v>45</c:v>
                </c:pt>
                <c:pt idx="6">
                  <c:v>50</c:v>
                </c:pt>
                <c:pt idx="7">
                  <c:v>55</c:v>
                </c:pt>
                <c:pt idx="8">
                  <c:v>60</c:v>
                </c:pt>
                <c:pt idx="9">
                  <c:v>65</c:v>
                </c:pt>
                <c:pt idx="10">
                  <c:v>70</c:v>
                </c:pt>
                <c:pt idx="11">
                  <c:v>75</c:v>
                </c:pt>
                <c:pt idx="12">
                  <c:v>80</c:v>
                </c:pt>
                <c:pt idx="13">
                  <c:v>85+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0.3</c:v>
                </c:pt>
                <c:pt idx="2">
                  <c:v>1.3</c:v>
                </c:pt>
                <c:pt idx="3">
                  <c:v>2.9</c:v>
                </c:pt>
                <c:pt idx="4">
                  <c:v>5.7</c:v>
                </c:pt>
                <c:pt idx="5">
                  <c:v>10.7</c:v>
                </c:pt>
                <c:pt idx="6">
                  <c:v>8.8000000000000007</c:v>
                </c:pt>
                <c:pt idx="7">
                  <c:v>8.9</c:v>
                </c:pt>
                <c:pt idx="8">
                  <c:v>9.8000000000000007</c:v>
                </c:pt>
                <c:pt idx="9">
                  <c:v>13.3</c:v>
                </c:pt>
                <c:pt idx="10">
                  <c:v>15.3</c:v>
                </c:pt>
                <c:pt idx="11">
                  <c:v>12.4</c:v>
                </c:pt>
                <c:pt idx="12">
                  <c:v>6.3</c:v>
                </c:pt>
                <c:pt idx="13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0F85-2846-9AF2-B68527ABB1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5E5E"/>
                    </a:solidFill>
                    <a:latin typeface="+mn-lt"/>
                  </a:defRPr>
                </a:pPr>
                <a:r>
                  <a:rPr lang="en-US" sz="1200" b="0" i="0" u="none" strike="noStrike">
                    <a:solidFill>
                      <a:srgbClr val="5E5E5E"/>
                    </a:solidFill>
                    <a:latin typeface="+mn-lt"/>
                  </a:rPr>
                  <a:t>věk (začátek pětiletí)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9525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E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12"/>
          <c:w val="0.91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Okresy bez mamografického pracoviště</c:v>
                </c:pt>
              </c:strCache>
            </c:strRef>
          </c:tx>
          <c:spPr>
            <a:solidFill>
              <a:srgbClr val="336E96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45–49
+0,6</c:v>
                </c:pt>
                <c:pt idx="1">
                  <c:v>50–54
+0,3</c:v>
                </c:pt>
                <c:pt idx="2">
                  <c:v>55–59
+0,9</c:v>
                </c:pt>
                <c:pt idx="3">
                  <c:v>60–64
+1,3</c:v>
                </c:pt>
                <c:pt idx="4">
                  <c:v>65–69
+2,4*</c:v>
                </c:pt>
                <c:pt idx="5">
                  <c:v>70–74
+3,2*</c:v>
                </c:pt>
                <c:pt idx="6">
                  <c:v>75–79
+5,3*</c:v>
                </c:pt>
                <c:pt idx="7">
                  <c:v>80–84
+6,9*</c:v>
                </c:pt>
                <c:pt idx="8">
                  <c:v>85+
+4,0*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61.4</c:v>
                </c:pt>
                <c:pt idx="1">
                  <c:v>62.1</c:v>
                </c:pt>
                <c:pt idx="2">
                  <c:v>60.2</c:v>
                </c:pt>
                <c:pt idx="3">
                  <c:v>61.6</c:v>
                </c:pt>
                <c:pt idx="4">
                  <c:v>61.8</c:v>
                </c:pt>
                <c:pt idx="5">
                  <c:v>57.9</c:v>
                </c:pt>
                <c:pt idx="6">
                  <c:v>45.9</c:v>
                </c:pt>
                <c:pt idx="7">
                  <c:v>26.3</c:v>
                </c:pt>
                <c:pt idx="8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56-0D4C-A82D-4ED3CEFE68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 vyřešení dopravy</c:v>
                </c:pt>
              </c:strCache>
            </c:strRef>
          </c:tx>
          <c:spPr>
            <a:solidFill>
              <a:srgbClr val="C23B22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45–49
+0,6</c:v>
                </c:pt>
                <c:pt idx="1">
                  <c:v>50–54
+0,3</c:v>
                </c:pt>
                <c:pt idx="2">
                  <c:v>55–59
+0,9</c:v>
                </c:pt>
                <c:pt idx="3">
                  <c:v>60–64
+1,3</c:v>
                </c:pt>
                <c:pt idx="4">
                  <c:v>65–69
+2,4*</c:v>
                </c:pt>
                <c:pt idx="5">
                  <c:v>70–74
+3,2*</c:v>
                </c:pt>
                <c:pt idx="6">
                  <c:v>75–79
+5,3*</c:v>
                </c:pt>
                <c:pt idx="7">
                  <c:v>80–84
+6,9*</c:v>
                </c:pt>
                <c:pt idx="8">
                  <c:v>85+
+4,0*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61.9</c:v>
                </c:pt>
                <c:pt idx="1">
                  <c:v>62.4</c:v>
                </c:pt>
                <c:pt idx="2">
                  <c:v>61.1</c:v>
                </c:pt>
                <c:pt idx="3">
                  <c:v>62.9</c:v>
                </c:pt>
                <c:pt idx="4">
                  <c:v>64.3</c:v>
                </c:pt>
                <c:pt idx="5">
                  <c:v>61.1</c:v>
                </c:pt>
                <c:pt idx="6">
                  <c:v>51.1</c:v>
                </c:pt>
                <c:pt idx="7">
                  <c:v>33.200000000000003</c:v>
                </c:pt>
                <c:pt idx="8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56-0D4C-A82D-4ED3CEFE6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E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2A2A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16"/>
          <c:w val="0.91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Karcinomy navíc</c:v>
                </c:pt>
              </c:strCache>
            </c:strRef>
          </c:tx>
          <c:spPr>
            <a:solidFill>
              <a:srgbClr val="C23B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1E-D740-92DF-5A9E1C4AB7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01E-D740-92DF-5A9E1C4AB79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01E-D740-92DF-5A9E1C4AB79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01E-D740-92DF-5A9E1C4AB79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01E-D740-92DF-5A9E1C4AB79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01E-D740-92DF-5A9E1C4AB793}"/>
              </c:ext>
            </c:extLst>
          </c:dPt>
          <c:dPt>
            <c:idx val="6"/>
            <c:invertIfNegative val="0"/>
            <c:bubble3D val="0"/>
            <c:spPr>
              <a:solidFill>
                <a:srgbClr val="C9C9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01E-D740-92DF-5A9E1C4AB793}"/>
              </c:ext>
            </c:extLst>
          </c:dPt>
          <c:dPt>
            <c:idx val="7"/>
            <c:invertIfNegative val="0"/>
            <c:bubble3D val="0"/>
            <c:spPr>
              <a:solidFill>
                <a:srgbClr val="C9C9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01E-D740-92DF-5A9E1C4AB793}"/>
              </c:ext>
            </c:extLst>
          </c:dPt>
          <c:dPt>
            <c:idx val="8"/>
            <c:invertIfNegative val="0"/>
            <c:bubble3D val="0"/>
            <c:spPr>
              <a:solidFill>
                <a:srgbClr val="C9C9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01E-D740-92DF-5A9E1C4AB79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2A2A"/>
                    </a:solidFill>
                    <a:latin typeface="+mn-lt"/>
                  </a:defRPr>
                </a:pPr>
                <a:endParaRPr lang="en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45–49</c:v>
                </c:pt>
                <c:pt idx="1">
                  <c:v>50–54</c:v>
                </c:pt>
                <c:pt idx="2">
                  <c:v>55–59</c:v>
                </c:pt>
                <c:pt idx="3">
                  <c:v>60–64</c:v>
                </c:pt>
                <c:pt idx="4">
                  <c:v>65–69</c:v>
                </c:pt>
                <c:pt idx="5">
                  <c:v>70–74</c:v>
                </c:pt>
                <c:pt idx="6">
                  <c:v>75–79</c:v>
                </c:pt>
                <c:pt idx="7">
                  <c:v>80–84</c:v>
                </c:pt>
                <c:pt idx="8">
                  <c:v>85+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0.5</c:v>
                </c:pt>
                <c:pt idx="2">
                  <c:v>1.4</c:v>
                </c:pt>
                <c:pt idx="3">
                  <c:v>2.4</c:v>
                </c:pt>
                <c:pt idx="4">
                  <c:v>6.3</c:v>
                </c:pt>
                <c:pt idx="5">
                  <c:v>10.6</c:v>
                </c:pt>
                <c:pt idx="6">
                  <c:v>19.7</c:v>
                </c:pt>
                <c:pt idx="7">
                  <c:v>15.8</c:v>
                </c:pt>
                <c:pt idx="8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01E-D740-92DF-5A9E1C4AB7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9525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E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cs-CZ" sz="1100" b="0">
                <a:solidFill>
                  <a:srgbClr val="230F3C"/>
                </a:solidFill>
              </a:rPr>
              <a:t>Vyšetření navíc podle roku a scénáře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Konzervativní</c:v>
                </c:pt>
              </c:strCache>
            </c:strRef>
          </c:tx>
          <c:spPr>
            <a:solidFill>
              <a:srgbClr val="C9C6D6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#\ ##0</c:formatCode>
                <c:ptCount val="5"/>
                <c:pt idx="0">
                  <c:v>22850</c:v>
                </c:pt>
                <c:pt idx="1">
                  <c:v>22320</c:v>
                </c:pt>
                <c:pt idx="2">
                  <c:v>36542</c:v>
                </c:pt>
                <c:pt idx="3">
                  <c:v>35602</c:v>
                </c:pt>
                <c:pt idx="4">
                  <c:v>34691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F8-4D34-9326-63F9D483EF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Základní</c:v>
                </c:pt>
              </c:strCache>
            </c:strRef>
          </c:tx>
          <c:spPr>
            <a:solidFill>
              <a:srgbClr val="003B7A"/>
            </a:solidFill>
            <a:ln>
              <a:noFill/>
            </a:ln>
          </c:spPr>
          <c:invertIfNegative val="0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30F3C"/>
                    </a:solidFill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Sheet1!$C$2:$C$6</c:f>
              <c:numCache>
                <c:formatCode>#\ ##0</c:formatCode>
                <c:ptCount val="5"/>
                <c:pt idx="0">
                  <c:v>45700</c:v>
                </c:pt>
                <c:pt idx="1">
                  <c:v>43534</c:v>
                </c:pt>
                <c:pt idx="2">
                  <c:v>70973</c:v>
                </c:pt>
                <c:pt idx="3">
                  <c:v>67296</c:v>
                </c:pt>
                <c:pt idx="4">
                  <c:v>63843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F8-4D34-9326-63F9D483EF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Optimistický</c:v>
                </c:pt>
              </c:strCache>
            </c:strRef>
          </c:tx>
          <c:spPr>
            <a:solidFill>
              <a:srgbClr val="7FA3BF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Sheet1!$D$2:$D$6</c:f>
              <c:numCache>
                <c:formatCode>#\ ##0</c:formatCode>
                <c:ptCount val="5"/>
                <c:pt idx="0">
                  <c:v>74690</c:v>
                </c:pt>
                <c:pt idx="1">
                  <c:v>68616</c:v>
                </c:pt>
                <c:pt idx="2">
                  <c:v>112277</c:v>
                </c:pt>
                <c:pt idx="3">
                  <c:v>102459</c:v>
                </c:pt>
                <c:pt idx="4">
                  <c:v>93630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F8-4D34-9326-63F9D483E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solidFill>
                  <a:srgbClr val="4A4458"/>
                </a:solidFill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000"/>
          <c:min val="0"/>
        </c:scaling>
        <c:delete val="0"/>
        <c:axPos val="l"/>
        <c:majorGridlines>
          <c:spPr>
            <a:ln>
              <a:solidFill>
                <a:srgbClr val="DEDCEC"/>
              </a:solidFill>
            </a:ln>
          </c:spPr>
        </c:majorGridlines>
        <c:numFmt formatCode="#\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8597"/>
                </a:solidFill>
              </a:defRPr>
            </a:pPr>
            <a:endParaRPr lang="cs-CZ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4A4458"/>
              </a:solidFill>
            </a:defRPr>
          </a:pPr>
          <a:endParaRPr lang="cs-CZ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4A4458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cs-CZ" sz="1100" b="0">
                <a:solidFill>
                  <a:srgbClr val="230F3C"/>
                </a:solidFill>
              </a:rPr>
              <a:t>Základní scénář, mil. Kč ročně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Ušetřená léčba</c:v>
                </c:pt>
              </c:strCache>
            </c:strRef>
          </c:tx>
          <c:spPr>
            <a:solidFill>
              <a:srgbClr val="7FA3BF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110.7</c:v>
                </c:pt>
                <c:pt idx="1">
                  <c:v>105.1</c:v>
                </c:pt>
                <c:pt idx="2">
                  <c:v>153.9</c:v>
                </c:pt>
                <c:pt idx="3">
                  <c:v>145.69999999999999</c:v>
                </c:pt>
                <c:pt idx="4">
                  <c:v>138.1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52-4EB0-9EB8-646DF322B6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Screening, recall, příspěvek, overdiagnóza</c:v>
                </c:pt>
              </c:strCache>
            </c:strRef>
          </c:tx>
          <c:spPr>
            <a:solidFill>
              <a:srgbClr val="C9C6D6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83.3</c:v>
                </c:pt>
                <c:pt idx="1">
                  <c:v>79.2</c:v>
                </c:pt>
                <c:pt idx="2">
                  <c:v>122.1</c:v>
                </c:pt>
                <c:pt idx="3">
                  <c:v>115.7</c:v>
                </c:pt>
                <c:pt idx="4">
                  <c:v>109.7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52-4EB0-9EB8-646DF322B6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Čistý přínos</c:v>
                </c:pt>
              </c:strCache>
            </c:strRef>
          </c:tx>
          <c:spPr>
            <a:solidFill>
              <a:srgbClr val="003B7A"/>
            </a:solidFill>
            <a:ln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30F3C"/>
                    </a:solidFill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Sheet1!$D$2:$D$6</c:f>
              <c:numCache>
                <c:formatCode>0.0</c:formatCode>
                <c:ptCount val="5"/>
                <c:pt idx="0">
                  <c:v>27.5</c:v>
                </c:pt>
                <c:pt idx="1">
                  <c:v>26</c:v>
                </c:pt>
                <c:pt idx="2">
                  <c:v>31.8</c:v>
                </c:pt>
                <c:pt idx="3">
                  <c:v>30</c:v>
                </c:pt>
                <c:pt idx="4">
                  <c:v>28.4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52-4EB0-9EB8-646DF322B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solidFill>
                  <a:srgbClr val="4A4458"/>
                </a:solidFill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"/>
          <c:min val="0"/>
        </c:scaling>
        <c:delete val="0"/>
        <c:axPos val="l"/>
        <c:majorGridlines>
          <c:spPr>
            <a:ln>
              <a:solidFill>
                <a:srgbClr val="DEDCEC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8597"/>
                </a:solidFill>
              </a:defRPr>
            </a:pPr>
            <a:endParaRPr lang="cs-CZ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4A4458"/>
              </a:solidFill>
            </a:defRPr>
          </a:pPr>
          <a:endParaRPr lang="cs-CZ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4A4458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08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 s. Představit název a výzvu. Tým na dalším slajdu, ve 3minutové verzi přeskočit.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15 s. Fotku Jakuba Rambouska doplnit z WP_Intro_prezentace_v3.pptx (v podkladech chyběla). Ve 3minutové verzi slajd přeskočit nebo přesunout do přílohy.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40 s. Pět karet odpovídá pěti částem zadání a pořadí slajdů. 3minutová verze: slajdy 3, 6, 8, 9, 13 a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Uprostřed je model, který pro každého klienta počítá tři věci: zdravotní rizika (z historie péče, diagnóz, léků), pravděpodobnost, že k prevenci přijde sám, a uplift, tedy o kolik účast zvýší každá intervence (dopis, e-mail, push, SMS, telefonát nebo navigace, předrezervovaný termín, oslovení přes praktika nebo specialistu). Optimalizace z toho sestaví plán: kdo dostane co, kdy a kterým kanálem, v mezích rozpočtu, kapacit a požadavků na rovnost.
Vlevo komunikace s klienty: výstupem jsou intervence, vstupem odezva, rezervace a odhlášení. Vpravo poskytovatelé: seznamy klientů a objednávání, zpět vykázané výkony, které jsou zároveň výsledkem (přišel / nepřišel) pro učení modelu.
Nahoře monitoring: provoz, ekonomika (náklady, cena za vyšetření navíc, ICER a čistý peněžní přínos, dopad na rozpočet) a zdravotní výsledky (stadium při záchytu, odvrácená úmrtí, QALY, kapacity). Součástí je plánování a řízení experimentů s trvalou kontrolní skupinou; jejich výsledky se vracejí do modelu jako aktualizované odhady účinků.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Aplikace VZP má mezi klienty dobrý dosah (zhruba 700 tisíc uživatelů; aktivita a podíl v cílových skupinách zatím nejsou známé) a VZP ji chce rozvíjet jako přímý kanál včetně zpětné vazby. Samotná push notifikace je slabá intervence: ve studii ze Singapuru na ni kliklo jen 4 % adresátek. Hodnota aplikace je jinde. Zaprvé jako levný kanál pro intervence, které fungují: předrezervovaný termín, který klient jedním klepnutím potvrdí, přesune nebo uvolní (uvolněné termíny se vracejí poskytovateli, což snižuje hlavní náklad předrezervace); dotazník bariér, podle jehož odpovědi následuje cílený krok (navigace telefonem jen tam, kde ji telefonát vyřeší); přehled všech preventivních programů na jednom místě; levné varianty zpráv. Zadruhé jako zdroj zpětné vazby: důvody neúčasti jako znaky pro model upliftu, zkušenost po vyšetření pro sledování kvality, dosažitelnost kanálů a platforma pro průběžné randomizované pokusy. Pozor na samovýběr uživatelů, zkreslení a únavu z dotazníků a na souhlas s využitím odpovědí.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 pravděpodobnost účasti doporučuji Explainable Boosting Machine (InterpretML): zobecněný aditivní model s vybranými dvojicovými interakcemi, učený boostingem. Každý znak má vlastní křivku, kterou lze číst, ověřit s lékaři a případně upravit. Predikce jednoho klienta se přesně rozloží na příspěvky znaků. Přesnost bývá blízko gradient boostingu a pravděpodobnosti jsou dobře kalibrované, což potřebuje optimalizace i ekonomika. Lze vynutit monotónnost (čím déle od poslední prevence, tím nižší pravděpodobnost) a zkontrolovat férovost. Pro různé horizonty (3, 6, 12 měsíců) buď jeden model na horizont, nebo diskrétní model v čase. GBM se SHAP necháváme jako měřítko: ukáže, kolik přesnosti nás vysvětlitelnost stojí. Křivky na snímku jsou ilustrativní, ne z 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Klíčové omezení: bohatá data VZP (roky vykázané péče, diagnózy, léky, registrace, historie prevence, dřívější pozvánky a odezvy, dosažitelnost kanálů, region) dobře předpovídají, kdo přijde. Neřeknou ale, kdo přijde díky intervenci, protože kanály nebyly přidělované náhodně. Uplift naučený jen z historie by byl zkreslený.
Proto: (1) každá kampaň randomizuje a zaznamenává pravděpodobnost přiřazení; trvalý podíl průzkumu (např. 10 %) a Thompson sampling; libovolné pravidlo cílení lze pak vyhodnotit offline. (2) Jádrem je bayesovský hierarchický model na škále logitu: f(x) je logit z modelu účasti (EBM) jako pevný offset a prior, β_k průměrný účinek intervence s priorem z literatury, g_k(x) rozdíly mezi klienty na stejných znacích jako EBM, smrštěné k nule (horseshoe, částečné sdílení). Před prvním pokusem je prior upliftu plně dán EBM a literaturou; každý pokus posune posterior. Uplift zůstává vysvětlitelný. (3) Až bude randomizovaných dat dost: víceramenný DR-learner na gradient boostingu (EBM jako model kontrolního ramene), causal forest pro intervaly spolehlivosti, při velkých datech vícehlavá neuronová síť. (4) Cílí se na zdravotní hodnotu, ne na samotnou účast: τ_k(x) krát zdravotní přínos vyšetření pro daného klienta minus náklad, v mezích rozpočtu, kapacit a rovnosti. (5) Vyhodnocení: Qini / AUUC, kalibrace upliftu, DR off-policy hodnota pravidla, trvalá kontrolní skupina. (6) Rizika: negativní uplift, pořadí a kombinace kanálů (později dynamický režim / kontextový bandit), posun v čase, férovost.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Začneme s tím, co máme: model účasti z historických dat a účinky intervencí z literatury. Pilotní pokus s několika rameny po segmentech dá první posterior. Pak cílíme podle zdravotní hodnoty, s trvalým průzkumem a kontrolní skupinou, a model pravidelně přeučujeme. Monitoring sleduje provoz, ekonomiku a zdravotní výsledky od začátku.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s. Účast: podíl zvaných žen s vykázanou mamografií do 12 měsíců po pozvánce VZP v roce 2024 (vzp_final.ipynb, buňka 14): 45–49 let 31,9 %, 50–54 14,3 %, 55–59 12,3 %, 60–64 11,5 %, 65–69 10,4 %, 70–74 9,7 %. Skupinu 40–44 let (9 361 žen, 57,8 %) neukazujeme, incidence pro ni v grafu není. Skok mezi 45–49 a 50–54 je z velké části efekt první pozvánky, ne jen věku. Data VZP obsahují jen zvané ženy mimo doporučený interval, celou populaci popisuje pokrytí ÚZIS. Incidence: nové případy C50 na 100 tis. žen, průměr 2020–2024. Stadia: Evaluační zpráva ÚZIS 2022, obr. 18, ze známých stadií.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</a:t>
            </a:r>
            <a:r>
              <a:rPr lang="en-US" err="1"/>
              <a:t>Logistická</a:t>
            </a:r>
            <a:r>
              <a:rPr lang="en-US"/>
              <a:t> </a:t>
            </a:r>
            <a:r>
              <a:rPr lang="en-US" err="1"/>
              <a:t>regrese</a:t>
            </a:r>
            <a:r>
              <a:rPr lang="en-US"/>
              <a:t>: AUC 0,830 (12 </a:t>
            </a:r>
            <a:r>
              <a:rPr lang="en-US" err="1"/>
              <a:t>měsíců</a:t>
            </a:r>
            <a:r>
              <a:rPr lang="en-US"/>
              <a:t>), boosting 0,836. </a:t>
            </a:r>
            <a:r>
              <a:rPr lang="en-US" err="1"/>
              <a:t>Bodová</a:t>
            </a:r>
            <a:r>
              <a:rPr lang="en-US"/>
              <a:t> </a:t>
            </a:r>
            <a:r>
              <a:rPr lang="en-US" err="1"/>
              <a:t>karta</a:t>
            </a:r>
            <a:r>
              <a:rPr lang="en-US"/>
              <a:t> AUC 0,828. </a:t>
            </a:r>
            <a:r>
              <a:rPr lang="en-US" err="1"/>
              <a:t>Kalibrace</a:t>
            </a:r>
            <a:r>
              <a:rPr lang="en-US"/>
              <a:t> 2024: </a:t>
            </a:r>
            <a:r>
              <a:rPr lang="en-US" err="1"/>
              <a:t>předpověď</a:t>
            </a:r>
            <a:r>
              <a:rPr lang="en-US"/>
              <a:t> 17,5 % vs. </a:t>
            </a:r>
            <a:r>
              <a:rPr lang="en-US" err="1"/>
              <a:t>skutečnost</a:t>
            </a:r>
            <a:r>
              <a:rPr lang="en-US"/>
              <a:t> 19,2 %. Uvnitř </a:t>
            </a:r>
            <a:r>
              <a:rPr lang="en-US" err="1"/>
              <a:t>segmentů</a:t>
            </a:r>
            <a:r>
              <a:rPr lang="en-US"/>
              <a:t> AUC 0,63–0,74. </a:t>
            </a:r>
            <a:r>
              <a:rPr lang="en-US" err="1"/>
              <a:t>Zdroje</a:t>
            </a:r>
            <a:r>
              <a:rPr lang="en-US"/>
              <a:t>: docs/RAKATHON_MODEL.md, notebooks/</a:t>
            </a:r>
            <a:r>
              <a:rPr lang="en-US" err="1"/>
              <a:t>vzp_final.ipynb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</a:t>
            </a:r>
            <a:r>
              <a:rPr lang="en-US" err="1"/>
              <a:t>Poměry</a:t>
            </a:r>
            <a:r>
              <a:rPr lang="en-US"/>
              <a:t> </a:t>
            </a:r>
            <a:r>
              <a:rPr lang="en-US" err="1"/>
              <a:t>šancí</a:t>
            </a:r>
            <a:r>
              <a:rPr lang="en-US"/>
              <a:t> po </a:t>
            </a:r>
            <a:r>
              <a:rPr lang="en-US" err="1"/>
              <a:t>věkových</a:t>
            </a:r>
            <a:r>
              <a:rPr lang="en-US"/>
              <a:t> </a:t>
            </a:r>
            <a:r>
              <a:rPr lang="en-US" err="1"/>
              <a:t>pásmech</a:t>
            </a:r>
            <a:r>
              <a:rPr lang="en-US"/>
              <a:t>: </a:t>
            </a:r>
            <a:r>
              <a:rPr lang="en-US" err="1"/>
              <a:t>gynekologická</a:t>
            </a:r>
            <a:r>
              <a:rPr lang="en-US"/>
              <a:t> </a:t>
            </a:r>
            <a:r>
              <a:rPr lang="en-US" err="1"/>
              <a:t>prevence</a:t>
            </a:r>
            <a:r>
              <a:rPr lang="en-US"/>
              <a:t> OR 1,43–1,62, </a:t>
            </a:r>
            <a:r>
              <a:rPr lang="en-US" err="1"/>
              <a:t>prevence</a:t>
            </a:r>
            <a:r>
              <a:rPr lang="en-US"/>
              <a:t> u </a:t>
            </a:r>
            <a:r>
              <a:rPr lang="en-US" err="1"/>
              <a:t>praktika</a:t>
            </a:r>
            <a:r>
              <a:rPr lang="en-US"/>
              <a:t> 0,96–1,07 (</a:t>
            </a:r>
            <a:r>
              <a:rPr lang="en-US" err="1"/>
              <a:t>rakathon_model.ipynb</a:t>
            </a:r>
            <a:r>
              <a:rPr lang="en-US"/>
              <a:t>). </a:t>
            </a:r>
            <a:r>
              <a:rPr lang="en-US" err="1"/>
              <a:t>Úhrady</a:t>
            </a:r>
            <a:r>
              <a:rPr lang="en-US"/>
              <a:t>: </a:t>
            </a:r>
            <a:r>
              <a:rPr lang="en-US" err="1"/>
              <a:t>měsíční</a:t>
            </a:r>
            <a:r>
              <a:rPr lang="en-US"/>
              <a:t> </a:t>
            </a:r>
            <a:r>
              <a:rPr lang="en-US" err="1"/>
              <a:t>agregovaná</a:t>
            </a:r>
            <a:r>
              <a:rPr lang="en-US"/>
              <a:t> </a:t>
            </a:r>
            <a:r>
              <a:rPr lang="en-US" err="1"/>
              <a:t>úhrada</a:t>
            </a:r>
            <a:r>
              <a:rPr lang="en-US"/>
              <a:t> 118 </a:t>
            </a:r>
            <a:r>
              <a:rPr lang="en-US" err="1"/>
              <a:t>Kč</a:t>
            </a:r>
            <a:r>
              <a:rPr lang="en-US"/>
              <a:t> (VZP 120 </a:t>
            </a:r>
            <a:r>
              <a:rPr lang="en-US" err="1"/>
              <a:t>Kč</a:t>
            </a:r>
            <a:r>
              <a:rPr lang="en-US"/>
              <a:t>) za </a:t>
            </a:r>
            <a:r>
              <a:rPr lang="en-US" err="1"/>
              <a:t>ženu</a:t>
            </a:r>
            <a:r>
              <a:rPr lang="en-US"/>
              <a:t> s </a:t>
            </a:r>
            <a:r>
              <a:rPr lang="en-US" err="1"/>
              <a:t>preventivní</a:t>
            </a:r>
            <a:r>
              <a:rPr lang="en-US"/>
              <a:t> </a:t>
            </a:r>
            <a:r>
              <a:rPr lang="en-US" err="1"/>
              <a:t>prohlídkou</a:t>
            </a:r>
            <a:r>
              <a:rPr lang="en-US"/>
              <a:t> za 24 </a:t>
            </a:r>
            <a:r>
              <a:rPr lang="en-US" err="1"/>
              <a:t>měsíců</a:t>
            </a:r>
            <a:r>
              <a:rPr lang="en-US"/>
              <a:t>, bonus 4 </a:t>
            </a:r>
            <a:r>
              <a:rPr lang="en-US" err="1"/>
              <a:t>Kč</a:t>
            </a:r>
            <a:r>
              <a:rPr lang="en-US"/>
              <a:t> (VZP 5 </a:t>
            </a:r>
            <a:r>
              <a:rPr lang="en-US" err="1"/>
              <a:t>Kč</a:t>
            </a:r>
            <a:r>
              <a:rPr lang="en-US"/>
              <a:t>) </a:t>
            </a:r>
            <a:r>
              <a:rPr lang="en-US" err="1"/>
              <a:t>při</a:t>
            </a:r>
            <a:r>
              <a:rPr lang="en-US"/>
              <a:t> 45 % </a:t>
            </a:r>
            <a:r>
              <a:rPr lang="en-US" err="1"/>
              <a:t>prohlídek</a:t>
            </a:r>
            <a:r>
              <a:rPr lang="en-US"/>
              <a:t>; </a:t>
            </a:r>
            <a:r>
              <a:rPr lang="en-US" err="1"/>
              <a:t>mamografický</a:t>
            </a:r>
            <a:r>
              <a:rPr lang="en-US"/>
              <a:t> screening v </a:t>
            </a:r>
            <a:r>
              <a:rPr lang="en-US" err="1"/>
              <a:t>úhradě</a:t>
            </a:r>
            <a:r>
              <a:rPr lang="en-US"/>
              <a:t> </a:t>
            </a:r>
            <a:r>
              <a:rPr lang="en-US" err="1"/>
              <a:t>gynekologa</a:t>
            </a:r>
            <a:r>
              <a:rPr lang="en-US"/>
              <a:t> </a:t>
            </a:r>
            <a:r>
              <a:rPr lang="en-US" err="1"/>
              <a:t>samostatně</a:t>
            </a:r>
            <a:r>
              <a:rPr lang="en-US"/>
              <a:t> </a:t>
            </a:r>
            <a:r>
              <a:rPr lang="en-US" err="1"/>
              <a:t>není</a:t>
            </a:r>
            <a:r>
              <a:rPr lang="en-US"/>
              <a:t>, </a:t>
            </a:r>
            <a:r>
              <a:rPr lang="en-US" err="1"/>
              <a:t>kolorektální</a:t>
            </a:r>
            <a:r>
              <a:rPr lang="en-US"/>
              <a:t> </a:t>
            </a:r>
            <a:r>
              <a:rPr lang="en-US" err="1"/>
              <a:t>ano</a:t>
            </a:r>
            <a:r>
              <a:rPr lang="en-US"/>
              <a:t> (</a:t>
            </a:r>
            <a:r>
              <a:rPr lang="en-US" err="1"/>
              <a:t>Metodika</a:t>
            </a:r>
            <a:r>
              <a:rPr lang="en-US"/>
              <a:t> pro PZS – </a:t>
            </a:r>
            <a:r>
              <a:rPr lang="en-US" err="1"/>
              <a:t>úhrady</a:t>
            </a:r>
            <a:r>
              <a:rPr lang="en-US"/>
              <a:t> </a:t>
            </a:r>
            <a:r>
              <a:rPr lang="en-US" err="1"/>
              <a:t>gynekologie</a:t>
            </a:r>
            <a:r>
              <a:rPr lang="en-US"/>
              <a:t> 2026, s. 3, 8, 11 a 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s. </a:t>
            </a:r>
            <a:r>
              <a:rPr lang="en-US" err="1"/>
              <a:t>Účast</a:t>
            </a:r>
            <a:r>
              <a:rPr lang="en-US"/>
              <a:t> </a:t>
            </a:r>
            <a:r>
              <a:rPr lang="en-US" err="1"/>
              <a:t>podle</a:t>
            </a:r>
            <a:r>
              <a:rPr lang="en-US"/>
              <a:t> </a:t>
            </a:r>
            <a:r>
              <a:rPr lang="en-US" err="1"/>
              <a:t>pořadí</a:t>
            </a:r>
            <a:r>
              <a:rPr lang="en-US"/>
              <a:t> </a:t>
            </a:r>
            <a:r>
              <a:rPr lang="en-US" err="1"/>
              <a:t>pozvánky</a:t>
            </a:r>
            <a:r>
              <a:rPr lang="en-US"/>
              <a:t> je </a:t>
            </a:r>
            <a:r>
              <a:rPr lang="en-US" err="1"/>
              <a:t>popis</a:t>
            </a:r>
            <a:r>
              <a:rPr lang="en-US"/>
              <a:t>, ne </a:t>
            </a:r>
            <a:r>
              <a:rPr lang="en-US" err="1"/>
              <a:t>příčina</a:t>
            </a:r>
            <a:r>
              <a:rPr lang="en-US"/>
              <a:t>: </a:t>
            </a:r>
            <a:r>
              <a:rPr lang="en-US" err="1"/>
              <a:t>opakovaně</a:t>
            </a:r>
            <a:r>
              <a:rPr lang="en-US"/>
              <a:t> </a:t>
            </a:r>
            <a:r>
              <a:rPr lang="en-US" err="1"/>
              <a:t>zvané</a:t>
            </a:r>
            <a:r>
              <a:rPr lang="en-US"/>
              <a:t> </a:t>
            </a:r>
            <a:r>
              <a:rPr lang="en-US" err="1"/>
              <a:t>ženy</a:t>
            </a:r>
            <a:r>
              <a:rPr lang="en-US"/>
              <a:t> </a:t>
            </a:r>
            <a:r>
              <a:rPr lang="en-US" err="1"/>
              <a:t>jsou</a:t>
            </a:r>
            <a:r>
              <a:rPr lang="en-US"/>
              <a:t> ty, </a:t>
            </a:r>
            <a:r>
              <a:rPr lang="en-US" err="1"/>
              <a:t>které</a:t>
            </a:r>
            <a:r>
              <a:rPr lang="en-US"/>
              <a:t> </a:t>
            </a:r>
            <a:r>
              <a:rPr lang="en-US" err="1"/>
              <a:t>nechodí</a:t>
            </a:r>
            <a:r>
              <a:rPr lang="en-US"/>
              <a:t>. Pro VZP z toho </a:t>
            </a:r>
            <a:r>
              <a:rPr lang="en-US" err="1"/>
              <a:t>plyne</a:t>
            </a:r>
            <a:r>
              <a:rPr lang="en-US"/>
              <a:t>, </a:t>
            </a:r>
            <a:r>
              <a:rPr lang="en-US" err="1"/>
              <a:t>že</a:t>
            </a:r>
            <a:r>
              <a:rPr lang="en-US"/>
              <a:t> </a:t>
            </a:r>
            <a:r>
              <a:rPr lang="en-US" err="1"/>
              <a:t>další</a:t>
            </a:r>
            <a:r>
              <a:rPr lang="en-US"/>
              <a:t> </a:t>
            </a:r>
            <a:r>
              <a:rPr lang="en-US" err="1"/>
              <a:t>stejný</a:t>
            </a:r>
            <a:r>
              <a:rPr lang="en-US"/>
              <a:t> </a:t>
            </a:r>
            <a:r>
              <a:rPr lang="en-US" err="1"/>
              <a:t>dopis</a:t>
            </a:r>
            <a:r>
              <a:rPr lang="en-US"/>
              <a:t> </a:t>
            </a:r>
            <a:r>
              <a:rPr lang="en-US" err="1"/>
              <a:t>přináší</a:t>
            </a:r>
            <a:r>
              <a:rPr lang="en-US"/>
              <a:t> </a:t>
            </a:r>
            <a:r>
              <a:rPr lang="en-US" err="1"/>
              <a:t>málo</a:t>
            </a:r>
            <a:r>
              <a:rPr lang="en-US"/>
              <a:t>. </a:t>
            </a:r>
            <a:r>
              <a:rPr lang="en-US" err="1"/>
              <a:t>Návrat</a:t>
            </a:r>
            <a:r>
              <a:rPr lang="en-US"/>
              <a:t> </a:t>
            </a:r>
            <a:r>
              <a:rPr lang="en-US" err="1"/>
              <a:t>vypadlých</a:t>
            </a:r>
            <a:r>
              <a:rPr lang="en-US"/>
              <a:t> je </a:t>
            </a:r>
            <a:r>
              <a:rPr lang="en-US" err="1"/>
              <a:t>pozorovací</a:t>
            </a:r>
            <a:r>
              <a:rPr lang="en-US"/>
              <a:t> </a:t>
            </a:r>
            <a:r>
              <a:rPr lang="en-US" err="1"/>
              <a:t>srovnání</a:t>
            </a:r>
            <a:r>
              <a:rPr lang="en-US"/>
              <a:t>, </a:t>
            </a:r>
            <a:r>
              <a:rPr lang="en-US" err="1"/>
              <a:t>ověří</a:t>
            </a:r>
            <a:r>
              <a:rPr lang="en-US"/>
              <a:t> ho experiment s </a:t>
            </a:r>
            <a:r>
              <a:rPr lang="en-US" err="1"/>
              <a:t>dřívější</a:t>
            </a:r>
            <a:r>
              <a:rPr lang="en-US"/>
              <a:t> </a:t>
            </a:r>
            <a:r>
              <a:rPr lang="en-US" err="1"/>
              <a:t>pozvánkou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AD9E-09A0-E735-29CA-086582AC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7A4E2-58BD-BCD2-9A3B-741DFEBC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B2CC7-1596-15B9-CE41-57A88AEE9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Segmenty jsou stabilní pět let a shlukování je potvrzuje. Jemnější verze s 11 segmenty dělí D a E podle počtu pozvánek (config/segments_vzp_v2.yaml). Překryv: ženy 65+ v okrese bez mamocentra mají nižší šanci přijít (OR ≈ 0,83).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19B09-F4D5-2041-CD29-2FB4F50BE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448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86D4-2DA1-7821-93BA-1135CCA3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6EC7C-A337-B0E5-6BF4-ECABFD017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209BB-80F6-5C1C-5F4D-BE5176B80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s. Poloha je kvalitativní. Dopad = mamografie navíc mezi zvanými ženami (rozpětí z literatury × velikost segmentů 2024): snadné objednání ≈ 6,5–12,5 tis. ročně, lékař jako kanál ≈ 3–8 tis., chytřejší zvaní jednotky tisíc, dostupnost stovky, plošné nástroje 0–2,5 tis. Úpravy aplikace: odhad zatím nemáme, umístění v matici je rozhodnutí týmu. Odhady se nesčítají.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66F5-67F6-24E5-990B-D3006E895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657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2012-77B2-6B74-8F03-5122F020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A4413-5220-FFDC-0883-6EBCF3A45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969A8-2ACE-7E0A-E68D-FB803104D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Rozpětí: docs/interventions.md (pevný termín #1, telefon #7, seznamy a zpětná vazba lékařům #6, strukturální bariéry #4). U C stojí návrh i na naší analýze: návrat 41 % po 25–36 měsících vs. 25 % po 49–60 měsících.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2741-F9BB-F7CA-BDB1-6B6D445A3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36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6036-333C-0B9D-F083-867A86F8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217AD-46EE-D15F-476D-DB5FB3A93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B01FE-B19F-6706-769A-AE6D673D2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s. Před finální verzí: krok 1 „zajděte za gynekologem“ nahradit „žádanku vystaví praktik, gynekolog, nebo přímo centrum“; přidat variantu s pevným termínem; sjednotit „jen pár minut“ a „asi čtvrt hodiny“; doplnit zdroje k „1 z 10 žen“ a „99 % přežití“; podpis ředitele bez jména, pokud nemáme souhlas.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656A3-847B-69E7-734D-5199CBB8E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956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186F-EF2C-34F4-A625-3CA83365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B6D51-A2CD-5427-FAAD-84ABCFDDC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ABEB0-9974-53D0-5407-198D297C4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Podskupiny dané předem: věk × vzdálenost k centru. Pravidlo zastavení: objednací lhůta v partnerských centrech nad dohodnutou mez. Doplňkově přirozené experimenty: varianty dopisů 3/4/7/8, klíč rozesílky, reforma 7/2026.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354FF-2EF8-0DAB-39BD-1EC335D6E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116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E523E-E38A-52DC-4097-CEC3D8D52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A9539-9867-5C50-70A0-10C110B70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D68EE-292E-30C1-B9E9-24955E99D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s. Čísla 4–6 jsou ze základního scénáře finančního modelu (docs/Financial_model, 16. 10. 2026): kaskáda bez PPC 291 346 vyšetření za 2027–2031, 1 605 dříve zachycených nádorů, ≈ 190 odvrácených úmrtí do 5 let, čistý přínos 156 mil. Kč včetně 34 mil. Kč úspory za dopisy (bez ní ≈ 122 mil. Kč). Rozpětí konzervativní–optimistický: 154–462 tis. vyšetření včetně PPC, 86–237 mil. Kč. Model nestojí na kohortě zvaných žen 2024 a nepoužívá účinky z dolní meze literatury; most mezi oběma populacemi chybí (AUDIT_CISEL.md, kap. 4). Předpoklady 1,5 mil. klientek a 614 tis. žen bez prevence jsou odhady.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7E341-6FCD-88AF-0938-03DF1D2E2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01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FEA1-3318-24EB-B241-45D72D65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71763-DEA6-8C15-82DF-DFE37FD71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89663-D615-B1E9-185B-90A298303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s. Poděkování mentorům jen se souhlasem; jména doplnit sem, pokud ho dostaneme.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50D7-0F4E-5BDF-4E53-180993804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61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2569-9C5E-4242-F84B-1A4D95DC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B7FB8-CEA5-9617-8D36-15C6C6C65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67EB7-4767-1E14-DC2C-66772B61F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05472-1DB4-5E74-9D91-535360123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869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A54C-39A9-7756-7604-6169EFFEC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B22A1-5D95-81D4-8404-994E5BB2B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AB99E-0D6F-951D-420D-B4BBD16AB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AFA28-A5EC-7465-C1C7-C67EA16DE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79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8FBFB-75D5-4F09-3970-82D5E7D8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B32ED-EA0C-2792-40E9-8136B776A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997B0-733E-BFEA-8E0C-0A3ED606B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E4D91-4111-F67A-7DEE-CBCAEF47A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233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</a:t>
            </a:r>
            <a:r>
              <a:rPr lang="en-US" err="1"/>
              <a:t>Segmenty</a:t>
            </a:r>
            <a:r>
              <a:rPr lang="en-US"/>
              <a:t> </a:t>
            </a:r>
            <a:r>
              <a:rPr lang="en-US" err="1"/>
              <a:t>jsou</a:t>
            </a:r>
            <a:r>
              <a:rPr lang="en-US"/>
              <a:t> </a:t>
            </a:r>
            <a:r>
              <a:rPr lang="en-US" err="1"/>
              <a:t>stabilní</a:t>
            </a:r>
            <a:r>
              <a:rPr lang="en-US"/>
              <a:t> </a:t>
            </a:r>
            <a:r>
              <a:rPr lang="en-US" err="1"/>
              <a:t>pět</a:t>
            </a:r>
            <a:r>
              <a:rPr lang="en-US"/>
              <a:t> let a </a:t>
            </a:r>
            <a:r>
              <a:rPr lang="en-US" err="1"/>
              <a:t>shlukování</a:t>
            </a:r>
            <a:r>
              <a:rPr lang="en-US"/>
              <a:t> je </a:t>
            </a:r>
            <a:r>
              <a:rPr lang="en-US" err="1"/>
              <a:t>potvrzuje</a:t>
            </a:r>
            <a:r>
              <a:rPr lang="en-US"/>
              <a:t>. </a:t>
            </a:r>
            <a:r>
              <a:rPr lang="en-US" err="1"/>
              <a:t>Jemnější</a:t>
            </a:r>
            <a:r>
              <a:rPr lang="en-US"/>
              <a:t> </a:t>
            </a:r>
            <a:r>
              <a:rPr lang="en-US" err="1"/>
              <a:t>verze</a:t>
            </a:r>
            <a:r>
              <a:rPr lang="en-US"/>
              <a:t> s 11 </a:t>
            </a:r>
            <a:r>
              <a:rPr lang="en-US" err="1"/>
              <a:t>segmenty</a:t>
            </a:r>
            <a:r>
              <a:rPr lang="en-US"/>
              <a:t> </a:t>
            </a:r>
            <a:r>
              <a:rPr lang="en-US" err="1"/>
              <a:t>dělí</a:t>
            </a:r>
            <a:r>
              <a:rPr lang="en-US"/>
              <a:t> D a E </a:t>
            </a:r>
            <a:r>
              <a:rPr lang="en-US" err="1"/>
              <a:t>podle</a:t>
            </a:r>
            <a:r>
              <a:rPr lang="en-US"/>
              <a:t> </a:t>
            </a:r>
            <a:r>
              <a:rPr lang="en-US" err="1"/>
              <a:t>počtu</a:t>
            </a:r>
            <a:r>
              <a:rPr lang="en-US"/>
              <a:t> </a:t>
            </a:r>
            <a:r>
              <a:rPr lang="en-US" err="1"/>
              <a:t>pozvánek</a:t>
            </a:r>
            <a:r>
              <a:rPr lang="en-US"/>
              <a:t> (config/segments_vzp_v2.yaml). </a:t>
            </a:r>
            <a:r>
              <a:rPr lang="en-US" err="1"/>
              <a:t>Překryv</a:t>
            </a:r>
            <a:r>
              <a:rPr lang="en-US"/>
              <a:t>: </a:t>
            </a:r>
            <a:r>
              <a:rPr lang="en-US" err="1"/>
              <a:t>ženy</a:t>
            </a:r>
            <a:r>
              <a:rPr lang="en-US"/>
              <a:t> 65+ v </a:t>
            </a:r>
            <a:r>
              <a:rPr lang="en-US" err="1"/>
              <a:t>okrese</a:t>
            </a:r>
            <a:r>
              <a:rPr lang="en-US"/>
              <a:t> bez </a:t>
            </a:r>
            <a:r>
              <a:rPr lang="en-US" err="1"/>
              <a:t>mamocentra</a:t>
            </a:r>
            <a:r>
              <a:rPr lang="en-US"/>
              <a:t> </a:t>
            </a:r>
            <a:r>
              <a:rPr lang="en-US" err="1"/>
              <a:t>mají</a:t>
            </a:r>
            <a:r>
              <a:rPr lang="en-US"/>
              <a:t> </a:t>
            </a:r>
            <a:r>
              <a:rPr lang="en-US" err="1"/>
              <a:t>nižší</a:t>
            </a:r>
            <a:r>
              <a:rPr lang="en-US"/>
              <a:t> </a:t>
            </a:r>
            <a:r>
              <a:rPr lang="en-US" err="1"/>
              <a:t>šanci</a:t>
            </a:r>
            <a:r>
              <a:rPr lang="en-US"/>
              <a:t> </a:t>
            </a:r>
            <a:r>
              <a:rPr lang="en-US" err="1"/>
              <a:t>přijít</a:t>
            </a:r>
            <a:r>
              <a:rPr lang="en-US"/>
              <a:t> (OR ≈ 0,83).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s. </a:t>
            </a:r>
            <a:r>
              <a:rPr lang="en-US" err="1"/>
              <a:t>Poloha</a:t>
            </a:r>
            <a:r>
              <a:rPr lang="en-US"/>
              <a:t> je </a:t>
            </a:r>
            <a:r>
              <a:rPr lang="en-US" err="1"/>
              <a:t>kvalitativní</a:t>
            </a:r>
            <a:r>
              <a:rPr lang="en-US"/>
              <a:t>. Dopad = </a:t>
            </a:r>
            <a:r>
              <a:rPr lang="en-US" err="1"/>
              <a:t>mamografie</a:t>
            </a:r>
            <a:r>
              <a:rPr lang="en-US"/>
              <a:t> </a:t>
            </a:r>
            <a:r>
              <a:rPr lang="en-US" err="1"/>
              <a:t>navíc</a:t>
            </a:r>
            <a:r>
              <a:rPr lang="en-US"/>
              <a:t> </a:t>
            </a:r>
            <a:r>
              <a:rPr lang="en-US" err="1"/>
              <a:t>mezi</a:t>
            </a:r>
            <a:r>
              <a:rPr lang="en-US"/>
              <a:t> </a:t>
            </a:r>
            <a:r>
              <a:rPr lang="en-US" err="1"/>
              <a:t>zvanými</a:t>
            </a:r>
            <a:r>
              <a:rPr lang="en-US"/>
              <a:t> </a:t>
            </a:r>
            <a:r>
              <a:rPr lang="en-US" err="1"/>
              <a:t>ženami</a:t>
            </a:r>
            <a:r>
              <a:rPr lang="en-US"/>
              <a:t> (</a:t>
            </a:r>
            <a:r>
              <a:rPr lang="en-US" err="1"/>
              <a:t>rozpětí</a:t>
            </a:r>
            <a:r>
              <a:rPr lang="en-US"/>
              <a:t> z </a:t>
            </a:r>
            <a:r>
              <a:rPr lang="en-US" err="1"/>
              <a:t>literatury</a:t>
            </a:r>
            <a:r>
              <a:rPr lang="en-US"/>
              <a:t> × </a:t>
            </a:r>
            <a:r>
              <a:rPr lang="en-US" err="1"/>
              <a:t>velikost</a:t>
            </a:r>
            <a:r>
              <a:rPr lang="en-US"/>
              <a:t> </a:t>
            </a:r>
            <a:r>
              <a:rPr lang="en-US" err="1"/>
              <a:t>segmentů</a:t>
            </a:r>
            <a:r>
              <a:rPr lang="en-US"/>
              <a:t> 2024): </a:t>
            </a:r>
            <a:r>
              <a:rPr lang="en-US" err="1"/>
              <a:t>snadné</a:t>
            </a:r>
            <a:r>
              <a:rPr lang="en-US"/>
              <a:t> </a:t>
            </a:r>
            <a:r>
              <a:rPr lang="en-US" err="1"/>
              <a:t>objednání</a:t>
            </a:r>
            <a:r>
              <a:rPr lang="en-US"/>
              <a:t> ≈ 6,5–12,5 tis. </a:t>
            </a:r>
            <a:r>
              <a:rPr lang="en-US" err="1"/>
              <a:t>ročně</a:t>
            </a:r>
            <a:r>
              <a:rPr lang="en-US"/>
              <a:t>, </a:t>
            </a:r>
            <a:r>
              <a:rPr lang="en-US" err="1"/>
              <a:t>lékař</a:t>
            </a:r>
            <a:r>
              <a:rPr lang="en-US"/>
              <a:t> </a:t>
            </a:r>
            <a:r>
              <a:rPr lang="en-US" err="1"/>
              <a:t>jako</a:t>
            </a:r>
            <a:r>
              <a:rPr lang="en-US"/>
              <a:t> </a:t>
            </a:r>
            <a:r>
              <a:rPr lang="en-US" err="1"/>
              <a:t>kanál</a:t>
            </a:r>
            <a:r>
              <a:rPr lang="en-US"/>
              <a:t> ≈ 3–8 tis., </a:t>
            </a:r>
            <a:r>
              <a:rPr lang="en-US" err="1"/>
              <a:t>chytřejší</a:t>
            </a:r>
            <a:r>
              <a:rPr lang="en-US"/>
              <a:t> </a:t>
            </a:r>
            <a:r>
              <a:rPr lang="en-US" err="1"/>
              <a:t>zvaní</a:t>
            </a:r>
            <a:r>
              <a:rPr lang="en-US"/>
              <a:t> </a:t>
            </a:r>
            <a:r>
              <a:rPr lang="en-US" err="1"/>
              <a:t>jednotky</a:t>
            </a:r>
            <a:r>
              <a:rPr lang="en-US"/>
              <a:t> </a:t>
            </a:r>
            <a:r>
              <a:rPr lang="en-US" err="1"/>
              <a:t>tisíc</a:t>
            </a:r>
            <a:r>
              <a:rPr lang="en-US"/>
              <a:t>, </a:t>
            </a:r>
            <a:r>
              <a:rPr lang="en-US" err="1"/>
              <a:t>dostupnost</a:t>
            </a:r>
            <a:r>
              <a:rPr lang="en-US"/>
              <a:t> </a:t>
            </a:r>
            <a:r>
              <a:rPr lang="en-US" err="1"/>
              <a:t>stovky</a:t>
            </a:r>
            <a:r>
              <a:rPr lang="en-US"/>
              <a:t>, </a:t>
            </a:r>
            <a:r>
              <a:rPr lang="en-US" err="1"/>
              <a:t>plošné</a:t>
            </a:r>
            <a:r>
              <a:rPr lang="en-US"/>
              <a:t> </a:t>
            </a:r>
            <a:r>
              <a:rPr lang="en-US" err="1"/>
              <a:t>nástroje</a:t>
            </a:r>
            <a:r>
              <a:rPr lang="en-US"/>
              <a:t> 0–2,5 tis. </a:t>
            </a:r>
            <a:r>
              <a:rPr lang="en-US" err="1"/>
              <a:t>Úpravy</a:t>
            </a:r>
            <a:r>
              <a:rPr lang="en-US"/>
              <a:t> </a:t>
            </a:r>
            <a:r>
              <a:rPr lang="en-US" err="1"/>
              <a:t>aplikace</a:t>
            </a:r>
            <a:r>
              <a:rPr lang="en-US"/>
              <a:t>: </a:t>
            </a:r>
            <a:r>
              <a:rPr lang="en-US" err="1"/>
              <a:t>odhad</a:t>
            </a:r>
            <a:r>
              <a:rPr lang="en-US"/>
              <a:t> </a:t>
            </a:r>
            <a:r>
              <a:rPr lang="en-US" err="1"/>
              <a:t>zatím</a:t>
            </a:r>
            <a:r>
              <a:rPr lang="en-US"/>
              <a:t> </a:t>
            </a:r>
            <a:r>
              <a:rPr lang="en-US" err="1"/>
              <a:t>nemáme</a:t>
            </a:r>
            <a:r>
              <a:rPr lang="en-US"/>
              <a:t>, </a:t>
            </a:r>
            <a:r>
              <a:rPr lang="en-US" err="1"/>
              <a:t>umístění</a:t>
            </a:r>
            <a:r>
              <a:rPr lang="en-US"/>
              <a:t> v </a:t>
            </a:r>
            <a:r>
              <a:rPr lang="en-US" err="1"/>
              <a:t>matici</a:t>
            </a:r>
            <a:r>
              <a:rPr lang="en-US"/>
              <a:t> je </a:t>
            </a:r>
            <a:r>
              <a:rPr lang="en-US" err="1"/>
              <a:t>rozhodnutí</a:t>
            </a:r>
            <a:r>
              <a:rPr lang="en-US"/>
              <a:t> </a:t>
            </a:r>
            <a:r>
              <a:rPr lang="en-US" err="1"/>
              <a:t>týmu</a:t>
            </a:r>
            <a:r>
              <a:rPr lang="en-US"/>
              <a:t>. </a:t>
            </a:r>
            <a:r>
              <a:rPr lang="en-US" err="1"/>
              <a:t>Odhady</a:t>
            </a:r>
            <a:r>
              <a:rPr lang="en-US"/>
              <a:t> se </a:t>
            </a:r>
            <a:r>
              <a:rPr lang="en-US" err="1"/>
              <a:t>nesčítají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Rozpětí: docs/interventions.md (pevný termín #1, telefon #7, seznamy a zpětná vazba lékařům #6, strukturální bariéry #4). U C stojí návrh i na naší analýze: návrat 41 % po 25–36 měsících vs. 25 % po 49–60 měsících.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s. Před finální verzí: krok 1 „zajděte za gynekologem“ nahradit „žádanku vystaví praktik, gynekolog, nebo přímo centrum“; přidat variantu s pevným termínem; sjednotit „jen pár minut“ a „asi čtvrt hodiny“; doplnit zdroje k „1 z 10 žen“ a „99 % přežití“; podpis ředitele bez jména, pokud nemáme souhlas.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s. Podskupiny dané předem: věk × vzdálenost k centru. Pravidlo zastavení: objednací lhůta v partnerských centrech nad dohodnutou mez. Doplňkově přirozené experimenty: varianty dopisů 3/4/7/8, klíč rozesílky, reforma 7/2026.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s. Čísla 4–6 jsou ze základního scénáře finančního modelu (docs/Financial_model, 16. 10. 2026): kaskáda bez PPC 291 346 vyšetření za 2027–2031, 1 605 dříve zachycených nádorů, ≈ 190 odvrácených úmrtí do 5 let, čistý přínos 156 mil. Kč včetně 34 mil. Kč úspory za dopisy (bez ní ≈ 122 mil. Kč). Rozpětí konzervativní–optimistický: 154–462 tis. vyšetření včetně PPC, 86–237 mil. Kč. Model nestojí na kohortě zvaných žen 2024 a nepoužívá účinky z dolní meze literatury; most mezi oběma populacemi chybí (AUDIT_CISEL.md, kap. 4). Předpoklady 1,5 mil. klientek a 614 tis. žen bez prevence jsou odhady.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s. Poděkování mentorům jen se souhlasem; jména doplnit sem, pokud ho dostaneme.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Ženy, které chodí na prevenci jen k praktikovi, přicházejí na mamograf po pozvánce v 9,2–15,1 % případů, ženy po gynekologické prevenci v 22,6–42,7 %. Kdyby praktici doporučovali mamograf stejně aktivně, účast žen jen u praktika by vzrostla z 10,6 % na 25,7 % a celková dvouletá docházka žen 45–74 let z 61,2 % na 64,3 %, tedy asi 33 776 žen navíc ročně v celé ČR. Všechny věkové skupiny vycházejí ze stejných let (pozvánky 2020–2024), počty žen a pokrytí z ČSÚ a ÚZIS 2024. Jde o horní mez: předpokládá, že praktik plně nahradí gynekologa, a část rozdílu tvoří to, že ke gynekologovi chodí ženy, které o zdraví víc dbají. Konzervativní odhad (upravené poměry šancí z logistické regrese na pozvánkách 2020–2022) dává asi 10 660 žen navíc ročně a docházku 62,2 %.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72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Dvě třetiny všech nových karcinomů prsu (66,8 %) vznikají ve věku 45–74 let. Aktivní doporučení praktika by přivedlo zhruba 33 776 vyšetření navíc ročně. Každé násobíme mírou záchytu ze všech screeningových vyšetření v daném věku (ÚZIS, Evaluační zpráva 2022, rok 2021: 3,3–9,2 na 1 000). Vychází asi 192 karcinomů odhalených navíc ročně, nejvíc ve věku 70–74 (60) a 65–69 (45). Konzervativní scénář, tedy jen efekt doporučení po odečtení toho, že ke gynekologovi chodí ženy dbalejší o zdraví, dává 10 660 vyšetření a 60 karcinomů ročně. Citlivost: s mírou záchytu prvního vyšetření ženy by to bylo 387 karcinomů. Jde o horní mez z pozorovacích dat, ne výsledek pilotu.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271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Akreditované mamografické pracoviště nemá 24 ze 77 okresů. Ženy v těchto okresech mají nižší dvouleté pokrytí než ženy v okresech téhož kraje s pracovištěm (srovnání uvnitř kraje, vážené počtem žen). Rozdíl roste s věkem: ve věku 45–64 je malý (0,3–1,3 p. b.) a statisticky neprůkazný, od 65 let průkazný (65–69 o 2,4 p. b., 70–74 o 3,2 p. b.) a po 75 letech největší (4–7 p. b.). Kdyby doprava nebyla překážkou, přibylo by ročně 3 212 mamografií u žen 45–74 a 3 498 u žen 75+, celkem 6 710. Na úrovni celé ČR (stejný základ jako u praktika) by se pokrytí žen 45–74 zvýšilo z 61,2 % na 61,5 %, žen 75+ z 34,8 % na 35,9 % a všech žen 45+ z 55,4 % na 55,8 %. Ženám 75+ doprava pomůže nejvíc, jejich výchozí pokrytí je nízké. V samotných okresech bez pracoviště by pokrytí žen 45–74 vzrostlo z 60,9 % na 62,2 %. Jde o horní mez: předpokládá, že doprava odstraní celý rozdíl mezi okresy.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492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Mamografie navíc z vyřešené dopravy násobíme stejnou mírou záchytu jako u praktiků (všechna screeningová vyšetření, 3,3–9,2 na 1 000, u 75+ 12,2). U žen 45–74 vychází 3 212 mamografií a asi 22 karcinomů ročně, z toho 17 ve věku 65–74. Ženy 75+ přidají 3 498 mamografií a 43 karcinomů, celkem tedy 6 710 mamografií a 65 karcinomů ročně. Ženy 75+ jsou mimo cílovou skupinu screeningu, ale doprava jim pomůže nejvíc. I včetně nich je doprava zhruba třikrát menší páka než doporučení praktikem (192 karcinomů u žen 45–74). Obě opatření se mohou doplňovat: praktik doporučí, doprava umožní dojet.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752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Prototyp: Next.js, design tokeny převzaté z veřejné aplikace a webu VZP (font Source Sans, šedé pozadí, bílé karty s barevným pruhem), bez loga. Stavy pacientky: Pozvána, Žádanka vystavena, Využijte žádanku, Vyšetřena, Po termínu, Odhlášena. Příjem lékaře se počítá z vykázaných výkonů VZP; sazbu bonusu za zapojení musí stanovit VZP.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Scénáře: ženy bez prevence přivedeme o 3 / 6 / 10 p. b. ročně, návratnost pravidelných zvýšíme o 1 / 2 / 3 p. b. Základní scénář odpovídá odhadu komise MZ (+5 až 8 p. b.); SMS připomínka v britském screeningu zvýšila účast z 60 na 72 %. Model počítá s návratem 80 % aktivovaných žen; data VZP ze slajdu 34 dávají u žen dříve bez screeningu 60–70 %, takže od roku 2029 je odhad spíše horní.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Náklady léčby: stadium 0–I 5 tis. Kč, II–III 300 tis. Kč, IV 3 mil. Kč (odhad, nahradit daty VZP). Podíl I. stadia 75 % ve screeningu vs. 28,5 % mimo něj (NOR, audit 2023). Záchyt 7/1 000 v prvním kole, 5/1 000 v dalších; recall 15,6 % a 4,9 %; 10 % overdiagnóza. Úspora se počítá v roce záchytu, skutečně nastane o 1–3 roky později. Hranice vyrovnanosti: léčba IV. stadia ≈ 1,9 mil. Kč.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Čistý přínos programu = ušetřená léčba − náklady screeningu − komunikace + úspora za dopisy. Úspora za dopisy: dnes ≈ 300 800 dopisů ročně × 40 Kč = 12 mil. Kč; při náhradě kaskádou zůstává 10 % dopisů pro ženy bez digitálního kontaktu. Komunikace je spočítaná pro kaskádu se SMS (3 segmenty × 0,70 Kč), po úpravě rozestupů se změní v řádu jednotek mil. Kč. Platby lékařům doplníme po dodání sazby VZP.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Rozestupy kroků: push den 0, e-mail den 14, e-mail den 30, RCS den 60 (úprava týmu 16. 10.). Zda kaskádu doplnit SMS, je otevřené; finanční model zatím počítá s SMS. Spouštěč 700 dní: VZP hradí screening až 730 dní od posledního vyšetření, pozvánka měsíc předem nechá ženu objednat se na termín po vzniku nároku. Odesílání jen Po–Pá 9–18 h, mimo státní svátky. 5 % žen tvoří náhodnou kontrolní skupinu bez kaskády.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Jednotka testu jsou okresy (77), ne kraje: 14 krajů nedává dost síly. Skupiny: kontrola, nízká intenzita (≈ 1 Kč na ženu 45+ měsíčně), vysoká (≈ 3 Kč). Obsah tvůrců jako partnerské reklamy cílené do testovacích okresů; organické příspěvky hodnotíme časovou řadou. Persony: známé ženy 45+, lékařky a lékaři, ženy po léčbě, tvůrci s mladším publikem s výzvou „pošli to mámě“ (např. profily typu tady_je_stepancio, po ověření statistik publika). Cílení jen věk, pohlaví, lokalita; seznamy klientek VZP do Mety nenahráváme. Hlavní metrika: objednávky přes Moje VZP na 100 tis. žen 45+, potvrzení vykázanými mamografy.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2350008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světl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1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šed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7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4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av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3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1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355080"/>
            <a:ext cx="1051560" cy="1188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300" dirty="0">
                <a:solidFill>
                  <a:srgbClr val="7A78C3"/>
                </a:solidFill>
              </a:defRPr>
            </a:lvl1pPr>
          </a:lstStyle>
          <a:p>
            <a:pPr marL="0" indent="0">
              <a:buNone/>
            </a:pPr>
            <a:endParaRPr lang="en-US" sz="90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buNone/>
            </a:pP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1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ázev"/>
          <p:cNvSpPr txBox="1"/>
          <p:nvPr/>
        </p:nvSpPr>
        <p:spPr>
          <a:xfrm>
            <a:off x="777240" y="23317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>
                <a:solidFill>
                  <a:srgbClr val="FFFFFF"/>
                </a:solidFill>
              </a:rPr>
              <a:t>Mámo, graf!</a:t>
            </a:r>
            <a:endParaRPr lang="en-US" sz="4000"/>
          </a:p>
          <a:p>
            <a:pPr marL="0" indent="0">
              <a:buNone/>
            </a:pPr>
            <a:r>
              <a:rPr lang="en-US" sz="4000">
                <a:solidFill>
                  <a:srgbClr val="B9B6F0"/>
                </a:solidFill>
              </a:rPr>
              <a:t>Od pozvánky k mamografu</a:t>
            </a:r>
            <a:endParaRPr lang="en-US" sz="4000"/>
          </a:p>
        </p:txBody>
      </p:sp>
      <p:sp>
        <p:nvSpPr>
          <p:cNvPr id="3" name="Podtitul"/>
          <p:cNvSpPr txBox="1"/>
          <p:nvPr/>
        </p:nvSpPr>
        <p:spPr>
          <a:xfrm>
            <a:off x="777240" y="4206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AD8F2"/>
                </a:solidFill>
              </a:rPr>
              <a:t>Rakathon 2026 · výzva Všeobecné zdravotní pojišťovny ČR · návrh řešení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TÝM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Kdo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za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návrhem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stojí</a:t>
            </a:r>
            <a:endParaRPr lang="en-US" sz="2400" err="1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Spojujeme data science, analýzu dat z veřejného zdravotnictví a byznysovou praxi. Segmentaci a datově řízenou komunikaci jsme už nasazovali u klientů.</a:t>
            </a:r>
            <a:endParaRPr lang="en-US" sz="1300"/>
          </a:p>
        </p:txBody>
      </p:sp>
      <p:sp>
        <p:nvSpPr>
          <p:cNvPr id="5" name="Karta – Jakub Weiner"/>
          <p:cNvSpPr/>
          <p:nvPr/>
        </p:nvSpPr>
        <p:spPr>
          <a:xfrm>
            <a:off x="886968" y="2194560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 txBox="1"/>
          <p:nvPr/>
        </p:nvSpPr>
        <p:spPr>
          <a:xfrm>
            <a:off x="996696" y="3474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30F3C"/>
                </a:solidFill>
              </a:rPr>
              <a:t>Jakub Weiner</a:t>
            </a:r>
            <a:endParaRPr lang="en-US" sz="1300"/>
          </a:p>
        </p:txBody>
      </p:sp>
      <p:sp>
        <p:nvSpPr>
          <p:cNvPr id="8" name="Text 5"/>
          <p:cNvSpPr txBox="1"/>
          <p:nvPr/>
        </p:nvSpPr>
        <p:spPr>
          <a:xfrm>
            <a:off x="996696" y="378561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7A78C3"/>
                </a:solidFill>
              </a:rPr>
              <a:t>BI stratég a hlavní analytik</a:t>
            </a:r>
            <a:endParaRPr lang="en-US" sz="950"/>
          </a:p>
        </p:txBody>
      </p:sp>
      <p:sp>
        <p:nvSpPr>
          <p:cNvPr id="9" name="Text 6"/>
          <p:cNvSpPr txBox="1"/>
          <p:nvPr/>
        </p:nvSpPr>
        <p:spPr>
          <a:xfrm>
            <a:off x="1069848" y="425196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Přes 12 let datových projektů, dříve KPMG a Data Mind. Lektor Data Science na Masarykově univerzitě a Associate Fellow Centra pro studium demokracie.</a:t>
            </a:r>
            <a:endParaRPr lang="en-US" sz="1100"/>
          </a:p>
        </p:txBody>
      </p:sp>
      <p:sp>
        <p:nvSpPr>
          <p:cNvPr id="10" name="Karta – Michaela Pejšová"/>
          <p:cNvSpPr/>
          <p:nvPr/>
        </p:nvSpPr>
        <p:spPr>
          <a:xfrm>
            <a:off x="3602736" y="2194560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1" name="Image 1" descr="Fotografie: Michaela Pejšov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441448"/>
            <a:ext cx="914400" cy="914400"/>
          </a:xfrm>
          <a:prstGeom prst="ellipse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12464" y="3474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30F3C"/>
                </a:solidFill>
              </a:rPr>
              <a:t>Michaela Pejšová</a:t>
            </a:r>
            <a:endParaRPr lang="en-US" sz="1300"/>
          </a:p>
        </p:txBody>
      </p:sp>
      <p:sp>
        <p:nvSpPr>
          <p:cNvPr id="13" name="Text 9"/>
          <p:cNvSpPr txBox="1"/>
          <p:nvPr/>
        </p:nvSpPr>
        <p:spPr>
          <a:xfrm>
            <a:off x="3712464" y="378561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7A78C3"/>
                </a:solidFill>
              </a:rPr>
              <a:t>Data Scientist · ML+AI</a:t>
            </a:r>
            <a:endParaRPr lang="en-US" sz="950"/>
          </a:p>
        </p:txBody>
      </p:sp>
      <p:sp>
        <p:nvSpPr>
          <p:cNvPr id="14" name="Text 10"/>
          <p:cNvSpPr txBox="1"/>
          <p:nvPr/>
        </p:nvSpPr>
        <p:spPr>
          <a:xfrm>
            <a:off x="3785616" y="425196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Od datového inženýrství po strojové učení a optimalizace. Velkým jazykovým modelům se věnuje pátým rokem. Informatika (AI a Data Science) na FEL ČVUT.</a:t>
            </a:r>
            <a:endParaRPr lang="en-US" sz="1100"/>
          </a:p>
        </p:txBody>
      </p:sp>
      <p:sp>
        <p:nvSpPr>
          <p:cNvPr id="15" name="Karta – Vít Tuček"/>
          <p:cNvSpPr/>
          <p:nvPr/>
        </p:nvSpPr>
        <p:spPr>
          <a:xfrm>
            <a:off x="6318504" y="2194560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6" name="Image 2" descr="Fotografie: Vít Tuče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441448"/>
            <a:ext cx="914400" cy="914400"/>
          </a:xfrm>
          <a:prstGeom prst="ellipse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28232" y="3474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30F3C"/>
                </a:solidFill>
              </a:rPr>
              <a:t>Vít Tuček</a:t>
            </a:r>
            <a:endParaRPr lang="en-US" sz="1300"/>
          </a:p>
        </p:txBody>
      </p:sp>
      <p:sp>
        <p:nvSpPr>
          <p:cNvPr id="18" name="Text 13"/>
          <p:cNvSpPr txBox="1"/>
          <p:nvPr/>
        </p:nvSpPr>
        <p:spPr>
          <a:xfrm>
            <a:off x="6428232" y="378561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7A78C3"/>
                </a:solidFill>
              </a:rPr>
              <a:t>Data Scientist · ML+AI</a:t>
            </a:r>
            <a:endParaRPr lang="en-US" sz="950"/>
          </a:p>
        </p:txBody>
      </p:sp>
      <p:sp>
        <p:nvSpPr>
          <p:cNvPr id="19" name="Text 14"/>
          <p:cNvSpPr txBox="1"/>
          <p:nvPr/>
        </p:nvSpPr>
        <p:spPr>
          <a:xfrm>
            <a:off x="6501384" y="425196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Ph.D. z Matematického ústavu UK, po postdoktorském pobytu v Záhřebu. Ve W&amp;P strojové učení a implementace AI do automatizace.</a:t>
            </a:r>
            <a:endParaRPr lang="en-US" sz="1100"/>
          </a:p>
        </p:txBody>
      </p:sp>
      <p:sp>
        <p:nvSpPr>
          <p:cNvPr id="20" name="Karta – Jakub Rambousek"/>
          <p:cNvSpPr/>
          <p:nvPr/>
        </p:nvSpPr>
        <p:spPr>
          <a:xfrm>
            <a:off x="9034272" y="2194560"/>
            <a:ext cx="2487168" cy="36118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Fotografie – doplnit"/>
          <p:cNvSpPr/>
          <p:nvPr/>
        </p:nvSpPr>
        <p:spPr>
          <a:xfrm>
            <a:off x="9820656" y="2441448"/>
            <a:ext cx="914400" cy="914400"/>
          </a:xfrm>
          <a:prstGeom prst="ellipse">
            <a:avLst/>
          </a:prstGeom>
          <a:solidFill>
            <a:srgbClr val="EFEEF8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17"/>
          <p:cNvSpPr txBox="1"/>
          <p:nvPr/>
        </p:nvSpPr>
        <p:spPr>
          <a:xfrm>
            <a:off x="9820656" y="24414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7A78C3"/>
                </a:solidFill>
              </a:rPr>
              <a:t>JR</a:t>
            </a:r>
            <a:endParaRPr lang="en-US" sz="1800"/>
          </a:p>
        </p:txBody>
      </p:sp>
      <p:sp>
        <p:nvSpPr>
          <p:cNvPr id="23" name="Text 18"/>
          <p:cNvSpPr txBox="1"/>
          <p:nvPr/>
        </p:nvSpPr>
        <p:spPr>
          <a:xfrm>
            <a:off x="9144000" y="3474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30F3C"/>
                </a:solidFill>
              </a:rPr>
              <a:t>Jakub Rambousek</a:t>
            </a:r>
            <a:endParaRPr lang="en-US" sz="1300"/>
          </a:p>
        </p:txBody>
      </p:sp>
      <p:sp>
        <p:nvSpPr>
          <p:cNvPr id="24" name="Text 19"/>
          <p:cNvSpPr txBox="1"/>
          <p:nvPr/>
        </p:nvSpPr>
        <p:spPr>
          <a:xfrm>
            <a:off x="9144000" y="378561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7A78C3"/>
                </a:solidFill>
              </a:rPr>
              <a:t>IT stratég a AI expert</a:t>
            </a:r>
            <a:endParaRPr lang="en-US" sz="950"/>
          </a:p>
        </p:txBody>
      </p:sp>
      <p:sp>
        <p:nvSpPr>
          <p:cNvPr id="25" name="Text 20"/>
          <p:cNvSpPr txBox="1"/>
          <p:nvPr/>
        </p:nvSpPr>
        <p:spPr>
          <a:xfrm>
            <a:off x="9217152" y="425196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Přes 10 let IT projektů od průmyslového softwaru po e-commerce. Řízení vývoje, datová analytika a AI automatizace.</a:t>
            </a:r>
            <a:endParaRPr lang="en-US" sz="11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1" name="Image 5" descr="Weiner_Partners_maly_symbol_black.png">
            <a:extLst>
              <a:ext uri="{FF2B5EF4-FFF2-40B4-BE49-F238E27FC236}">
                <a16:creationId xmlns:a16="http://schemas.microsoft.com/office/drawing/2014/main" id="{CAEFF099-40D8-17AF-42F3-50F68A125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586827"/>
            <a:ext cx="1051560" cy="115929"/>
          </a:xfrm>
          <a:prstGeom prst="rect">
            <a:avLst/>
          </a:prstGeom>
        </p:spPr>
      </p:pic>
      <p:pic>
        <p:nvPicPr>
          <p:cNvPr id="32" name="Image 5" descr="Weiner_Partners_maly_symbol_black.png">
            <a:extLst>
              <a:ext uri="{FF2B5EF4-FFF2-40B4-BE49-F238E27FC236}">
                <a16:creationId xmlns:a16="http://schemas.microsoft.com/office/drawing/2014/main" id="{985CA2D4-632D-83DE-7E75-150A84794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5586827"/>
            <a:ext cx="1051560" cy="115929"/>
          </a:xfrm>
          <a:prstGeom prst="rect">
            <a:avLst/>
          </a:prstGeom>
        </p:spPr>
      </p:pic>
      <p:pic>
        <p:nvPicPr>
          <p:cNvPr id="33" name="Image 5" descr="Weiner_Partners_maly_symbol_black.png">
            <a:extLst>
              <a:ext uri="{FF2B5EF4-FFF2-40B4-BE49-F238E27FC236}">
                <a16:creationId xmlns:a16="http://schemas.microsoft.com/office/drawing/2014/main" id="{48E40EEF-092B-E284-E123-BAF954552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5599071"/>
            <a:ext cx="1051560" cy="115929"/>
          </a:xfrm>
          <a:prstGeom prst="rect">
            <a:avLst/>
          </a:prstGeom>
        </p:spPr>
      </p:pic>
      <p:pic>
        <p:nvPicPr>
          <p:cNvPr id="35" name="Obrázek 34" descr="Angry Beards | LinkedIn">
            <a:extLst>
              <a:ext uri="{FF2B5EF4-FFF2-40B4-BE49-F238E27FC236}">
                <a16:creationId xmlns:a16="http://schemas.microsoft.com/office/drawing/2014/main" id="{57134871-42C2-0739-C71E-5DC4B6B119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246" t="20443" r="23173" b="20442"/>
          <a:stretch>
            <a:fillRect/>
          </a:stretch>
        </p:blipFill>
        <p:spPr>
          <a:xfrm>
            <a:off x="9263510" y="5462312"/>
            <a:ext cx="1444327" cy="273518"/>
          </a:xfrm>
          <a:prstGeom prst="rect">
            <a:avLst/>
          </a:prstGeom>
        </p:spPr>
      </p:pic>
      <p:pic>
        <p:nvPicPr>
          <p:cNvPr id="36" name="Google Shape;556;p21">
            <a:extLst>
              <a:ext uri="{FF2B5EF4-FFF2-40B4-BE49-F238E27FC236}">
                <a16:creationId xmlns:a16="http://schemas.microsoft.com/office/drawing/2014/main" id="{0BD238AA-CFC2-CC3A-BA85-FD2764F116C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9950" t="3422" r="17367" b="48111"/>
          <a:stretch/>
        </p:blipFill>
        <p:spPr>
          <a:xfrm>
            <a:off x="1595628" y="2425871"/>
            <a:ext cx="945553" cy="945553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" name="Google Shape;555;p21">
            <a:extLst>
              <a:ext uri="{FF2B5EF4-FFF2-40B4-BE49-F238E27FC236}">
                <a16:creationId xmlns:a16="http://schemas.microsoft.com/office/drawing/2014/main" id="{1A3330FB-3949-064B-E3F1-2C097D36E63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7767" t="11711" r="7433" b="31756"/>
          <a:stretch/>
        </p:blipFill>
        <p:spPr>
          <a:xfrm>
            <a:off x="9779508" y="2441448"/>
            <a:ext cx="996696" cy="99669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SHRNUTÍ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err="1"/>
              <a:t>Naše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odpovědi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na zadání VZP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Zadání: </a:t>
            </a:r>
            <a:r>
              <a:rPr lang="en-US" sz="1300" i="1" err="1">
                <a:solidFill>
                  <a:srgbClr val="4A4458"/>
                </a:solidFill>
              </a:rPr>
              <a:t>předpovědět</a:t>
            </a:r>
            <a:r>
              <a:rPr lang="en-US" sz="1300" i="1">
                <a:solidFill>
                  <a:srgbClr val="4A4458"/>
                </a:solidFill>
              </a:rPr>
              <a:t>, </a:t>
            </a:r>
            <a:r>
              <a:rPr lang="en-US" sz="1300" i="1" err="1">
                <a:solidFill>
                  <a:srgbClr val="4A4458"/>
                </a:solidFill>
              </a:rPr>
              <a:t>kdo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nedorazí</a:t>
            </a:r>
            <a:r>
              <a:rPr lang="en-US" sz="1300" i="1">
                <a:solidFill>
                  <a:srgbClr val="4A4458"/>
                </a:solidFill>
              </a:rPr>
              <a:t>, </a:t>
            </a:r>
            <a:r>
              <a:rPr lang="en-US" sz="1300" i="1" err="1">
                <a:solidFill>
                  <a:srgbClr val="4A4458"/>
                </a:solidFill>
              </a:rPr>
              <a:t>najít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příčiny</a:t>
            </a:r>
            <a:r>
              <a:rPr lang="en-US" sz="1300" i="1">
                <a:solidFill>
                  <a:srgbClr val="4A4458"/>
                </a:solidFill>
              </a:rPr>
              <a:t>, </a:t>
            </a:r>
            <a:r>
              <a:rPr lang="en-US" sz="1300" i="1" err="1">
                <a:solidFill>
                  <a:srgbClr val="4A4458"/>
                </a:solidFill>
              </a:rPr>
              <a:t>rozdělit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klientky</a:t>
            </a:r>
            <a:r>
              <a:rPr lang="en-US" sz="1300" i="1">
                <a:solidFill>
                  <a:srgbClr val="4A4458"/>
                </a:solidFill>
              </a:rPr>
              <a:t> do </a:t>
            </a:r>
            <a:r>
              <a:rPr lang="en-US" sz="1300" i="1" err="1">
                <a:solidFill>
                  <a:srgbClr val="4A4458"/>
                </a:solidFill>
              </a:rPr>
              <a:t>využitelných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skupin</a:t>
            </a:r>
            <a:r>
              <a:rPr lang="en-US" sz="1300" i="1">
                <a:solidFill>
                  <a:srgbClr val="4A4458"/>
                </a:solidFill>
              </a:rPr>
              <a:t>, </a:t>
            </a:r>
            <a:r>
              <a:rPr lang="en-US" sz="1300" i="1" err="1">
                <a:solidFill>
                  <a:srgbClr val="4A4458"/>
                </a:solidFill>
              </a:rPr>
              <a:t>navrhnout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cílenou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podporu</a:t>
            </a:r>
            <a:r>
              <a:rPr lang="en-US" sz="1300" i="1">
                <a:solidFill>
                  <a:srgbClr val="4A4458"/>
                </a:solidFill>
              </a:rPr>
              <a:t> a experiment, </a:t>
            </a:r>
            <a:r>
              <a:rPr lang="en-US" sz="1300" i="1" err="1">
                <a:solidFill>
                  <a:srgbClr val="4A4458"/>
                </a:solidFill>
              </a:rPr>
              <a:t>který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ověří</a:t>
            </a:r>
            <a:r>
              <a:rPr lang="en-US" sz="1300" i="1">
                <a:solidFill>
                  <a:srgbClr val="4A4458"/>
                </a:solidFill>
              </a:rPr>
              <a:t>, </a:t>
            </a:r>
            <a:r>
              <a:rPr lang="en-US" sz="1300" i="1" err="1">
                <a:solidFill>
                  <a:srgbClr val="4A4458"/>
                </a:solidFill>
              </a:rPr>
              <a:t>zda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zvýšila</a:t>
            </a:r>
            <a:r>
              <a:rPr lang="en-US" sz="1300" i="1">
                <a:solidFill>
                  <a:srgbClr val="4A4458"/>
                </a:solidFill>
              </a:rPr>
              <a:t> </a:t>
            </a:r>
            <a:r>
              <a:rPr lang="en-US" sz="1300" i="1" err="1">
                <a:solidFill>
                  <a:srgbClr val="4A4458"/>
                </a:solidFill>
              </a:rPr>
              <a:t>účast</a:t>
            </a:r>
            <a:r>
              <a:rPr lang="en-US" sz="1300" i="1">
                <a:solidFill>
                  <a:srgbClr val="4A4458"/>
                </a:solidFill>
              </a:rPr>
              <a:t>.</a:t>
            </a:r>
            <a:endParaRPr lang="en-US" sz="1300" i="1"/>
          </a:p>
        </p:txBody>
      </p:sp>
      <p:sp>
        <p:nvSpPr>
          <p:cNvPr id="5" name="Odpověď 1"/>
          <p:cNvSpPr/>
          <p:nvPr/>
        </p:nvSpPr>
        <p:spPr>
          <a:xfrm>
            <a:off x="777240" y="2331720"/>
            <a:ext cx="1984248" cy="338328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Číslo"/>
          <p:cNvSpPr/>
          <p:nvPr/>
        </p:nvSpPr>
        <p:spPr>
          <a:xfrm>
            <a:off x="1005840" y="2587752"/>
            <a:ext cx="566928" cy="566928"/>
          </a:xfrm>
          <a:prstGeom prst="ellipse">
            <a:avLst/>
          </a:prstGeom>
          <a:solidFill>
            <a:srgbClr val="EFEEF8"/>
          </a:solidFill>
          <a:ln w="12700">
            <a:solidFill>
              <a:srgbClr val="EFEEF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 txBox="1"/>
          <p:nvPr/>
        </p:nvSpPr>
        <p:spPr>
          <a:xfrm>
            <a:off x="10058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3B7A"/>
                </a:solidFill>
              </a:rPr>
              <a:t>1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1005840" y="33375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230F3C"/>
                </a:solidFill>
              </a:rPr>
              <a:t>Predikce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1005840" y="37490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4A4458"/>
                </a:solidFill>
              </a:rPr>
              <a:t>Vysvětlitelný model určí, kdo po pozvánce nepřijde (AUC 0,83). </a:t>
            </a:r>
            <a:endParaRPr lang="en-US" sz="1250"/>
          </a:p>
        </p:txBody>
      </p:sp>
      <p:sp>
        <p:nvSpPr>
          <p:cNvPr id="10" name="Odpověď 2"/>
          <p:cNvSpPr/>
          <p:nvPr/>
        </p:nvSpPr>
        <p:spPr>
          <a:xfrm>
            <a:off x="2939796" y="2331720"/>
            <a:ext cx="1984248" cy="338328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Číslo"/>
          <p:cNvSpPr/>
          <p:nvPr/>
        </p:nvSpPr>
        <p:spPr>
          <a:xfrm>
            <a:off x="3168396" y="2587752"/>
            <a:ext cx="566928" cy="566928"/>
          </a:xfrm>
          <a:prstGeom prst="ellipse">
            <a:avLst/>
          </a:prstGeom>
          <a:solidFill>
            <a:srgbClr val="EFEEF8"/>
          </a:solidFill>
          <a:ln w="12700">
            <a:solidFill>
              <a:srgbClr val="EFEEF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 txBox="1"/>
          <p:nvPr/>
        </p:nvSpPr>
        <p:spPr>
          <a:xfrm>
            <a:off x="3168396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3B7A"/>
                </a:solidFill>
              </a:rPr>
              <a:t>2</a:t>
            </a:r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3168396" y="33375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30F3C"/>
                </a:solidFill>
              </a:rPr>
              <a:t>Příčiny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3168396" y="37490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4A4458"/>
                </a:solidFill>
              </a:rPr>
              <a:t>S věkem mizí gynekolog, </a:t>
            </a:r>
            <a:r>
              <a:rPr lang="en-US" sz="1250" err="1">
                <a:solidFill>
                  <a:srgbClr val="4A4458"/>
                </a:solidFill>
              </a:rPr>
              <a:t>tedy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hlavní</a:t>
            </a:r>
            <a:r>
              <a:rPr lang="en-US" sz="1250">
                <a:solidFill>
                  <a:srgbClr val="4A4458"/>
                </a:solidFill>
              </a:rPr>
              <a:t> cesta k mamografu. Praktik ho </a:t>
            </a:r>
            <a:r>
              <a:rPr lang="en-US" sz="1250" err="1">
                <a:solidFill>
                  <a:srgbClr val="4A4458"/>
                </a:solidFill>
              </a:rPr>
              <a:t>nenahrazuje</a:t>
            </a:r>
            <a:r>
              <a:rPr lang="en-US" sz="1250">
                <a:solidFill>
                  <a:srgbClr val="4A4458"/>
                </a:solidFill>
              </a:rPr>
              <a:t> a </a:t>
            </a:r>
            <a:r>
              <a:rPr lang="en-US" sz="1250" err="1">
                <a:solidFill>
                  <a:srgbClr val="4A4458"/>
                </a:solidFill>
              </a:rPr>
              <a:t>oslovení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dopisem</a:t>
            </a:r>
            <a:r>
              <a:rPr lang="en-US" sz="1250">
                <a:solidFill>
                  <a:srgbClr val="4A4458"/>
                </a:solidFill>
              </a:rPr>
              <a:t> přestává fungovat.</a:t>
            </a:r>
            <a:endParaRPr lang="en-US" sz="1250"/>
          </a:p>
        </p:txBody>
      </p:sp>
      <p:sp>
        <p:nvSpPr>
          <p:cNvPr id="15" name="Odpověď 3"/>
          <p:cNvSpPr/>
          <p:nvPr/>
        </p:nvSpPr>
        <p:spPr>
          <a:xfrm>
            <a:off x="5102352" y="2331720"/>
            <a:ext cx="1984248" cy="338328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Číslo"/>
          <p:cNvSpPr/>
          <p:nvPr/>
        </p:nvSpPr>
        <p:spPr>
          <a:xfrm>
            <a:off x="5330952" y="2587752"/>
            <a:ext cx="566928" cy="566928"/>
          </a:xfrm>
          <a:prstGeom prst="ellipse">
            <a:avLst/>
          </a:prstGeom>
          <a:solidFill>
            <a:srgbClr val="EFEEF8"/>
          </a:solidFill>
          <a:ln w="12700">
            <a:solidFill>
              <a:srgbClr val="EFEEF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5330952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3B7A"/>
                </a:solidFill>
              </a:rPr>
              <a:t>3</a:t>
            </a:r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5330952" y="33375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230F3C"/>
                </a:solidFill>
              </a:rPr>
              <a:t>Segmenty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>
          <a:xfrm>
            <a:off x="5330952" y="37490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4A4458"/>
                </a:solidFill>
              </a:rPr>
              <a:t>Ženy dělíme do sedmi segmentů podle vztahu k prevenci a stavu ve zvaní. 59 % žen, které nepřišly, </a:t>
            </a:r>
            <a:r>
              <a:rPr lang="en-US" sz="1250" err="1">
                <a:solidFill>
                  <a:srgbClr val="4A4458"/>
                </a:solidFill>
              </a:rPr>
              <a:t>zdravotnickým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systémem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prochází</a:t>
            </a:r>
            <a:r>
              <a:rPr lang="en-US" sz="1250">
                <a:solidFill>
                  <a:srgbClr val="4A4458"/>
                </a:solidFill>
              </a:rPr>
              <a:t> a </a:t>
            </a:r>
            <a:r>
              <a:rPr lang="en-US" sz="1250" err="1">
                <a:solidFill>
                  <a:srgbClr val="4A4458"/>
                </a:solidFill>
              </a:rPr>
              <a:t>jsou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tedy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dosažitelné</a:t>
            </a:r>
            <a:r>
              <a:rPr lang="en-US" sz="1250">
                <a:solidFill>
                  <a:srgbClr val="4A4458"/>
                </a:solidFill>
              </a:rPr>
              <a:t>.</a:t>
            </a:r>
            <a:endParaRPr lang="en-US" sz="1250"/>
          </a:p>
        </p:txBody>
      </p:sp>
      <p:sp>
        <p:nvSpPr>
          <p:cNvPr id="20" name="Odpověď 4"/>
          <p:cNvSpPr/>
          <p:nvPr/>
        </p:nvSpPr>
        <p:spPr>
          <a:xfrm>
            <a:off x="7264908" y="2331720"/>
            <a:ext cx="1984248" cy="338328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Číslo"/>
          <p:cNvSpPr/>
          <p:nvPr/>
        </p:nvSpPr>
        <p:spPr>
          <a:xfrm>
            <a:off x="7493508" y="2587752"/>
            <a:ext cx="566928" cy="566928"/>
          </a:xfrm>
          <a:prstGeom prst="ellipse">
            <a:avLst/>
          </a:prstGeom>
          <a:solidFill>
            <a:srgbClr val="EFEEF8"/>
          </a:solidFill>
          <a:ln w="12700">
            <a:solidFill>
              <a:srgbClr val="EFEEF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 txBox="1"/>
          <p:nvPr/>
        </p:nvSpPr>
        <p:spPr>
          <a:xfrm>
            <a:off x="7493508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3B7A"/>
                </a:solidFill>
              </a:rPr>
              <a:t>4</a:t>
            </a:r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7493508" y="33375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30F3C"/>
                </a:solidFill>
              </a:rPr>
              <a:t>Podpora</a:t>
            </a:r>
            <a:endParaRPr lang="en-US" sz="1400"/>
          </a:p>
        </p:txBody>
      </p:sp>
      <p:sp>
        <p:nvSpPr>
          <p:cNvPr id="24" name="Text 22"/>
          <p:cNvSpPr txBox="1"/>
          <p:nvPr/>
        </p:nvSpPr>
        <p:spPr>
          <a:xfrm>
            <a:off x="7493508" y="37490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err="1">
                <a:solidFill>
                  <a:srgbClr val="4A4458"/>
                </a:solidFill>
              </a:rPr>
              <a:t>Obratem</a:t>
            </a:r>
            <a:r>
              <a:rPr lang="en-US" sz="1250">
                <a:solidFill>
                  <a:srgbClr val="4A4458"/>
                </a:solidFill>
              </a:rPr>
              <a:t> lze </a:t>
            </a:r>
            <a:r>
              <a:rPr lang="en-US" sz="1250" err="1">
                <a:solidFill>
                  <a:srgbClr val="4A4458"/>
                </a:solidFill>
              </a:rPr>
              <a:t>zavést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úpravy</a:t>
            </a:r>
            <a:r>
              <a:rPr lang="en-US" sz="1250">
                <a:solidFill>
                  <a:srgbClr val="4A4458"/>
                </a:solidFill>
              </a:rPr>
              <a:t> do </a:t>
            </a:r>
            <a:r>
              <a:rPr lang="en-US" sz="1250" err="1">
                <a:solidFill>
                  <a:srgbClr val="4A4458"/>
                </a:solidFill>
              </a:rPr>
              <a:t>systému</a:t>
            </a:r>
            <a:r>
              <a:rPr lang="en-US" sz="1250">
                <a:solidFill>
                  <a:srgbClr val="4A4458"/>
                </a:solidFill>
              </a:rPr>
              <a:t> a </a:t>
            </a:r>
            <a:r>
              <a:rPr lang="en-US" sz="1250" err="1">
                <a:solidFill>
                  <a:srgbClr val="4A4458"/>
                </a:solidFill>
              </a:rPr>
              <a:t>kanálů</a:t>
            </a:r>
            <a:r>
              <a:rPr lang="en-US" sz="1250">
                <a:solidFill>
                  <a:srgbClr val="4A4458"/>
                </a:solidFill>
              </a:rPr>
              <a:t> </a:t>
            </a:r>
            <a:r>
              <a:rPr lang="en-US" sz="1250" err="1">
                <a:solidFill>
                  <a:srgbClr val="4A4458"/>
                </a:solidFill>
              </a:rPr>
              <a:t>zvaní</a:t>
            </a:r>
            <a:r>
              <a:rPr lang="en-US" sz="1250">
                <a:solidFill>
                  <a:srgbClr val="4A4458"/>
                </a:solidFill>
              </a:rPr>
              <a:t>, souběžně pilotovat snadné objednání a zapojení lékařů.</a:t>
            </a:r>
            <a:endParaRPr lang="en-US" sz="1250"/>
          </a:p>
        </p:txBody>
      </p:sp>
      <p:sp>
        <p:nvSpPr>
          <p:cNvPr id="25" name="Odpověď 5"/>
          <p:cNvSpPr/>
          <p:nvPr/>
        </p:nvSpPr>
        <p:spPr>
          <a:xfrm>
            <a:off x="9427464" y="2331720"/>
            <a:ext cx="1984248" cy="338328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Číslo"/>
          <p:cNvSpPr/>
          <p:nvPr/>
        </p:nvSpPr>
        <p:spPr>
          <a:xfrm>
            <a:off x="9656064" y="2587752"/>
            <a:ext cx="566928" cy="566928"/>
          </a:xfrm>
          <a:prstGeom prst="ellipse">
            <a:avLst/>
          </a:prstGeom>
          <a:solidFill>
            <a:srgbClr val="EFEEF8"/>
          </a:solidFill>
          <a:ln w="12700">
            <a:solidFill>
              <a:srgbClr val="EFEEF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 txBox="1"/>
          <p:nvPr/>
        </p:nvSpPr>
        <p:spPr>
          <a:xfrm>
            <a:off x="9656064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3B7A"/>
                </a:solidFill>
              </a:rPr>
              <a:t>5</a:t>
            </a:r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9656064" y="33375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30F3C"/>
                </a:solidFill>
              </a:rPr>
              <a:t>Experiment</a:t>
            </a:r>
            <a:endParaRPr lang="en-US" sz="1400"/>
          </a:p>
        </p:txBody>
      </p:sp>
      <p:sp>
        <p:nvSpPr>
          <p:cNvPr id="29" name="Text 27"/>
          <p:cNvSpPr txBox="1"/>
          <p:nvPr/>
        </p:nvSpPr>
        <p:spPr>
          <a:xfrm>
            <a:off x="9656064" y="37490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4A4458"/>
                </a:solidFill>
              </a:rPr>
              <a:t>Ženy uvnitř segmentů náhodně rozdělíme proti dnešnímu dopisu; výsledek změříme z vykázaných výkonů VZP.</a:t>
            </a:r>
            <a:endParaRPr lang="en-US" sz="125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Architektura systému</a:t>
            </a:r>
            <a:endParaRPr lang="en-US" sz="3000" dirty="0"/>
          </a:p>
        </p:txBody>
      </p:sp>
      <p:sp>
        <p:nvSpPr>
          <p:cNvPr id="3" name="monitoring"/>
          <p:cNvSpPr/>
          <p:nvPr/>
        </p:nvSpPr>
        <p:spPr>
          <a:xfrm>
            <a:off x="548640" y="1234440"/>
            <a:ext cx="110944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monitoring_nadpis"/>
          <p:cNvSpPr txBox="1"/>
          <p:nvPr/>
        </p:nvSpPr>
        <p:spPr>
          <a:xfrm>
            <a:off x="731520" y="1371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Monitoring a experimenty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vyhodnocení celého systému, plánování a řízení pokusů</a:t>
            </a:r>
            <a:endParaRPr lang="en-US" sz="1600" dirty="0"/>
          </a:p>
        </p:txBody>
      </p:sp>
      <p:sp>
        <p:nvSpPr>
          <p:cNvPr id="5" name="pohled_1"/>
          <p:cNvSpPr/>
          <p:nvPr/>
        </p:nvSpPr>
        <p:spPr>
          <a:xfrm>
            <a:off x="2971800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6" name="pohled_1_text"/>
          <p:cNvSpPr txBox="1"/>
          <p:nvPr/>
        </p:nvSpPr>
        <p:spPr>
          <a:xfrm>
            <a:off x="3099816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Provoz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dosah a odezva kanálů, účast podle segmentů a regionů</a:t>
            </a:r>
            <a:endParaRPr lang="en-US" sz="1500" dirty="0"/>
          </a:p>
        </p:txBody>
      </p:sp>
      <p:sp>
        <p:nvSpPr>
          <p:cNvPr id="7" name="pohled_2"/>
          <p:cNvSpPr/>
          <p:nvPr/>
        </p:nvSpPr>
        <p:spPr>
          <a:xfrm>
            <a:off x="5139614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8" name="pohled_2_text"/>
          <p:cNvSpPr txBox="1"/>
          <p:nvPr/>
        </p:nvSpPr>
        <p:spPr>
          <a:xfrm>
            <a:off x="5267630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Ekonomika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náklady, cena za vyšetření navíc, ICER / NMB, dopad na rozpočet</a:t>
            </a:r>
            <a:endParaRPr lang="en-US" sz="1500" dirty="0"/>
          </a:p>
        </p:txBody>
      </p:sp>
      <p:sp>
        <p:nvSpPr>
          <p:cNvPr id="9" name="pohled_3"/>
          <p:cNvSpPr/>
          <p:nvPr/>
        </p:nvSpPr>
        <p:spPr>
          <a:xfrm>
            <a:off x="7307428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10" name="pohled_3_text"/>
          <p:cNvSpPr txBox="1"/>
          <p:nvPr/>
        </p:nvSpPr>
        <p:spPr>
          <a:xfrm>
            <a:off x="7435444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Zdraví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záchyt v časnějším stadiu, odvrácená úmrtí, QALY, vytížení kapacit</a:t>
            </a:r>
            <a:endParaRPr lang="en-US" sz="1500" dirty="0"/>
          </a:p>
        </p:txBody>
      </p:sp>
      <p:sp>
        <p:nvSpPr>
          <p:cNvPr id="11" name="pohled_4"/>
          <p:cNvSpPr/>
          <p:nvPr/>
        </p:nvSpPr>
        <p:spPr>
          <a:xfrm>
            <a:off x="9475241" y="1371600"/>
            <a:ext cx="2030654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12" name="pohled_4_text"/>
          <p:cNvSpPr txBox="1"/>
          <p:nvPr/>
        </p:nvSpPr>
        <p:spPr>
          <a:xfrm>
            <a:off x="9603257" y="1474013"/>
            <a:ext cx="1774622" cy="89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Experimenty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design, randomizace, kontrolní skupina, vyhodnocení, rozšíření</a:t>
            </a:r>
            <a:endParaRPr lang="en-US" sz="1500" dirty="0"/>
          </a:p>
        </p:txBody>
      </p:sp>
      <p:sp>
        <p:nvSpPr>
          <p:cNvPr id="13" name="klient"/>
          <p:cNvSpPr/>
          <p:nvPr/>
        </p:nvSpPr>
        <p:spPr>
          <a:xfrm>
            <a:off x="548640" y="3108960"/>
            <a:ext cx="3063240" cy="324612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4" name="klient_text"/>
          <p:cNvSpPr txBox="1"/>
          <p:nvPr/>
        </p:nvSpPr>
        <p:spPr>
          <a:xfrm>
            <a:off x="713232" y="3240634"/>
            <a:ext cx="2734056" cy="29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Komunikace VZP ↔ klient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Ven:</a:t>
            </a:r>
            <a:r>
              <a:rPr lang="en-US" sz="1400" dirty="0">
                <a:solidFill>
                  <a:schemeClr val="tx1"/>
                </a:solidFill>
              </a:rPr>
              <a:t> dopis, e-mail, aplikace VZP (push, rezervace), SMS, telefonát / navigace, předrezervovaný termín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Zpět:</a:t>
            </a:r>
            <a:r>
              <a:rPr lang="en-US" sz="1400" dirty="0">
                <a:solidFill>
                  <a:schemeClr val="tx1"/>
                </a:solidFill>
              </a:rPr>
              <a:t> odezva, rezervace termínu, odhlášení, preference kanálu, odpovědi v dotaznících</a:t>
            </a:r>
            <a:endParaRPr lang="en-US" sz="1700" dirty="0"/>
          </a:p>
        </p:txBody>
      </p:sp>
      <p:sp>
        <p:nvSpPr>
          <p:cNvPr id="15" name="poskytovatele"/>
          <p:cNvSpPr/>
          <p:nvPr/>
        </p:nvSpPr>
        <p:spPr>
          <a:xfrm>
            <a:off x="8579815" y="3108960"/>
            <a:ext cx="3063240" cy="324612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6" name="poskytovatele_text"/>
          <p:cNvSpPr txBox="1"/>
          <p:nvPr/>
        </p:nvSpPr>
        <p:spPr>
          <a:xfrm>
            <a:off x="8744407" y="3240634"/>
            <a:ext cx="2734056" cy="29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Komunikace VZP ↔ poskytovatelé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Ven:</a:t>
            </a:r>
            <a:r>
              <a:rPr lang="en-US" sz="1400" dirty="0">
                <a:solidFill>
                  <a:schemeClr val="tx1"/>
                </a:solidFill>
              </a:rPr>
              <a:t> seznamy klientů pro praktiky a specialisty, objednání u poskytovatele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Zpět:</a:t>
            </a:r>
            <a:r>
              <a:rPr lang="en-US" sz="1400" dirty="0">
                <a:solidFill>
                  <a:schemeClr val="tx1"/>
                </a:solidFill>
              </a:rPr>
              <a:t> vykázané výkony (výsledek: přišel / nepřišel, nález), volné kapacity</a:t>
            </a:r>
            <a:endParaRPr lang="en-US" sz="1700" dirty="0"/>
          </a:p>
        </p:txBody>
      </p:sp>
      <p:sp>
        <p:nvSpPr>
          <p:cNvPr id="17" name="model"/>
          <p:cNvSpPr/>
          <p:nvPr/>
        </p:nvSpPr>
        <p:spPr>
          <a:xfrm>
            <a:off x="4297680" y="3108960"/>
            <a:ext cx="3596335" cy="3246120"/>
          </a:xfrm>
          <a:prstGeom prst="roundRect">
            <a:avLst>
              <a:gd name="adj" fmla="val 2254"/>
            </a:avLst>
          </a:prstGeom>
          <a:solidFill>
            <a:schemeClr val="accent1"/>
          </a:solidFill>
          <a:ln/>
        </p:spPr>
      </p:sp>
      <p:sp>
        <p:nvSpPr>
          <p:cNvPr id="18" name="model_nadpis"/>
          <p:cNvSpPr txBox="1"/>
          <p:nvPr/>
        </p:nvSpPr>
        <p:spPr>
          <a:xfrm>
            <a:off x="4480560" y="3218688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 v VZP</a:t>
            </a:r>
            <a:endParaRPr lang="en-US" sz="1800" dirty="0"/>
          </a:p>
        </p:txBody>
      </p:sp>
      <p:sp>
        <p:nvSpPr>
          <p:cNvPr id="19" name="model_cast_1"/>
          <p:cNvSpPr/>
          <p:nvPr/>
        </p:nvSpPr>
        <p:spPr>
          <a:xfrm>
            <a:off x="4480560" y="3639312"/>
            <a:ext cx="3230575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20" name="model_cast_1_text"/>
          <p:cNvSpPr txBox="1"/>
          <p:nvPr/>
        </p:nvSpPr>
        <p:spPr>
          <a:xfrm>
            <a:off x="4617720" y="3685032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Zdravotní rizika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jaké nemoci a jak moc hrozí (z historie péče)</a:t>
            </a:r>
            <a:endParaRPr lang="en-US" sz="1300" dirty="0"/>
          </a:p>
        </p:txBody>
      </p:sp>
      <p:sp>
        <p:nvSpPr>
          <p:cNvPr id="21" name="model_cast_2"/>
          <p:cNvSpPr/>
          <p:nvPr/>
        </p:nvSpPr>
        <p:spPr>
          <a:xfrm>
            <a:off x="4480560" y="4297680"/>
            <a:ext cx="3230575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22" name="model_cast_2_text"/>
          <p:cNvSpPr txBox="1"/>
          <p:nvPr/>
        </p:nvSpPr>
        <p:spPr>
          <a:xfrm>
            <a:off x="4617720" y="4343400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Pravděpodobnost účasti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přijde klient k prevenci sám, bez zásahu?</a:t>
            </a:r>
            <a:endParaRPr lang="en-US" sz="1300" dirty="0"/>
          </a:p>
        </p:txBody>
      </p:sp>
      <p:sp>
        <p:nvSpPr>
          <p:cNvPr id="23" name="model_cast_3"/>
          <p:cNvSpPr/>
          <p:nvPr/>
        </p:nvSpPr>
        <p:spPr>
          <a:xfrm>
            <a:off x="4480560" y="4956048"/>
            <a:ext cx="3230575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24" name="model_cast_3_text"/>
          <p:cNvSpPr txBox="1"/>
          <p:nvPr/>
        </p:nvSpPr>
        <p:spPr>
          <a:xfrm>
            <a:off x="4617720" y="5001768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Uplift intervencí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 kolik účast zvýší každá intervence</a:t>
            </a:r>
            <a:endParaRPr lang="en-US" sz="1300" dirty="0"/>
          </a:p>
        </p:txBody>
      </p:sp>
      <p:sp>
        <p:nvSpPr>
          <p:cNvPr id="25" name="optimalizace"/>
          <p:cNvSpPr/>
          <p:nvPr/>
        </p:nvSpPr>
        <p:spPr>
          <a:xfrm>
            <a:off x="4480560" y="5614416"/>
            <a:ext cx="3230575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26" name="optimalizace_text"/>
          <p:cNvSpPr txBox="1"/>
          <p:nvPr/>
        </p:nvSpPr>
        <p:spPr>
          <a:xfrm>
            <a:off x="4617720" y="5687568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Optimalizace: </a:t>
            </a:r>
            <a:r>
              <a:rPr lang="en-US" sz="1200" dirty="0">
                <a:solidFill>
                  <a:schemeClr val="bg1"/>
                </a:solidFill>
              </a:rPr>
              <a:t>kdo dostane co, kdy a jakým kanálem, v mezích rozpočtu, kapacit a rovnosti</a:t>
            </a:r>
            <a:endParaRPr lang="en-US" sz="1250" dirty="0"/>
          </a:p>
        </p:txBody>
      </p:sp>
      <p:sp>
        <p:nvSpPr>
          <p:cNvPr id="27" name="sip_kl_ven"/>
          <p:cNvSpPr/>
          <p:nvPr/>
        </p:nvSpPr>
        <p:spPr>
          <a:xfrm>
            <a:off x="3611880" y="402336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28" name="sip_kl_ven_popis"/>
          <p:cNvSpPr txBox="1"/>
          <p:nvPr/>
        </p:nvSpPr>
        <p:spPr>
          <a:xfrm>
            <a:off x="349758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intervence</a:t>
            </a:r>
            <a:endParaRPr lang="en-US" sz="1100" dirty="0"/>
          </a:p>
        </p:txBody>
      </p:sp>
      <p:sp>
        <p:nvSpPr>
          <p:cNvPr id="29" name="sip_kl_zpet"/>
          <p:cNvSpPr/>
          <p:nvPr/>
        </p:nvSpPr>
        <p:spPr>
          <a:xfrm>
            <a:off x="3611880" y="544068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30" name="sip_kl_zpet_popis"/>
          <p:cNvSpPr txBox="1"/>
          <p:nvPr/>
        </p:nvSpPr>
        <p:spPr>
          <a:xfrm>
            <a:off x="3497580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odezva</a:t>
            </a:r>
            <a:endParaRPr lang="en-US" sz="1100" dirty="0"/>
          </a:p>
        </p:txBody>
      </p:sp>
      <p:sp>
        <p:nvSpPr>
          <p:cNvPr id="31" name="sip_po_ven"/>
          <p:cNvSpPr/>
          <p:nvPr/>
        </p:nvSpPr>
        <p:spPr>
          <a:xfrm>
            <a:off x="7894015" y="402336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32" name="sip_po_ven_popis"/>
          <p:cNvSpPr txBox="1"/>
          <p:nvPr/>
        </p:nvSpPr>
        <p:spPr>
          <a:xfrm>
            <a:off x="7779715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seznamy</a:t>
            </a:r>
            <a:endParaRPr lang="en-US" sz="1100" dirty="0"/>
          </a:p>
        </p:txBody>
      </p:sp>
      <p:sp>
        <p:nvSpPr>
          <p:cNvPr id="33" name="sip_po_zpet"/>
          <p:cNvSpPr/>
          <p:nvPr/>
        </p:nvSpPr>
        <p:spPr>
          <a:xfrm>
            <a:off x="7894015" y="5440680"/>
            <a:ext cx="68580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34" name="sip_po_zpet_popis"/>
          <p:cNvSpPr txBox="1"/>
          <p:nvPr/>
        </p:nvSpPr>
        <p:spPr>
          <a:xfrm>
            <a:off x="7779715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výkony</a:t>
            </a:r>
            <a:endParaRPr lang="en-US" sz="1100" dirty="0"/>
          </a:p>
        </p:txBody>
      </p:sp>
      <p:sp>
        <p:nvSpPr>
          <p:cNvPr id="35" name="sip_mon_nahoru"/>
          <p:cNvSpPr/>
          <p:nvPr/>
        </p:nvSpPr>
        <p:spPr>
          <a:xfrm>
            <a:off x="5376581" y="2606040"/>
            <a:ext cx="0" cy="50292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36" name="sip_mon_nahoru_popis"/>
          <p:cNvSpPr txBox="1"/>
          <p:nvPr/>
        </p:nvSpPr>
        <p:spPr>
          <a:xfrm>
            <a:off x="3319181" y="27203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predikce, rozhodnutí</a:t>
            </a:r>
            <a:endParaRPr lang="en-US" sz="1100" dirty="0"/>
          </a:p>
        </p:txBody>
      </p:sp>
      <p:sp>
        <p:nvSpPr>
          <p:cNvPr id="37" name="sip_mon_dolu"/>
          <p:cNvSpPr/>
          <p:nvPr/>
        </p:nvSpPr>
        <p:spPr>
          <a:xfrm>
            <a:off x="6815115" y="2606040"/>
            <a:ext cx="0" cy="50292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38" name="sip_mon_dolu_popis"/>
          <p:cNvSpPr txBox="1"/>
          <p:nvPr/>
        </p:nvSpPr>
        <p:spPr>
          <a:xfrm>
            <a:off x="6906555" y="27203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výsledky pokusů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Aplikace VZP: přímý kanál a zpětná vazba</a:t>
            </a:r>
            <a:endParaRPr lang="en-US" sz="3000" dirty="0"/>
          </a:p>
        </p:txBody>
      </p:sp>
      <p:sp>
        <p:nvSpPr>
          <p:cNvPr id="3" name="dorucit_nadpis"/>
          <p:cNvSpPr txBox="1"/>
          <p:nvPr/>
        </p:nvSpPr>
        <p:spPr>
          <a:xfrm>
            <a:off x="548640" y="12344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 aplikace doručí</a:t>
            </a:r>
            <a:endParaRPr lang="en-US" sz="1600" dirty="0"/>
          </a:p>
        </p:txBody>
      </p:sp>
      <p:sp>
        <p:nvSpPr>
          <p:cNvPr id="4" name="aplikace_1"/>
          <p:cNvSpPr/>
          <p:nvPr/>
        </p:nvSpPr>
        <p:spPr>
          <a:xfrm>
            <a:off x="548640" y="1691640"/>
            <a:ext cx="3108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aplikace_1_cislo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aplikace_1_cislo_text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plikace_1_text"/>
          <p:cNvSpPr txBox="1"/>
          <p:nvPr/>
        </p:nvSpPr>
        <p:spPr>
          <a:xfrm>
            <a:off x="1325880" y="18745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Rezervace jedním klepnutím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předrezervovaný termín: potvrdit, přesunout, uvolnit; uvolněné termíny se vrací poskytovateli</a:t>
            </a:r>
            <a:endParaRPr lang="en-US" sz="1500" dirty="0"/>
          </a:p>
        </p:txBody>
      </p:sp>
      <p:sp>
        <p:nvSpPr>
          <p:cNvPr id="8" name="aplikace_2"/>
          <p:cNvSpPr/>
          <p:nvPr/>
        </p:nvSpPr>
        <p:spPr>
          <a:xfrm>
            <a:off x="3886200" y="1691640"/>
            <a:ext cx="3108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aplikace_2_cislo"/>
          <p:cNvSpPr/>
          <p:nvPr/>
        </p:nvSpPr>
        <p:spPr>
          <a:xfrm>
            <a:off x="4069080" y="1874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plikace_2_cislo_text"/>
          <p:cNvSpPr txBox="1"/>
          <p:nvPr/>
        </p:nvSpPr>
        <p:spPr>
          <a:xfrm>
            <a:off x="4069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aplikace_2_text"/>
          <p:cNvSpPr txBox="1"/>
          <p:nvPr/>
        </p:nvSpPr>
        <p:spPr>
          <a:xfrm>
            <a:off x="4663440" y="18745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Dotazník bariér → cílený krok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„Co vám brání?“ → navigace telefonem, večerní termín, doprava, vysvětlení „bez žádanky“</a:t>
            </a:r>
            <a:endParaRPr lang="en-US" sz="1500" dirty="0"/>
          </a:p>
        </p:txBody>
      </p:sp>
      <p:sp>
        <p:nvSpPr>
          <p:cNvPr id="12" name="aplikace_3"/>
          <p:cNvSpPr/>
          <p:nvPr/>
        </p:nvSpPr>
        <p:spPr>
          <a:xfrm>
            <a:off x="548640" y="3474720"/>
            <a:ext cx="3108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aplikace_3_cislo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plikace_3_cislo_text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aplikace_3_text"/>
          <p:cNvSpPr txBox="1"/>
          <p:nvPr/>
        </p:nvSpPr>
        <p:spPr>
          <a:xfrm>
            <a:off x="1325880" y="36576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Přehled prevence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vše, co klienta čeká: screeningy, preventivní prohlídky, očkování na jednom místě</a:t>
            </a:r>
            <a:endParaRPr lang="en-US" sz="1500" dirty="0"/>
          </a:p>
        </p:txBody>
      </p:sp>
      <p:sp>
        <p:nvSpPr>
          <p:cNvPr id="16" name="aplikace_4"/>
          <p:cNvSpPr/>
          <p:nvPr/>
        </p:nvSpPr>
        <p:spPr>
          <a:xfrm>
            <a:off x="3886200" y="3474720"/>
            <a:ext cx="3108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7" name="aplikace_4_cislo"/>
          <p:cNvSpPr/>
          <p:nvPr/>
        </p:nvSpPr>
        <p:spPr>
          <a:xfrm>
            <a:off x="4069080" y="3657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plikace_4_cislo_text"/>
          <p:cNvSpPr txBox="1"/>
          <p:nvPr/>
        </p:nvSpPr>
        <p:spPr>
          <a:xfrm>
            <a:off x="4069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aplikace_4_text"/>
          <p:cNvSpPr txBox="1"/>
          <p:nvPr/>
        </p:nvSpPr>
        <p:spPr>
          <a:xfrm>
            <a:off x="4663440" y="36576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Připomínky a obsah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stejné zprávy jako SMS a dopis, zdarma, s rezervací na jedno klepnutí a variantami k testování</a:t>
            </a:r>
            <a:endParaRPr lang="en-US" sz="1500" dirty="0"/>
          </a:p>
        </p:txBody>
      </p:sp>
      <p:sp>
        <p:nvSpPr>
          <p:cNvPr id="20" name="zpet"/>
          <p:cNvSpPr/>
          <p:nvPr/>
        </p:nvSpPr>
        <p:spPr>
          <a:xfrm>
            <a:off x="7315200" y="1234440"/>
            <a:ext cx="4327855" cy="3794760"/>
          </a:xfrm>
          <a:prstGeom prst="roundRect">
            <a:avLst>
              <a:gd name="adj" fmla="val 1928"/>
            </a:avLst>
          </a:prstGeom>
          <a:solidFill>
            <a:schemeClr val="accent1"/>
          </a:solidFill>
          <a:ln/>
        </p:spPr>
      </p:sp>
      <p:sp>
        <p:nvSpPr>
          <p:cNvPr id="21" name="zpet_text"/>
          <p:cNvSpPr txBox="1"/>
          <p:nvPr/>
        </p:nvSpPr>
        <p:spPr>
          <a:xfrm>
            <a:off x="7543800" y="1417320"/>
            <a:ext cx="38706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Co se vrací do VZP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Důvody, proč klient nepřišel:</a:t>
            </a:r>
            <a:r>
              <a:rPr lang="en-US" sz="1500" dirty="0">
                <a:solidFill>
                  <a:schemeClr val="bg1"/>
                </a:solidFill>
              </a:rPr>
              <a:t> znaky pro segmentaci a model upliftu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Zkušenost po vyšetření:</a:t>
            </a:r>
            <a:r>
              <a:rPr lang="en-US" sz="1500" dirty="0">
                <a:solidFill>
                  <a:schemeClr val="bg1"/>
                </a:solidFill>
              </a:rPr>
              <a:t> kvalita poskytovatelů, návyk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Dosažitelnost kanálů:</a:t>
            </a:r>
            <a:r>
              <a:rPr lang="en-US" sz="1500" dirty="0">
                <a:solidFill>
                  <a:schemeClr val="bg1"/>
                </a:solidFill>
              </a:rPr>
              <a:t> komu co funguje, omezení pro optimalizaci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Platforma pro pokusy:</a:t>
            </a:r>
            <a:r>
              <a:rPr lang="en-US" sz="1500" dirty="0">
                <a:solidFill>
                  <a:schemeClr val="bg1"/>
                </a:solidFill>
              </a:rPr>
              <a:t> levná randomizace, zaznamenané přiřazení, signály za dny</a:t>
            </a:r>
            <a:endParaRPr lang="en-US" sz="1600" dirty="0"/>
          </a:p>
        </p:txBody>
      </p:sp>
      <p:sp>
        <p:nvSpPr>
          <p:cNvPr id="22" name="pozor"/>
          <p:cNvSpPr/>
          <p:nvPr/>
        </p:nvSpPr>
        <p:spPr>
          <a:xfrm>
            <a:off x="548640" y="5257800"/>
            <a:ext cx="1109441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3" name="pozor_text"/>
          <p:cNvSpPr txBox="1"/>
          <p:nvPr/>
        </p:nvSpPr>
        <p:spPr>
          <a:xfrm>
            <a:off x="777240" y="539496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Pozor: </a:t>
            </a:r>
            <a:r>
              <a:rPr lang="en-US" sz="1300" dirty="0">
                <a:solidFill>
                  <a:schemeClr val="tx1"/>
                </a:solidFill>
              </a:rPr>
              <a:t>uživatelé aplikace jsou výběr: chodí častěji a nejtěžší segmenty zastihne aplikace nejméně, takže výsledky platí jen pro ně a dopis, SMS ani telefon nenahradí. Krátké a řídké dotazníky (únava, zkreslení odpovědí), souhlas s využitím odpovědí (GDPR). Výsledek měřit vykázaným výkonem, ne kliknutím.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Model pravděpodobnosti účasti: vysvětlitelný (EBM)</a:t>
            </a:r>
            <a:endParaRPr lang="en-US" sz="3000" dirty="0"/>
          </a:p>
        </p:txBody>
      </p:sp>
      <p:sp>
        <p:nvSpPr>
          <p:cNvPr id="3" name="vzorec"/>
          <p:cNvSpPr/>
          <p:nvPr/>
        </p:nvSpPr>
        <p:spPr>
          <a:xfrm>
            <a:off x="548640" y="123444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4" name="vzorec_text"/>
          <p:cNvSpPr txBox="1"/>
          <p:nvPr/>
        </p:nvSpPr>
        <p:spPr>
          <a:xfrm>
            <a:off x="777240" y="13258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logit p(x) = β</a:t>
            </a:r>
            <a:r>
              <a:rPr lang="en-US" sz="1800" baseline="-40000" dirty="0">
                <a:solidFill>
                  <a:schemeClr val="bg1"/>
                </a:solidFill>
              </a:rPr>
              <a:t>0</a:t>
            </a:r>
            <a:r>
              <a:rPr lang="en-US" sz="1800" dirty="0">
                <a:solidFill>
                  <a:schemeClr val="bg1"/>
                </a:solidFill>
              </a:rPr>
              <a:t> + Σ f</a:t>
            </a:r>
            <a:r>
              <a:rPr lang="en-US" sz="1800" baseline="-40000" dirty="0">
                <a:solidFill>
                  <a:schemeClr val="bg1"/>
                </a:solidFill>
              </a:rPr>
              <a:t>j</a:t>
            </a:r>
            <a:r>
              <a:rPr lang="en-US" sz="1800" dirty="0">
                <a:solidFill>
                  <a:schemeClr val="bg1"/>
                </a:solidFill>
              </a:rPr>
              <a:t>(x</a:t>
            </a:r>
            <a:r>
              <a:rPr lang="en-US" sz="1800" baseline="-40000" dirty="0">
                <a:solidFill>
                  <a:schemeClr val="bg1"/>
                </a:solidFill>
              </a:rPr>
              <a:t>j</a:t>
            </a:r>
            <a:r>
              <a:rPr lang="en-US" sz="1800" dirty="0">
                <a:solidFill>
                  <a:schemeClr val="bg1"/>
                </a:solidFill>
              </a:rPr>
              <a:t>) + Σ f</a:t>
            </a:r>
            <a:r>
              <a:rPr lang="en-US" sz="1800" baseline="-40000" dirty="0">
                <a:solidFill>
                  <a:schemeClr val="bg1"/>
                </a:solidFill>
              </a:rPr>
              <a:t>ij</a:t>
            </a:r>
            <a:r>
              <a:rPr lang="en-US" sz="1800" dirty="0">
                <a:solidFill>
                  <a:schemeClr val="bg1"/>
                </a:solidFill>
              </a:rPr>
              <a:t>(x</a:t>
            </a:r>
            <a:r>
              <a:rPr lang="en-US" sz="1800" baseline="-40000" dirty="0">
                <a:solidFill>
                  <a:schemeClr val="bg1"/>
                </a:solidFill>
              </a:rPr>
              <a:t>i</a:t>
            </a:r>
            <a:r>
              <a:rPr lang="en-US" sz="1800" dirty="0">
                <a:solidFill>
                  <a:schemeClr val="bg1"/>
                </a:solidFill>
              </a:rPr>
              <a:t>, x</a:t>
            </a:r>
            <a:r>
              <a:rPr lang="en-US" sz="1800" baseline="-40000" dirty="0">
                <a:solidFill>
                  <a:schemeClr val="bg1"/>
                </a:solidFill>
              </a:rPr>
              <a:t>j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  <a:r>
              <a:rPr lang="en-US" sz="1300" dirty="0">
                <a:solidFill>
                  <a:schemeClr val="accent3"/>
                </a:solidFill>
              </a:rPr>
              <a:t>     Explainable Boosting Machine: zobecněný aditivní model s vybranými interakcemi, učený boostingem</a:t>
            </a:r>
            <a:endParaRPr lang="en-US" sz="1800" dirty="0"/>
          </a:p>
        </p:txBody>
      </p:sp>
      <p:graphicFrame>
        <p:nvGraphicFramePr>
          <p:cNvPr id="5" name="tvarova_funkce_1"/>
          <p:cNvGraphicFramePr/>
          <p:nvPr/>
        </p:nvGraphicFramePr>
        <p:xfrm>
          <a:off x="548640" y="2103120"/>
          <a:ext cx="27889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varova_funkce_2"/>
          <p:cNvGraphicFramePr/>
          <p:nvPr/>
        </p:nvGraphicFramePr>
        <p:xfrm>
          <a:off x="3520440" y="2103120"/>
          <a:ext cx="27889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varova_funkce_3"/>
          <p:cNvGraphicFramePr/>
          <p:nvPr/>
        </p:nvGraphicFramePr>
        <p:xfrm>
          <a:off x="548640" y="4251960"/>
          <a:ext cx="27889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jak_cist"/>
          <p:cNvSpPr/>
          <p:nvPr/>
        </p:nvSpPr>
        <p:spPr>
          <a:xfrm>
            <a:off x="3520440" y="4251960"/>
            <a:ext cx="27889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9" name="jak_cist_text"/>
          <p:cNvSpPr txBox="1"/>
          <p:nvPr/>
        </p:nvSpPr>
        <p:spPr>
          <a:xfrm>
            <a:off x="3685032" y="4383634"/>
            <a:ext cx="2459736" cy="1702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Jak číst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Každá křivka je </a:t>
            </a:r>
            <a:r>
              <a:rPr lang="en-US" sz="1200" b="1" dirty="0">
                <a:solidFill>
                  <a:schemeClr val="tx1"/>
                </a:solidFill>
              </a:rPr>
              <a:t>příspěvek jednoho znaku k logitu</a:t>
            </a:r>
            <a:r>
              <a:rPr lang="en-US" sz="1200" dirty="0">
                <a:solidFill>
                  <a:schemeClr val="tx1"/>
                </a:solidFill>
              </a:rPr>
              <a:t>. Predikce klienta je jejich součet, takže je </a:t>
            </a:r>
            <a:r>
              <a:rPr lang="en-US" sz="1200" b="1" dirty="0">
                <a:solidFill>
                  <a:schemeClr val="tx1"/>
                </a:solidFill>
              </a:rPr>
              <a:t>přesně</a:t>
            </a:r>
            <a:r>
              <a:rPr lang="en-US" sz="1200" dirty="0">
                <a:solidFill>
                  <a:schemeClr val="tx1"/>
                </a:solidFill>
              </a:rPr>
              <a:t> vidět, proč vyšla. Křivky jsou ilustrativní.</a:t>
            </a:r>
            <a:endParaRPr lang="en-US" sz="1500" dirty="0"/>
          </a:p>
        </p:txBody>
      </p:sp>
      <p:sp>
        <p:nvSpPr>
          <p:cNvPr id="10" name="proc_ebm"/>
          <p:cNvSpPr txBox="1"/>
          <p:nvPr/>
        </p:nvSpPr>
        <p:spPr>
          <a:xfrm>
            <a:off x="6629400" y="2103120"/>
            <a:ext cx="50136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Skleněná skříňka:</a:t>
            </a:r>
            <a:r>
              <a:rPr lang="en-US" sz="1400" dirty="0">
                <a:solidFill>
                  <a:schemeClr val="tx1"/>
                </a:solidFill>
              </a:rPr>
              <a:t> model je přímo čitelný, rozklad predikce je přesný (ne dodatečná aproximace jako SHAP nad černou skříňkou).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Přesnost</a:t>
            </a:r>
            <a:r>
              <a:rPr lang="en-US" sz="1400" dirty="0">
                <a:solidFill>
                  <a:schemeClr val="tx1"/>
                </a:solidFill>
              </a:rPr>
              <a:t> na tabulkových datech blízko gradient boostingu, </a:t>
            </a:r>
            <a:r>
              <a:rPr lang="en-US" sz="1400" b="1" dirty="0">
                <a:solidFill>
                  <a:schemeClr val="tx1"/>
                </a:solidFill>
              </a:rPr>
              <a:t>dobře kalibrované pravděpodobnosti</a:t>
            </a:r>
            <a:r>
              <a:rPr lang="en-US" sz="1400" dirty="0">
                <a:solidFill>
                  <a:schemeClr val="tx1"/>
                </a:solidFill>
              </a:rPr>
              <a:t> pro optimalizaci a ekonomiku.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Kontrola:</a:t>
            </a:r>
            <a:r>
              <a:rPr lang="en-US" sz="1400" dirty="0">
                <a:solidFill>
                  <a:schemeClr val="tx1"/>
                </a:solidFill>
              </a:rPr>
              <a:t> monotónní omezení, úprava křivek s lékaři, kontrola férovosti podle regionů a skupin.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Regulace:</a:t>
            </a:r>
            <a:r>
              <a:rPr lang="en-US" sz="1400" dirty="0">
                <a:solidFill>
                  <a:schemeClr val="tx1"/>
                </a:solidFill>
              </a:rPr>
              <a:t> vysvětlení pro klienta, lékaře i regulátora (GDPR čl. 22, AI Act).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Prior pro uplift:</a:t>
            </a:r>
            <a:r>
              <a:rPr lang="en-US" sz="1400" dirty="0">
                <a:solidFill>
                  <a:schemeClr val="tx1"/>
                </a:solidFill>
              </a:rPr>
              <a:t> logit EBM je výchozí bod modelu účinku intervencí (další snímek).</a:t>
            </a:r>
            <a:endParaRPr lang="en-US" sz="1400" dirty="0"/>
          </a:p>
        </p:txBody>
      </p:sp>
      <p:sp>
        <p:nvSpPr>
          <p:cNvPr id="11" name="alternativy"/>
          <p:cNvSpPr txBox="1"/>
          <p:nvPr/>
        </p:nvSpPr>
        <p:spPr>
          <a:xfrm>
            <a:off x="6629400" y="5623560"/>
            <a:ext cx="5013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Zvážené alternativy:</a:t>
            </a:r>
            <a:r>
              <a:rPr lang="en-US" sz="1100" dirty="0">
                <a:solidFill>
                  <a:schemeClr val="accent4"/>
                </a:solidFill>
              </a:rPr>
              <a:t> logit se splajny (málo pružný), skórkarta (méně přesná), GBM + SHAP (jen dodatečné vysvětlení; zůstává jako měřítko ceny vysvětlitelnosti).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55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Model upliftu: bayesovský, s modelem účasti jako priorem</a:t>
            </a:r>
            <a:endParaRPr lang="en-US" sz="3000" dirty="0"/>
          </a:p>
        </p:txBody>
      </p:sp>
      <p:sp>
        <p:nvSpPr>
          <p:cNvPr id="3" name="prior_ebm"/>
          <p:cNvSpPr/>
          <p:nvPr/>
        </p:nvSpPr>
        <p:spPr>
          <a:xfrm>
            <a:off x="548640" y="123444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prior_ebm_text"/>
          <p:cNvSpPr txBox="1"/>
          <p:nvPr/>
        </p:nvSpPr>
        <p:spPr>
          <a:xfrm>
            <a:off x="713232" y="1366114"/>
            <a:ext cx="2414016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Model účasti (EBM)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f(x): výchozí logit klienta, </a:t>
            </a:r>
            <a:r>
              <a:rPr lang="en-US" sz="1250" b="1" dirty="0">
                <a:solidFill>
                  <a:schemeClr val="tx1"/>
                </a:solidFill>
              </a:rPr>
              <a:t>prior pro uplift</a:t>
            </a:r>
            <a:endParaRPr lang="en-US" sz="1550" dirty="0"/>
          </a:p>
        </p:txBody>
      </p:sp>
      <p:sp>
        <p:nvSpPr>
          <p:cNvPr id="5" name="prior_literatura"/>
          <p:cNvSpPr/>
          <p:nvPr/>
        </p:nvSpPr>
        <p:spPr>
          <a:xfrm>
            <a:off x="548640" y="265176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prior_literatura_text"/>
          <p:cNvSpPr txBox="1"/>
          <p:nvPr/>
        </p:nvSpPr>
        <p:spPr>
          <a:xfrm>
            <a:off x="713232" y="2783434"/>
            <a:ext cx="2414016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Literatura</a:t>
            </a:r>
            <a:endParaRPr lang="en-US" sz="15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β (průměrný účinek intervence): prior z metaanalýz</a:t>
            </a:r>
            <a:endParaRPr lang="en-US" sz="1550" dirty="0"/>
          </a:p>
        </p:txBody>
      </p:sp>
      <p:sp>
        <p:nvSpPr>
          <p:cNvPr id="7" name="bayes"/>
          <p:cNvSpPr/>
          <p:nvPr/>
        </p:nvSpPr>
        <p:spPr>
          <a:xfrm>
            <a:off x="3886200" y="1234440"/>
            <a:ext cx="4160520" cy="2606040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8" name="bayes_text"/>
          <p:cNvSpPr txBox="1"/>
          <p:nvPr/>
        </p:nvSpPr>
        <p:spPr>
          <a:xfrm>
            <a:off x="4114800" y="139903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Bayesovský hierarchický model</a:t>
            </a: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logit P(účast | x, k) = f(x) + β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 + g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(x)</a:t>
            </a: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τ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(x) = σ(f + β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 + g</a:t>
            </a:r>
            <a:r>
              <a:rPr lang="en-US" sz="1800" baseline="-40000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) − σ(f)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chemeClr val="accent3"/>
                </a:solidFill>
              </a:rPr>
              <a:t>g</a:t>
            </a:r>
            <a:r>
              <a:rPr lang="en-US" sz="1350" baseline="-40000" dirty="0">
                <a:solidFill>
                  <a:schemeClr val="accent3"/>
                </a:solidFill>
              </a:rPr>
              <a:t>k</a:t>
            </a:r>
            <a:r>
              <a:rPr lang="en-US" sz="1350" dirty="0">
                <a:solidFill>
                  <a:schemeClr val="accent3"/>
                </a:solidFill>
              </a:rPr>
              <a:t>(x): rozdíly v účinku mezi klienty na stejných znacích jako EBM, prior smrštěný k nule. Uplift je malý u těch, kdo přijdou vždy nebo nikdy, největší uprostřed.</a:t>
            </a:r>
            <a:endParaRPr lang="en-US" sz="1600" dirty="0"/>
          </a:p>
        </p:txBody>
      </p:sp>
      <p:sp>
        <p:nvSpPr>
          <p:cNvPr id="9" name="experimenty"/>
          <p:cNvSpPr/>
          <p:nvPr/>
        </p:nvSpPr>
        <p:spPr>
          <a:xfrm>
            <a:off x="8641080" y="1234440"/>
            <a:ext cx="300197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experimenty_text"/>
          <p:cNvSpPr txBox="1"/>
          <p:nvPr/>
        </p:nvSpPr>
        <p:spPr>
          <a:xfrm>
            <a:off x="8805672" y="1366114"/>
            <a:ext cx="2672791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Randomizované pokusy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zaznamenaná pravděpodobnost přiřazení → </a:t>
            </a:r>
            <a:r>
              <a:rPr lang="en-US" sz="1250" b="1" dirty="0">
                <a:solidFill>
                  <a:schemeClr val="tx1"/>
                </a:solidFill>
              </a:rPr>
              <a:t>posterior</a:t>
            </a:r>
            <a:endParaRPr lang="en-US" sz="1550" dirty="0"/>
          </a:p>
        </p:txBody>
      </p:sp>
      <p:sp>
        <p:nvSpPr>
          <p:cNvPr id="11" name="rozhodnuti"/>
          <p:cNvSpPr/>
          <p:nvPr/>
        </p:nvSpPr>
        <p:spPr>
          <a:xfrm>
            <a:off x="8641080" y="2651760"/>
            <a:ext cx="300197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2" name="rozhodnuti_text"/>
          <p:cNvSpPr txBox="1"/>
          <p:nvPr/>
        </p:nvSpPr>
        <p:spPr>
          <a:xfrm>
            <a:off x="8805672" y="2783434"/>
            <a:ext cx="2672791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Rozhodnutí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τ × zdravotní přínos − náklad, v mezích rozpočtu, kapacit a rovnosti</a:t>
            </a:r>
            <a:endParaRPr lang="en-US" sz="1550" dirty="0"/>
          </a:p>
        </p:txBody>
      </p:sp>
      <p:sp>
        <p:nvSpPr>
          <p:cNvPr id="13" name="sip_ebm"/>
          <p:cNvSpPr/>
          <p:nvPr/>
        </p:nvSpPr>
        <p:spPr>
          <a:xfrm>
            <a:off x="3291840" y="182880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14" name="sip_lit"/>
          <p:cNvSpPr/>
          <p:nvPr/>
        </p:nvSpPr>
        <p:spPr>
          <a:xfrm>
            <a:off x="3291840" y="324612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15" name="sip_exp"/>
          <p:cNvSpPr/>
          <p:nvPr/>
        </p:nvSpPr>
        <p:spPr>
          <a:xfrm>
            <a:off x="8046720" y="182880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16" name="sip_rozh"/>
          <p:cNvSpPr/>
          <p:nvPr/>
        </p:nvSpPr>
        <p:spPr>
          <a:xfrm>
            <a:off x="8046720" y="3246120"/>
            <a:ext cx="594360" cy="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tailEnd type="triangle"/>
          </a:ln>
        </p:spPr>
      </p:sp>
      <p:sp>
        <p:nvSpPr>
          <p:cNvPr id="17" name="sip_pruzkum"/>
          <p:cNvSpPr/>
          <p:nvPr/>
        </p:nvSpPr>
        <p:spPr>
          <a:xfrm>
            <a:off x="10142068" y="2423160"/>
            <a:ext cx="0" cy="228600"/>
          </a:xfrm>
          <a:prstGeom prst="line">
            <a:avLst/>
          </a:prstGeom>
          <a:noFill/>
          <a:ln w="25400">
            <a:solidFill>
              <a:srgbClr val="3D4F5C"/>
            </a:solidFill>
            <a:prstDash val="solid"/>
            <a:headEnd type="triangle"/>
          </a:ln>
        </p:spPr>
      </p:sp>
      <p:sp>
        <p:nvSpPr>
          <p:cNvPr id="18" name="sip_pruzkum_popis"/>
          <p:cNvSpPr txBox="1"/>
          <p:nvPr/>
        </p:nvSpPr>
        <p:spPr>
          <a:xfrm>
            <a:off x="10233508" y="24003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průzkum ~10 %</a:t>
            </a:r>
            <a:endParaRPr lang="en-US" sz="1100" dirty="0"/>
          </a:p>
        </p:txBody>
      </p:sp>
      <p:sp>
        <p:nvSpPr>
          <p:cNvPr id="19" name="pozdeji"/>
          <p:cNvSpPr/>
          <p:nvPr/>
        </p:nvSpPr>
        <p:spPr>
          <a:xfrm>
            <a:off x="3886200" y="4023360"/>
            <a:ext cx="41605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rgbClr val="3D4F5C"/>
            </a:solidFill>
            <a:prstDash val="dash"/>
          </a:ln>
        </p:spPr>
      </p:sp>
      <p:sp>
        <p:nvSpPr>
          <p:cNvPr id="20" name="pozdeji_text"/>
          <p:cNvSpPr txBox="1"/>
          <p:nvPr/>
        </p:nvSpPr>
        <p:spPr>
          <a:xfrm>
            <a:off x="4023360" y="4096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Později, s dostatkem dat:</a:t>
            </a:r>
            <a:r>
              <a:rPr lang="en-US" sz="1200" dirty="0">
                <a:solidFill>
                  <a:schemeClr val="accent4"/>
                </a:solidFill>
              </a:rPr>
              <a:t> DR-learner + causal forest</a:t>
            </a:r>
            <a:endParaRPr lang="en-US" sz="1200" dirty="0"/>
          </a:p>
        </p:txBody>
      </p:sp>
      <p:sp>
        <p:nvSpPr>
          <p:cNvPr id="21" name="proc_randomizace"/>
          <p:cNvSpPr/>
          <p:nvPr/>
        </p:nvSpPr>
        <p:spPr>
          <a:xfrm>
            <a:off x="548640" y="4754880"/>
            <a:ext cx="354573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2" name="proc_randomizace_text"/>
          <p:cNvSpPr txBox="1"/>
          <p:nvPr/>
        </p:nvSpPr>
        <p:spPr>
          <a:xfrm>
            <a:off x="713232" y="4886554"/>
            <a:ext cx="3216554" cy="1336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Proč randomizace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Data VZP ukážou, </a:t>
            </a:r>
            <a:r>
              <a:rPr lang="en-US" sz="1250" b="1" dirty="0">
                <a:solidFill>
                  <a:schemeClr val="tx1"/>
                </a:solidFill>
              </a:rPr>
              <a:t>kdo přichází</a:t>
            </a:r>
            <a:r>
              <a:rPr lang="en-US" sz="1250" dirty="0">
                <a:solidFill>
                  <a:schemeClr val="tx1"/>
                </a:solidFill>
              </a:rPr>
              <a:t>, ale ne </a:t>
            </a:r>
            <a:r>
              <a:rPr lang="en-US" sz="1250" b="1" dirty="0">
                <a:solidFill>
                  <a:schemeClr val="tx1"/>
                </a:solidFill>
              </a:rPr>
              <a:t>kdo přijde díky intervenci</a:t>
            </a:r>
            <a:r>
              <a:rPr lang="en-US" sz="1250" dirty="0">
                <a:solidFill>
                  <a:schemeClr val="tx1"/>
                </a:solidFill>
              </a:rPr>
              <a:t>: kanály nikdy nebyly přidělené náhodně. Uplift se proto učí z pokusů.</a:t>
            </a:r>
            <a:endParaRPr lang="en-US" sz="1550" dirty="0"/>
          </a:p>
        </p:txBody>
      </p:sp>
      <p:sp>
        <p:nvSpPr>
          <p:cNvPr id="23" name="vyhodnoceni"/>
          <p:cNvSpPr/>
          <p:nvPr/>
        </p:nvSpPr>
        <p:spPr>
          <a:xfrm>
            <a:off x="4322978" y="4754880"/>
            <a:ext cx="354573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4" name="vyhodnoceni_text"/>
          <p:cNvSpPr txBox="1"/>
          <p:nvPr/>
        </p:nvSpPr>
        <p:spPr>
          <a:xfrm>
            <a:off x="4487570" y="4886554"/>
            <a:ext cx="3216554" cy="1336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Vyhodnocení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Qini / AUUC a kalibrace upliftu po decilech, hodnota pravidla cílení off-policy (DR), </a:t>
            </a:r>
            <a:r>
              <a:rPr lang="en-US" sz="1250" b="1" dirty="0">
                <a:solidFill>
                  <a:schemeClr val="tx1"/>
                </a:solidFill>
              </a:rPr>
              <a:t>trvalá kontrolní skupina</a:t>
            </a:r>
            <a:r>
              <a:rPr lang="en-US" sz="1250" dirty="0">
                <a:solidFill>
                  <a:schemeClr val="tx1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rizika"/>
          <p:cNvSpPr/>
          <p:nvPr/>
        </p:nvSpPr>
        <p:spPr>
          <a:xfrm>
            <a:off x="8097317" y="4754880"/>
            <a:ext cx="354573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6" name="rizika_text"/>
          <p:cNvSpPr txBox="1"/>
          <p:nvPr/>
        </p:nvSpPr>
        <p:spPr>
          <a:xfrm>
            <a:off x="8261909" y="4886554"/>
            <a:ext cx="3216554" cy="1336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chemeClr val="accent1"/>
                </a:solidFill>
              </a:rPr>
              <a:t>Rizika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Negativní uplift („sleeping dogs“), pořadí kanálů (dopis → SMS → telefonát), posun v čase, férovost.</a:t>
            </a:r>
            <a:endParaRPr lang="en-US" sz="15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79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Postup zavedení</a:t>
            </a:r>
            <a:endParaRPr lang="en-US" sz="3000" dirty="0"/>
          </a:p>
        </p:txBody>
      </p:sp>
      <p:sp>
        <p:nvSpPr>
          <p:cNvPr id="3" name="krok_1"/>
          <p:cNvSpPr/>
          <p:nvPr/>
        </p:nvSpPr>
        <p:spPr>
          <a:xfrm>
            <a:off x="548640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" name="krok_1_cislo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krok_1_cislo_text"/>
          <p:cNvSpPr txBox="1"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krok_1_text"/>
          <p:cNvSpPr txBox="1"/>
          <p:nvPr/>
        </p:nvSpPr>
        <p:spPr>
          <a:xfrm>
            <a:off x="777240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Priory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model účasti (EBM) a účinky intervencí z literatury</a:t>
            </a:r>
            <a:endParaRPr lang="en-US" sz="1700" dirty="0"/>
          </a:p>
        </p:txBody>
      </p:sp>
      <p:sp>
        <p:nvSpPr>
          <p:cNvPr id="7" name="sip_krok_1"/>
          <p:cNvSpPr/>
          <p:nvPr/>
        </p:nvSpPr>
        <p:spPr>
          <a:xfrm>
            <a:off x="2602931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8" name="krok_2"/>
          <p:cNvSpPr/>
          <p:nvPr/>
        </p:nvSpPr>
        <p:spPr>
          <a:xfrm>
            <a:off x="2813243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krok_2_cislo"/>
          <p:cNvSpPr/>
          <p:nvPr/>
        </p:nvSpPr>
        <p:spPr>
          <a:xfrm>
            <a:off x="3041843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krok_2_cislo_text"/>
          <p:cNvSpPr txBox="1"/>
          <p:nvPr/>
        </p:nvSpPr>
        <p:spPr>
          <a:xfrm>
            <a:off x="3041843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krok_2_text"/>
          <p:cNvSpPr txBox="1"/>
          <p:nvPr/>
        </p:nvSpPr>
        <p:spPr>
          <a:xfrm>
            <a:off x="3041843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Pilotní pokus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víceramenná RCT po segmentech, levně i v aplikaci VZP, zaznamenané pravděpodobnosti přiřazení</a:t>
            </a:r>
            <a:endParaRPr lang="en-US" sz="1700" dirty="0"/>
          </a:p>
        </p:txBody>
      </p:sp>
      <p:sp>
        <p:nvSpPr>
          <p:cNvPr id="12" name="sip_krok_2"/>
          <p:cNvSpPr/>
          <p:nvPr/>
        </p:nvSpPr>
        <p:spPr>
          <a:xfrm>
            <a:off x="4867534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13" name="krok_3"/>
          <p:cNvSpPr/>
          <p:nvPr/>
        </p:nvSpPr>
        <p:spPr>
          <a:xfrm>
            <a:off x="5077846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4" name="krok_3_cislo"/>
          <p:cNvSpPr/>
          <p:nvPr/>
        </p:nvSpPr>
        <p:spPr>
          <a:xfrm>
            <a:off x="5306446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krok_3_cislo_text"/>
          <p:cNvSpPr txBox="1"/>
          <p:nvPr/>
        </p:nvSpPr>
        <p:spPr>
          <a:xfrm>
            <a:off x="530644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krok_3_text"/>
          <p:cNvSpPr txBox="1"/>
          <p:nvPr/>
        </p:nvSpPr>
        <p:spPr>
          <a:xfrm>
            <a:off x="5306446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První model upliftu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bayesovský posterior: kdo na co reaguje</a:t>
            </a:r>
            <a:endParaRPr lang="en-US" sz="1700" dirty="0"/>
          </a:p>
        </p:txBody>
      </p:sp>
      <p:sp>
        <p:nvSpPr>
          <p:cNvPr id="17" name="sip_krok_3"/>
          <p:cNvSpPr/>
          <p:nvPr/>
        </p:nvSpPr>
        <p:spPr>
          <a:xfrm>
            <a:off x="7132137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18" name="krok_4"/>
          <p:cNvSpPr/>
          <p:nvPr/>
        </p:nvSpPr>
        <p:spPr>
          <a:xfrm>
            <a:off x="7342449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9" name="krok_4_cislo"/>
          <p:cNvSpPr/>
          <p:nvPr/>
        </p:nvSpPr>
        <p:spPr>
          <a:xfrm>
            <a:off x="7571049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krok_4_cislo_text"/>
          <p:cNvSpPr txBox="1"/>
          <p:nvPr/>
        </p:nvSpPr>
        <p:spPr>
          <a:xfrm>
            <a:off x="7571049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krok_4_text"/>
          <p:cNvSpPr txBox="1"/>
          <p:nvPr/>
        </p:nvSpPr>
        <p:spPr>
          <a:xfrm>
            <a:off x="7571049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Cílení s průzkumem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optimalizace podle zdravotní hodnoty, ~10 % průzkum, trvalá kontrolní skupina</a:t>
            </a:r>
            <a:endParaRPr lang="en-US" sz="1700" dirty="0"/>
          </a:p>
        </p:txBody>
      </p:sp>
      <p:sp>
        <p:nvSpPr>
          <p:cNvPr id="22" name="sip_krok_4"/>
          <p:cNvSpPr/>
          <p:nvPr/>
        </p:nvSpPr>
        <p:spPr>
          <a:xfrm>
            <a:off x="9396740" y="2240280"/>
            <a:ext cx="192024" cy="0"/>
          </a:xfrm>
          <a:prstGeom prst="line">
            <a:avLst/>
          </a:prstGeom>
          <a:noFill/>
          <a:ln w="25400">
            <a:solidFill>
              <a:srgbClr val="E9C9D3"/>
            </a:solidFill>
            <a:prstDash val="solid"/>
            <a:tailEnd type="triangle"/>
          </a:ln>
        </p:spPr>
      </p:sp>
      <p:sp>
        <p:nvSpPr>
          <p:cNvPr id="23" name="krok_5"/>
          <p:cNvSpPr/>
          <p:nvPr/>
        </p:nvSpPr>
        <p:spPr>
          <a:xfrm>
            <a:off x="9607052" y="1645920"/>
            <a:ext cx="2036003" cy="3291840"/>
          </a:xfrm>
          <a:prstGeom prst="roundRect">
            <a:avLst>
              <a:gd name="adj" fmla="val 3593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24" name="krok_5_cislo"/>
          <p:cNvSpPr/>
          <p:nvPr/>
        </p:nvSpPr>
        <p:spPr>
          <a:xfrm>
            <a:off x="9835652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krok_5_cislo_text"/>
          <p:cNvSpPr txBox="1"/>
          <p:nvPr/>
        </p:nvSpPr>
        <p:spPr>
          <a:xfrm>
            <a:off x="983565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krok_5_text"/>
          <p:cNvSpPr txBox="1"/>
          <p:nvPr/>
        </p:nvSpPr>
        <p:spPr>
          <a:xfrm>
            <a:off x="9835652" y="2788920"/>
            <a:ext cx="157880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Učení dokola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pravidelné přeučení, vyhodnocení v monitoringu, rozhodnutí o rozšíření</a:t>
            </a:r>
            <a:endParaRPr lang="en-US" sz="1700" dirty="0"/>
          </a:p>
        </p:txBody>
      </p:sp>
      <p:sp>
        <p:nvSpPr>
          <p:cNvPr id="27" name="monitoring_pointa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Monitoring běží od prvního dne:</a:t>
            </a:r>
            <a:r>
              <a:rPr lang="en-US" sz="1600" dirty="0">
                <a:solidFill>
                  <a:schemeClr val="bg1"/>
                </a:solidFill>
              </a:rPr>
              <a:t> provoz, ekonomika a zdravotní výsledky, vždy proti kontrolní skupině.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2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Otázka a data</a:t>
            </a:r>
            <a:endParaRPr lang="en-US" sz="3000" dirty="0"/>
          </a:p>
        </p:txBody>
      </p:sp>
      <p:sp>
        <p:nvSpPr>
          <p:cNvPr id="3" name="stat_0"/>
          <p:cNvSpPr txBox="1"/>
          <p:nvPr/>
        </p:nvSpPr>
        <p:spPr>
          <a:xfrm>
            <a:off x="548640" y="123444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1 344 556</a:t>
            </a:r>
            <a:endParaRPr lang="en-US" sz="4000" dirty="0"/>
          </a:p>
        </p:txBody>
      </p:sp>
      <p:sp>
        <p:nvSpPr>
          <p:cNvPr id="4" name="stat_0_popis"/>
          <p:cNvSpPr txBox="1"/>
          <p:nvPr/>
        </p:nvSpPr>
        <p:spPr>
          <a:xfrm>
            <a:off x="548640" y="19659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pozvánek 2020–2024</a:t>
            </a:r>
            <a:endParaRPr lang="en-US" sz="1300" dirty="0"/>
          </a:p>
        </p:txBody>
      </p:sp>
      <p:sp>
        <p:nvSpPr>
          <p:cNvPr id="5" name="stat_1"/>
          <p:cNvSpPr txBox="1"/>
          <p:nvPr/>
        </p:nvSpPr>
        <p:spPr>
          <a:xfrm>
            <a:off x="4246778" y="123444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508 527</a:t>
            </a:r>
            <a:endParaRPr lang="en-US" sz="4000" dirty="0"/>
          </a:p>
        </p:txBody>
      </p:sp>
      <p:sp>
        <p:nvSpPr>
          <p:cNvPr id="6" name="stat_1_popis"/>
          <p:cNvSpPr txBox="1"/>
          <p:nvPr/>
        </p:nvSpPr>
        <p:spPr>
          <a:xfrm>
            <a:off x="4246778" y="19659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žen nepřetržitě pojištěných</a:t>
            </a:r>
            <a:endParaRPr lang="en-US" sz="1300" dirty="0"/>
          </a:p>
        </p:txBody>
      </p:sp>
      <p:sp>
        <p:nvSpPr>
          <p:cNvPr id="7" name="stat_2"/>
          <p:cNvSpPr txBox="1"/>
          <p:nvPr/>
        </p:nvSpPr>
        <p:spPr>
          <a:xfrm>
            <a:off x="7944917" y="123444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256 466</a:t>
            </a:r>
            <a:endParaRPr lang="en-US" sz="4000" dirty="0"/>
          </a:p>
        </p:txBody>
      </p:sp>
      <p:sp>
        <p:nvSpPr>
          <p:cNvPr id="8" name="stat_2_popis"/>
          <p:cNvSpPr txBox="1"/>
          <p:nvPr/>
        </p:nvSpPr>
        <p:spPr>
          <a:xfrm>
            <a:off x="7944917" y="19659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žen v testovacím roce 2024</a:t>
            </a:r>
            <a:endParaRPr lang="en-US" sz="1300" dirty="0"/>
          </a:p>
        </p:txBody>
      </p:sp>
      <p:sp>
        <p:nvSpPr>
          <p:cNvPr id="9" name="karta_otazka"/>
          <p:cNvSpPr/>
          <p:nvPr/>
        </p:nvSpPr>
        <p:spPr>
          <a:xfrm>
            <a:off x="548640" y="26974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karta_otazka_text"/>
          <p:cNvSpPr txBox="1"/>
          <p:nvPr/>
        </p:nvSpPr>
        <p:spPr>
          <a:xfrm>
            <a:off x="731520" y="28346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Otázka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Kdo po adresné pozvánce přijde na mamograf a kdo ne?</a:t>
            </a:r>
            <a:r>
              <a:rPr lang="en-US" sz="1400" dirty="0">
                <a:solidFill>
                  <a:schemeClr val="tx1"/>
                </a:solidFill>
              </a:rPr>
              <a:t> Kde jsou ženy, které nechodí, a jak je oslovit?</a:t>
            </a:r>
            <a:endParaRPr lang="en-US" sz="1600" dirty="0"/>
          </a:p>
        </p:txBody>
      </p:sp>
      <p:sp>
        <p:nvSpPr>
          <p:cNvPr id="11" name="karta_data"/>
          <p:cNvSpPr/>
          <p:nvPr/>
        </p:nvSpPr>
        <p:spPr>
          <a:xfrm>
            <a:off x="6233008" y="26974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karta_data_text"/>
          <p:cNvSpPr txBox="1"/>
          <p:nvPr/>
        </p:nvSpPr>
        <p:spPr>
          <a:xfrm>
            <a:off x="6415888" y="28346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Pozvánky VZP 2020–2024 pro ženy nepřetržitě pojištěné 2015–2025. Účast = mamografie do 3, 6 a 12 měsíců po pozvánce.</a:t>
            </a:r>
            <a:endParaRPr lang="en-US" sz="1600" dirty="0"/>
          </a:p>
        </p:txBody>
      </p:sp>
      <p:sp>
        <p:nvSpPr>
          <p:cNvPr id="13" name="karta_model"/>
          <p:cNvSpPr/>
          <p:nvPr/>
        </p:nvSpPr>
        <p:spPr>
          <a:xfrm>
            <a:off x="548640" y="45262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karta_model_text"/>
          <p:cNvSpPr txBox="1"/>
          <p:nvPr/>
        </p:nvSpPr>
        <p:spPr>
          <a:xfrm>
            <a:off x="731520" y="46634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Segmentační model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11 srozumitelných pravidel</a:t>
            </a:r>
            <a:r>
              <a:rPr lang="en-US" sz="1400" dirty="0">
                <a:solidFill>
                  <a:schemeClr val="tx1"/>
                </a:solidFill>
              </a:rPr>
              <a:t> nad sloupci VZP. Pozvánka patří do prvního segmentu, jehož pravidlo platí.</a:t>
            </a:r>
            <a:endParaRPr lang="en-US" sz="1600" dirty="0"/>
          </a:p>
        </p:txBody>
      </p:sp>
      <p:sp>
        <p:nvSpPr>
          <p:cNvPr id="15" name="karta_overeni"/>
          <p:cNvSpPr/>
          <p:nvPr/>
        </p:nvSpPr>
        <p:spPr>
          <a:xfrm>
            <a:off x="6233008" y="452628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6" name="karta_overeni_text"/>
          <p:cNvSpPr txBox="1"/>
          <p:nvPr/>
        </p:nvSpPr>
        <p:spPr>
          <a:xfrm>
            <a:off x="6415888" y="4663440"/>
            <a:ext cx="504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Poctivé ověření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 „naučený“ na letech 2020–2023 (účast segmentu) a </a:t>
            </a:r>
            <a:r>
              <a:rPr lang="en-US" sz="1400" b="1" dirty="0">
                <a:solidFill>
                  <a:schemeClr val="tx1"/>
                </a:solidFill>
              </a:rPr>
              <a:t>otestovaný na roce 2024</a:t>
            </a:r>
            <a:r>
              <a:rPr lang="en-US" sz="1400" dirty="0">
                <a:solidFill>
                  <a:schemeClr val="tx1"/>
                </a:solidFill>
              </a:rPr>
              <a:t> (256 466 žen).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72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Segmentační model: 11 segmentů jako rozhodovací strom</a:t>
            </a:r>
            <a:endParaRPr lang="en-US" sz="3000" dirty="0"/>
          </a:p>
        </p:txBody>
      </p:sp>
      <p:pic>
        <p:nvPicPr>
          <p:cNvPr id="3" name="strom_segmentu.png" descr="C:\Users\vittu\src\mamograf-data-exploration\docs\vzp_segmentace\strom_segmen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637273" cy="5120640"/>
          </a:xfrm>
          <a:prstGeom prst="rect">
            <a:avLst/>
          </a:prstGeom>
        </p:spPr>
      </p:pic>
      <p:sp>
        <p:nvSpPr>
          <p:cNvPr id="4" name="karta_rozmery"/>
          <p:cNvSpPr/>
          <p:nvPr/>
        </p:nvSpPr>
        <p:spPr>
          <a:xfrm>
            <a:off x="6551673" y="1234440"/>
            <a:ext cx="509138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karta_rozmery_text"/>
          <p:cNvSpPr txBox="1"/>
          <p:nvPr/>
        </p:nvSpPr>
        <p:spPr>
          <a:xfrm>
            <a:off x="6734553" y="1371600"/>
            <a:ext cx="47256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Tři rozměry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Historie screeningu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b="1" dirty="0">
                <a:solidFill>
                  <a:schemeClr val="tx1"/>
                </a:solidFill>
              </a:rPr>
              <a:t>kontakt se zdravotnictvím a prevencí</a:t>
            </a:r>
            <a:r>
              <a:rPr lang="en-US" sz="1400" dirty="0">
                <a:solidFill>
                  <a:schemeClr val="tx1"/>
                </a:solidFill>
              </a:rPr>
              <a:t> a </a:t>
            </a:r>
            <a:r>
              <a:rPr lang="en-US" sz="1400" b="1" dirty="0">
                <a:solidFill>
                  <a:schemeClr val="tx1"/>
                </a:solidFill>
              </a:rPr>
              <a:t>počet nevyslyšených pozvánek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stat_25x"/>
          <p:cNvSpPr txBox="1"/>
          <p:nvPr/>
        </p:nvSpPr>
        <p:spPr>
          <a:xfrm>
            <a:off x="6551673" y="3337560"/>
            <a:ext cx="50913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</a:t>
            </a:r>
            <a:endParaRPr lang="en-US" sz="6000" dirty="0"/>
          </a:p>
        </p:txBody>
      </p:sp>
      <p:sp>
        <p:nvSpPr>
          <p:cNvPr id="7" name="stat_25x_popis"/>
          <p:cNvSpPr txBox="1"/>
          <p:nvPr/>
        </p:nvSpPr>
        <p:spPr>
          <a:xfrm>
            <a:off x="6551673" y="4343400"/>
            <a:ext cx="50913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Tolikrát se liší účast mezi listy stromu (2–60 %).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6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Kde </a:t>
            </a:r>
            <a:r>
              <a:rPr lang="en-US" sz="3000" b="1" dirty="0" err="1">
                <a:solidFill>
                  <a:schemeClr val="accent1"/>
                </a:solidFill>
              </a:rPr>
              <a:t>jsou</a:t>
            </a:r>
            <a:r>
              <a:rPr lang="en-US" sz="3000" b="1" dirty="0">
                <a:solidFill>
                  <a:schemeClr val="accent1"/>
                </a:solidFill>
              </a:rPr>
              <a:t> </a:t>
            </a:r>
            <a:r>
              <a:rPr lang="en-US" sz="3000" b="1" dirty="0" err="1">
                <a:solidFill>
                  <a:schemeClr val="accent1"/>
                </a:solidFill>
              </a:rPr>
              <a:t>ženy</a:t>
            </a:r>
            <a:r>
              <a:rPr lang="cs-CZ" sz="3000" b="1" dirty="0">
                <a:solidFill>
                  <a:schemeClr val="accent1"/>
                </a:solidFill>
              </a:rPr>
              <a:t>? </a:t>
            </a:r>
            <a:r>
              <a:rPr lang="en-US" sz="3000" b="1" dirty="0">
                <a:solidFill>
                  <a:schemeClr val="accent1"/>
                </a:solidFill>
              </a:rPr>
              <a:t>(2024: 207 </a:t>
            </a:r>
            <a:r>
              <a:rPr lang="en-US" sz="3000" b="1" dirty="0" err="1">
                <a:solidFill>
                  <a:schemeClr val="accent1"/>
                </a:solidFill>
              </a:rPr>
              <a:t>tisíc</a:t>
            </a:r>
            <a:r>
              <a:rPr lang="cs-CZ" sz="3000" b="1" dirty="0">
                <a:solidFill>
                  <a:schemeClr val="accent1"/>
                </a:solidFill>
              </a:rPr>
              <a:t> nepřišlo</a:t>
            </a:r>
            <a:r>
              <a:rPr lang="en-US" sz="3000" b="1" dirty="0">
                <a:solidFill>
                  <a:schemeClr val="accent1"/>
                </a:solidFill>
              </a:rPr>
              <a:t>)</a:t>
            </a:r>
            <a:endParaRPr lang="en-US" sz="3000" dirty="0"/>
          </a:p>
        </p:txBody>
      </p:sp>
      <p:pic>
        <p:nvPicPr>
          <p:cNvPr id="3" name="segmenty_mapa.png" descr="C:\Users\vittu\src\mamograf-data-exploration\docs\vzp_segmentace\segmenty_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675120" cy="4121914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7589520" y="1234440"/>
            <a:ext cx="4053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56 %</a:t>
            </a:r>
            <a:r>
              <a:rPr lang="en-US" sz="1500" dirty="0">
                <a:solidFill>
                  <a:schemeClr val="tx1"/>
                </a:solidFill>
              </a:rPr>
              <a:t> nepřišlých je ve čtyřech segmentech s účastí 3–10 %. Největší je „jiná prevence, opakovaně nereaguje“: 56,8 tis. žen.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59 %</a:t>
            </a:r>
            <a:r>
              <a:rPr lang="en-US" sz="1500" dirty="0">
                <a:solidFill>
                  <a:schemeClr val="tx1"/>
                </a:solidFill>
              </a:rPr>
              <a:t> nepřišlých chodí ke gynekologovi nebo na jinou prevenci, takže je lze oslovit přes lékaře.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Nejslibnější střed: </a:t>
            </a:r>
            <a:r>
              <a:rPr lang="en-US" sz="1500" b="1" dirty="0">
                <a:solidFill>
                  <a:schemeClr val="tx1"/>
                </a:solidFill>
              </a:rPr>
              <a:t>gynekolog, zvaná málokrát</a:t>
            </a:r>
            <a:r>
              <a:rPr lang="en-US" sz="1500" dirty="0">
                <a:solidFill>
                  <a:schemeClr val="tx1"/>
                </a:solidFill>
              </a:rPr>
              <a:t> (22,7 tis. nepřišlých, účast 27 %) a </a:t>
            </a:r>
            <a:r>
              <a:rPr lang="en-US" sz="1500" b="1" dirty="0">
                <a:solidFill>
                  <a:schemeClr val="tx1"/>
                </a:solidFill>
              </a:rPr>
              <a:t>jiná prevence, zvaná málokrát</a:t>
            </a:r>
            <a:r>
              <a:rPr lang="en-US" sz="1500" dirty="0">
                <a:solidFill>
                  <a:schemeClr val="tx1"/>
                </a:solidFill>
              </a:rPr>
              <a:t> (25,7 tis., 13 %).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7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Uvnitř segmentů: kde má smysl individuální cílení</a:t>
            </a:r>
            <a:endParaRPr lang="en-US" sz="3000" dirty="0"/>
          </a:p>
        </p:txBody>
      </p:sp>
      <p:pic>
        <p:nvPicPr>
          <p:cNvPr id="3" name="segmenty_rozptyl.png" descr="C:\Users\vittu\src\mamograf-data-exploration\docs\vzp_segmentace\segmenty_rozpt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9114717" cy="3566160"/>
          </a:xfrm>
          <a:prstGeom prst="rect">
            <a:avLst/>
          </a:prstGeom>
        </p:spPr>
      </p:pic>
      <p:sp>
        <p:nvSpPr>
          <p:cNvPr id="4" name="karta_siroky"/>
          <p:cNvSpPr/>
          <p:nvPr/>
        </p:nvSpPr>
        <p:spPr>
          <a:xfrm>
            <a:off x="548640" y="502920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karta_siroky_text"/>
          <p:cNvSpPr txBox="1"/>
          <p:nvPr/>
        </p:nvSpPr>
        <p:spPr>
          <a:xfrm>
            <a:off x="731520" y="5166360"/>
            <a:ext cx="504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Široký rozptyl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První pozvánky, vypadlé a ženy u gynekologa. Tam má smysl </a:t>
            </a:r>
            <a:r>
              <a:rPr lang="en-US" sz="1400" b="1" dirty="0">
                <a:solidFill>
                  <a:schemeClr val="tx1"/>
                </a:solidFill>
              </a:rPr>
              <a:t>cílit podle modelu</a:t>
            </a:r>
            <a:r>
              <a:rPr lang="en-US" sz="1400" dirty="0">
                <a:solidFill>
                  <a:schemeClr val="tx1"/>
                </a:solidFill>
              </a:rPr>
              <a:t> (AUROC uvnitř 0,63–0,79).</a:t>
            </a:r>
            <a:endParaRPr lang="en-US" sz="1600" dirty="0"/>
          </a:p>
        </p:txBody>
      </p:sp>
      <p:sp>
        <p:nvSpPr>
          <p:cNvPr id="6" name="karta_uzky"/>
          <p:cNvSpPr/>
          <p:nvPr/>
        </p:nvSpPr>
        <p:spPr>
          <a:xfrm>
            <a:off x="6233008" y="502920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karta_uzky_text"/>
          <p:cNvSpPr txBox="1"/>
          <p:nvPr/>
        </p:nvSpPr>
        <p:spPr>
          <a:xfrm>
            <a:off x="6415888" y="5166360"/>
            <a:ext cx="504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Úzký a nízký rozptyl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Nereagující, odpojené a ženy bez prevence. </a:t>
            </a:r>
            <a:r>
              <a:rPr lang="en-US" sz="1400" b="1" dirty="0">
                <a:solidFill>
                  <a:schemeClr val="tx1"/>
                </a:solidFill>
              </a:rPr>
              <a:t>90 % z nich má predikci pod 15 %</a:t>
            </a:r>
            <a:r>
              <a:rPr lang="en-US" sz="1400" dirty="0">
                <a:solidFill>
                  <a:schemeClr val="tx1"/>
                </a:solidFill>
              </a:rPr>
              <a:t>, podskupina, která by chodila, v nich není.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31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Hlavní tok: pět největších segmentů</a:t>
            </a:r>
            <a:endParaRPr lang="en-US" sz="3000" dirty="0"/>
          </a:p>
        </p:txBody>
      </p:sp>
      <p:pic>
        <p:nvPicPr>
          <p:cNvPr id="3" name="graf_prechodu_top5.png" descr="C:\Users\vittu\src\mamograf-data-exploration\docs\vzp_segmentace\graf_prechodu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677642" cy="5166360"/>
          </a:xfrm>
          <a:prstGeom prst="rect">
            <a:avLst/>
          </a:prstGeom>
        </p:spPr>
      </p:pic>
      <p:sp>
        <p:nvSpPr>
          <p:cNvPr id="4" name="karta_tok"/>
          <p:cNvSpPr/>
          <p:nvPr/>
        </p:nvSpPr>
        <p:spPr>
          <a:xfrm>
            <a:off x="8546322" y="1234440"/>
            <a:ext cx="3096733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karta_tok_text"/>
          <p:cNvSpPr txBox="1"/>
          <p:nvPr/>
        </p:nvSpPr>
        <p:spPr>
          <a:xfrm>
            <a:off x="8729202" y="1417320"/>
            <a:ext cx="273097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pozvánka</a:t>
            </a:r>
            <a:r>
              <a:rPr lang="en-US" sz="1600" dirty="0">
                <a:solidFill>
                  <a:schemeClr val="tx1"/>
                </a:solidFill>
              </a:rPr>
              <a:t> (57 % přijde) → </a:t>
            </a:r>
            <a:r>
              <a:rPr lang="en-US" sz="1600" b="1" dirty="0">
                <a:solidFill>
                  <a:schemeClr val="tx1"/>
                </a:solidFill>
              </a:rPr>
              <a:t>gynekolog / jiná prevence, zvaná málokrát</a:t>
            </a:r>
            <a:r>
              <a:rPr lang="en-US" sz="1600" dirty="0">
                <a:solidFill>
                  <a:schemeClr val="tx1"/>
                </a:solidFill>
              </a:rPr>
              <a:t> (26 % / 12 %) → </a:t>
            </a:r>
            <a:r>
              <a:rPr lang="en-US" sz="1600" b="1" dirty="0">
                <a:solidFill>
                  <a:schemeClr val="tx1"/>
                </a:solidFill>
              </a:rPr>
              <a:t>jiná prevence, nereaguje</a:t>
            </a:r>
            <a:r>
              <a:rPr lang="en-US" sz="1600" dirty="0">
                <a:solidFill>
                  <a:schemeClr val="tx1"/>
                </a:solidFill>
              </a:rPr>
              <a:t> (4 %, 74 % zůstává).</a:t>
            </a:r>
            <a:endParaRPr lang="en-US" sz="1600" dirty="0"/>
          </a:p>
        </p:txBody>
      </p:sp>
      <p:sp>
        <p:nvSpPr>
          <p:cNvPr id="6" name="pointa"/>
          <p:cNvSpPr txBox="1"/>
          <p:nvPr/>
        </p:nvSpPr>
        <p:spPr>
          <a:xfrm>
            <a:off x="8546322" y="3886200"/>
            <a:ext cx="30967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Zpětná hrana z „nereaguje“ chybí: co se nezíská brzy, už se skoro nezíská.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29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Hlavní zjištění (1/2)</a:t>
            </a:r>
            <a:endParaRPr lang="en-US" sz="3000" dirty="0"/>
          </a:p>
        </p:txBody>
      </p:sp>
      <p:sp>
        <p:nvSpPr>
          <p:cNvPr id="3" name="zjisteni_1"/>
          <p:cNvSpPr/>
          <p:nvPr/>
        </p:nvSpPr>
        <p:spPr>
          <a:xfrm>
            <a:off x="548640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4" name="cislo_1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zjisteni_1_text"/>
          <p:cNvSpPr txBox="1"/>
          <p:nvPr/>
        </p:nvSpPr>
        <p:spPr>
          <a:xfrm>
            <a:off x="1554480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11 pravidel stačí.</a:t>
            </a:r>
            <a:r>
              <a:rPr lang="en-US" sz="1800" dirty="0">
                <a:solidFill>
                  <a:schemeClr val="tx1"/>
                </a:solidFill>
              </a:rPr>
              <a:t> AUROC 0,807 na roce 2024 proti 0,837 plného modelu. Segmenty jsou stabilní v čase.</a:t>
            </a:r>
            <a:endParaRPr lang="en-US" sz="1800" dirty="0"/>
          </a:p>
        </p:txBody>
      </p:sp>
      <p:sp>
        <p:nvSpPr>
          <p:cNvPr id="7" name="zjisteni_2"/>
          <p:cNvSpPr/>
          <p:nvPr/>
        </p:nvSpPr>
        <p:spPr>
          <a:xfrm>
            <a:off x="6233008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cislo_2"/>
          <p:cNvSpPr/>
          <p:nvPr/>
        </p:nvSpPr>
        <p:spPr>
          <a:xfrm>
            <a:off x="6461608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160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zjisteni_2_text"/>
          <p:cNvSpPr txBox="1"/>
          <p:nvPr/>
        </p:nvSpPr>
        <p:spPr>
          <a:xfrm>
            <a:off x="7238848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Účast se liší 25×:</a:t>
            </a:r>
            <a:r>
              <a:rPr lang="en-US" sz="1800" dirty="0">
                <a:solidFill>
                  <a:schemeClr val="tx1"/>
                </a:solidFill>
              </a:rPr>
              <a:t> 60 % u první pozvánky v kontaktu se zdravotnictvím, 2–5 % u zkřížených dopisů, odpojených a opakovaně nereagujících.</a:t>
            </a:r>
            <a:endParaRPr lang="en-US" sz="1800" dirty="0"/>
          </a:p>
        </p:txBody>
      </p:sp>
      <p:sp>
        <p:nvSpPr>
          <p:cNvPr id="11" name="zjisteni_3"/>
          <p:cNvSpPr/>
          <p:nvPr/>
        </p:nvSpPr>
        <p:spPr>
          <a:xfrm>
            <a:off x="548640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cislo_3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zjisteni_3_text"/>
          <p:cNvSpPr txBox="1"/>
          <p:nvPr/>
        </p:nvSpPr>
        <p:spPr>
          <a:xfrm>
            <a:off x="1554480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59 % nepřišlých chodí ke gynekologovi nebo na jinou prevenci.</a:t>
            </a:r>
            <a:r>
              <a:rPr lang="en-US" sz="1800" dirty="0">
                <a:solidFill>
                  <a:schemeClr val="tx1"/>
                </a:solidFill>
              </a:rPr>
              <a:t> Jsou dosažitelné jinou cestou než dopisem.</a:t>
            </a:r>
            <a:endParaRPr lang="en-US" sz="1800" dirty="0"/>
          </a:p>
        </p:txBody>
      </p:sp>
      <p:sp>
        <p:nvSpPr>
          <p:cNvPr id="15" name="zjisteni_4"/>
          <p:cNvSpPr/>
          <p:nvPr/>
        </p:nvSpPr>
        <p:spPr>
          <a:xfrm>
            <a:off x="6233008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6" name="cislo_4"/>
          <p:cNvSpPr/>
          <p:nvPr/>
        </p:nvSpPr>
        <p:spPr>
          <a:xfrm>
            <a:off x="6461608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160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zjisteni_4_text"/>
          <p:cNvSpPr txBox="1"/>
          <p:nvPr/>
        </p:nvSpPr>
        <p:spPr>
          <a:xfrm>
            <a:off x="7238848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Zkřížené dopisy:</a:t>
            </a:r>
            <a:r>
              <a:rPr lang="en-US" sz="1800" dirty="0">
                <a:solidFill>
                  <a:schemeClr val="tx1"/>
                </a:solidFill>
              </a:rPr>
              <a:t> 7 600 dopisů ročně (3 %) jde ženám, které screening měly 0–1 měsíc předem.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47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Hlavní zjištění (2/2)</a:t>
            </a:r>
            <a:endParaRPr lang="en-US" sz="3000" dirty="0"/>
          </a:p>
        </p:txBody>
      </p:sp>
      <p:sp>
        <p:nvSpPr>
          <p:cNvPr id="3" name="zjisteni_5"/>
          <p:cNvSpPr/>
          <p:nvPr/>
        </p:nvSpPr>
        <p:spPr>
          <a:xfrm>
            <a:off x="548640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4" name="cislo_5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zjisteni_5_text"/>
          <p:cNvSpPr txBox="1"/>
          <p:nvPr/>
        </p:nvSpPr>
        <p:spPr>
          <a:xfrm>
            <a:off x="1554480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Segmenty bez screeningu jsou „lepkavé“.</a:t>
            </a:r>
            <a:r>
              <a:rPr lang="en-US" sz="1800" dirty="0">
                <a:solidFill>
                  <a:schemeClr val="tx1"/>
                </a:solidFill>
              </a:rPr>
              <a:t> Ve stejném segmentu zůstává 56–83 % žen. Každý rok sestoupí 9–15 % „zvaných málokrát“ do „opakovaně nereaguje“.</a:t>
            </a:r>
            <a:endParaRPr lang="en-US" sz="1800" dirty="0"/>
          </a:p>
        </p:txBody>
      </p:sp>
      <p:sp>
        <p:nvSpPr>
          <p:cNvPr id="7" name="zjisteni_6"/>
          <p:cNvSpPr/>
          <p:nvPr/>
        </p:nvSpPr>
        <p:spPr>
          <a:xfrm>
            <a:off x="6233008" y="123444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cislo_6"/>
          <p:cNvSpPr/>
          <p:nvPr/>
        </p:nvSpPr>
        <p:spPr>
          <a:xfrm>
            <a:off x="6461608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160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zjisteni_6_text"/>
          <p:cNvSpPr txBox="1"/>
          <p:nvPr/>
        </p:nvSpPr>
        <p:spPr>
          <a:xfrm>
            <a:off x="7238848" y="141732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První pozvánka je rozcestí.</a:t>
            </a:r>
            <a:r>
              <a:rPr lang="en-US" sz="1800" dirty="0">
                <a:solidFill>
                  <a:schemeClr val="tx1"/>
                </a:solidFill>
              </a:rPr>
              <a:t> Přijde 57 % žen v kontaktu se zdravotnictvím, ale jen 31–36 % žen s málo kontakty. Z nich je 13 % příští rok odpojených.</a:t>
            </a:r>
            <a:endParaRPr lang="en-US" sz="1800" dirty="0"/>
          </a:p>
        </p:txBody>
      </p:sp>
      <p:sp>
        <p:nvSpPr>
          <p:cNvPr id="11" name="zjisteni_7"/>
          <p:cNvSpPr/>
          <p:nvPr/>
        </p:nvSpPr>
        <p:spPr>
          <a:xfrm>
            <a:off x="548640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cislo_7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zjisteni_7_text"/>
          <p:cNvSpPr txBox="1"/>
          <p:nvPr/>
        </p:nvSpPr>
        <p:spPr>
          <a:xfrm>
            <a:off x="1554480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 uvnitř segmentu pomůže jen tam, kde je rozptyl:</a:t>
            </a:r>
            <a:r>
              <a:rPr lang="en-US" sz="1800" dirty="0">
                <a:solidFill>
                  <a:schemeClr val="tx1"/>
                </a:solidFill>
              </a:rPr>
              <a:t> u první pozvánky, vypadlých a žen u gynekologa.</a:t>
            </a:r>
            <a:endParaRPr lang="en-US" sz="1800" dirty="0"/>
          </a:p>
        </p:txBody>
      </p:sp>
      <p:sp>
        <p:nvSpPr>
          <p:cNvPr id="15" name="zjisteni_8"/>
          <p:cNvSpPr/>
          <p:nvPr/>
        </p:nvSpPr>
        <p:spPr>
          <a:xfrm>
            <a:off x="6233008" y="384048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6" name="cislo_8"/>
          <p:cNvSpPr/>
          <p:nvPr/>
        </p:nvSpPr>
        <p:spPr>
          <a:xfrm>
            <a:off x="6461608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160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8" name="zjisteni_8_text"/>
          <p:cNvSpPr txBox="1"/>
          <p:nvPr/>
        </p:nvSpPr>
        <p:spPr>
          <a:xfrm>
            <a:off x="7238848" y="4023360"/>
            <a:ext cx="42213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Intervenovat co nejdřív v toku:</a:t>
            </a:r>
            <a:r>
              <a:rPr lang="en-US" sz="1800" dirty="0">
                <a:solidFill>
                  <a:schemeClr val="tx1"/>
                </a:solidFill>
              </a:rPr>
              <a:t> první pozvánka a „zvaná málokrát“, dokud žena nesestoupí.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97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Návrhy experimentů (1/2)</a:t>
            </a:r>
            <a:endParaRPr lang="en-US" sz="3000" dirty="0"/>
          </a:p>
        </p:txBody>
      </p:sp>
      <p:graphicFrame>
        <p:nvGraphicFramePr>
          <p:cNvPr id="14" name="tabulka_experimenty_1"/>
          <p:cNvGraphicFramePr>
            <a:graphicFrameLocks noGrp="1"/>
          </p:cNvGraphicFramePr>
          <p:nvPr/>
        </p:nvGraphicFramePr>
        <p:xfrm>
          <a:off x="548640" y="1234440"/>
          <a:ext cx="11094415" cy="285292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Segment (2024)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Intervence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Účast 12M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MDE*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Dopis se minul (7 600)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Ověřit screening těsně před odesláním, dopis odložit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procesní změna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 pozvánka, málo kontaktů (7 100)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SMS / telefonát navíc k dopisu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3,2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 pozvánka, v kontaktu (30 300)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Lepší dopis: informace, sociální norma, předvyplněný termín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1,6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Gynekolog, zvaná málokrát (31 100)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Seznam pacientek gynekologovi, žádanka při prohlídce (klastrová RCT)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 p. b.**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poznamka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* nejmenší zjistitelný rozdíl při rozdělení ročníku segmentu napůl (α = 0,05, síla 80 %) · ** bez design efektu klastrů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1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Návrhy experimentů (2/2)</a:t>
            </a:r>
            <a:endParaRPr lang="en-US" sz="3000" dirty="0"/>
          </a:p>
        </p:txBody>
      </p:sp>
      <p:graphicFrame>
        <p:nvGraphicFramePr>
          <p:cNvPr id="15" name="tabulka_experimenty_2"/>
          <p:cNvGraphicFramePr>
            <a:graphicFrameLocks noGrp="1"/>
          </p:cNvGraphicFramePr>
          <p:nvPr/>
        </p:nvGraphicFramePr>
        <p:xfrm>
          <a:off x="548640" y="1234440"/>
          <a:ext cx="11094415" cy="2286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Segment (2024)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Intervence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Účast 12M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MDE*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Gynekolog, opakovaně nereaguje (19 900)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Objednání přímo v ordinaci místo dopisu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1,2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Jiná prevence, opakovaně nereaguje (59 900)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ramena: dopis / praktik /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bez dopisu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(non-inferiorita)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Vypadlá 3–4 roky (16 200)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Připomínka s konkrétním termínem (implementation intention)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2,2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karta_vystupy"/>
          <p:cNvSpPr/>
          <p:nvPr/>
        </p:nvSpPr>
        <p:spPr>
          <a:xfrm>
            <a:off x="548640" y="4069080"/>
            <a:ext cx="1109441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karta_vystupy_text"/>
          <p:cNvSpPr txBox="1"/>
          <p:nvPr/>
        </p:nvSpPr>
        <p:spPr>
          <a:xfrm>
            <a:off x="777240" y="420624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Společné výstupy:</a:t>
            </a:r>
            <a:r>
              <a:rPr lang="en-US" sz="1500" dirty="0">
                <a:solidFill>
                  <a:schemeClr val="tx1"/>
                </a:solidFill>
              </a:rPr>
              <a:t> účast do 3 / 6 / 12 měsíců, </a:t>
            </a:r>
            <a:r>
              <a:rPr lang="en-US" sz="1500" b="1" dirty="0">
                <a:solidFill>
                  <a:schemeClr val="tx1"/>
                </a:solidFill>
              </a:rPr>
              <a:t>sestup do horšího segmentu</a:t>
            </a:r>
            <a:r>
              <a:rPr lang="en-US" sz="1500" dirty="0">
                <a:solidFill>
                  <a:schemeClr val="tx1"/>
                </a:solidFill>
              </a:rPr>
              <a:t> při další pozvánce, náklad na získanou mamografii. Randomizace uvnitř segmentu s rozvrstvením podle územního pracoviště, analýza ITT.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81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Návrhy experimentů v aplikaci VZP</a:t>
            </a:r>
            <a:endParaRPr lang="en-US" sz="3000" dirty="0"/>
          </a:p>
        </p:txBody>
      </p:sp>
      <p:graphicFrame>
        <p:nvGraphicFramePr>
          <p:cNvPr id="16" name="tabulka_aplikace"/>
          <p:cNvGraphicFramePr>
            <a:graphicFrameLocks noGrp="1"/>
          </p:cNvGraphicFramePr>
          <p:nvPr/>
        </p:nvGraphicFramePr>
        <p:xfrm>
          <a:off x="548640" y="1234440"/>
          <a:ext cx="11094415" cy="27432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Zásah (jen uživatelky aplikace)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Cílové ženy za rok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Výchozí účast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MDE* při 10 / 20 / 30 % v aplikaci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Rezervace v aplikaci: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předrezervovaný termín, potvrzení jedním klepnutím (1. pozvánky, vypadlé 3–4 roky)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53 600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34,5 % (6M)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3,7 / 2,6 / 2,1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Push vs SMS × odkaz na rezervaci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faktoriál 2 × 2 (všechny segmenty kromě zkříženého dopisu)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248 900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19,7 %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 / 1,0 / 0,8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Dotazník bariér → cílený další krok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ženy bez účasti do 3 měsíců („zvaná málokrát“, vypadlé 4–5+ let)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67 600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14,8 % (3.–12. měsíc)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2,5 / 1,8 / 1,4 p. b.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poznamka_aplikace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* nejmenší účinek, který pokus spolehlivě odhalí, když polovina uživatelek aplikace v cílových segmentech za rok dostane zásah a polovina zůstane kontrolou (α = 0,05, síla 80 %). Podíl uživatelek aplikace mezi pozvanými ženami zatím neznáme.</a:t>
            </a:r>
            <a:endParaRPr lang="en-US" sz="1100" dirty="0"/>
          </a:p>
        </p:txBody>
      </p:sp>
      <p:sp>
        <p:nvSpPr>
          <p:cNvPr id="5" name="karta_aplikace"/>
          <p:cNvSpPr/>
          <p:nvPr/>
        </p:nvSpPr>
        <p:spPr>
          <a:xfrm>
            <a:off x="548640" y="4937760"/>
            <a:ext cx="1109441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karta_aplikace_text"/>
          <p:cNvSpPr txBox="1"/>
          <p:nvPr/>
        </p:nvSpPr>
        <p:spPr>
          <a:xfrm>
            <a:off x="777240" y="507492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Samotná push je slabá (0 až +1 p. b.); aplikace má smysl jako </a:t>
            </a:r>
            <a:r>
              <a:rPr lang="en-US" sz="1500" b="1" dirty="0">
                <a:solidFill>
                  <a:schemeClr val="tx1"/>
                </a:solidFill>
              </a:rPr>
              <a:t>levný kanál pro předrezervaci a navigaci</a:t>
            </a:r>
            <a:r>
              <a:rPr lang="en-US" sz="1500" dirty="0">
                <a:solidFill>
                  <a:schemeClr val="tx1"/>
                </a:solidFill>
              </a:rPr>
              <a:t> a jako </a:t>
            </a:r>
            <a:r>
              <a:rPr lang="en-US" sz="1500" b="1" dirty="0">
                <a:solidFill>
                  <a:schemeClr val="tx1"/>
                </a:solidFill>
              </a:rPr>
              <a:t>zdroj důvodů neúčasti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Výsledky platí jen pro uživatelky aplikace; nejtěžší segmenty zastihne nejméně.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38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PROBLÉM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Starší ženy chodí po pozvánce méně, výskyt přitom roste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Po pozvánce VZP přijde do 12 měsíců 32 % zvaných žen ve věku 45–49 let a 10 % v 70–74 letech. Ženy od 75 let data VZP neobsahují, výskyt karcinomu prsu přitom vrcholí v 75–79 letech.</a:t>
            </a:r>
            <a:endParaRPr lang="en-US" sz="130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2103120"/>
          <a:ext cx="72237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Ukazatel"/>
          <p:cNvSpPr/>
          <p:nvPr/>
        </p:nvSpPr>
        <p:spPr>
          <a:xfrm>
            <a:off x="8275320" y="2103120"/>
            <a:ext cx="31363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Ukazatel – číslo"/>
          <p:cNvSpPr txBox="1"/>
          <p:nvPr/>
        </p:nvSpPr>
        <p:spPr>
          <a:xfrm>
            <a:off x="8476488" y="221284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D27869"/>
                </a:solidFill>
              </a:rPr>
              <a:t>15,5 % vs. 0,7 %</a:t>
            </a:r>
            <a:endParaRPr lang="en-US" sz="2400"/>
          </a:p>
        </p:txBody>
      </p:sp>
      <p:sp>
        <p:nvSpPr>
          <p:cNvPr id="8" name="Ukazatel – popis"/>
          <p:cNvSpPr txBox="1"/>
          <p:nvPr/>
        </p:nvSpPr>
        <p:spPr>
          <a:xfrm>
            <a:off x="8476488" y="2706624"/>
            <a:ext cx="27340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karcinomů ve stadiu IV u žen, které na screeningu nikdy nebyly, a u žen v pravidelném screeningu</a:t>
            </a:r>
            <a:endParaRPr lang="en-US" sz="1050"/>
          </a:p>
        </p:txBody>
      </p:sp>
      <p:sp>
        <p:nvSpPr>
          <p:cNvPr id="9" name="Ukazatel"/>
          <p:cNvSpPr/>
          <p:nvPr/>
        </p:nvSpPr>
        <p:spPr>
          <a:xfrm>
            <a:off x="8275320" y="4023360"/>
            <a:ext cx="313639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Ukazatel – číslo"/>
          <p:cNvSpPr txBox="1"/>
          <p:nvPr/>
        </p:nvSpPr>
        <p:spPr>
          <a:xfrm>
            <a:off x="8476488" y="413308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≈ 8 000</a:t>
            </a:r>
            <a:endParaRPr lang="en-US" sz="2400"/>
          </a:p>
        </p:txBody>
      </p:sp>
      <p:sp>
        <p:nvSpPr>
          <p:cNvPr id="11" name="Ukazatel – popis"/>
          <p:cNvSpPr txBox="1"/>
          <p:nvPr/>
        </p:nvSpPr>
        <p:spPr>
          <a:xfrm>
            <a:off x="8476488" y="4626864"/>
            <a:ext cx="27340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nových případů karcinomu prsu ročně; ženy 70+ tvoří 38 % z nich</a:t>
            </a:r>
            <a:endParaRPr lang="en-US" sz="1050"/>
          </a:p>
        </p:txBody>
      </p:sp>
      <p:sp>
        <p:nvSpPr>
          <p:cNvPr id="12" name="Text 9"/>
          <p:cNvSpPr txBox="1"/>
          <p:nvPr/>
        </p:nvSpPr>
        <p:spPr>
          <a:xfrm>
            <a:off x="8275320" y="553212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4A4458"/>
                </a:solidFill>
              </a:rPr>
              <a:t>Pozdní záchyt znamená náročnější léčbu i horší prognózu.</a:t>
            </a:r>
            <a:endParaRPr lang="en-US" sz="1050"/>
          </a:p>
        </p:txBody>
      </p:sp>
      <p:sp>
        <p:nvSpPr>
          <p:cNvPr id="13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2026, pozvánky 2024 (účast); SVOD/NOR a ČSÚ (incidence 2020–2024); ÚZIS (stadia 2015–2017); naše analýza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PŘEDPOVĚĎ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Kdo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nepřijde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předpovíme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vysvětlitelným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modelem</a:t>
            </a:r>
            <a:endParaRPr lang="en-US" sz="2400" err="1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Model </a:t>
            </a:r>
            <a:r>
              <a:rPr lang="en-US" sz="1300" err="1">
                <a:solidFill>
                  <a:srgbClr val="4A4458"/>
                </a:solidFill>
              </a:rPr>
              <a:t>jsme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naučili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na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pozvánkách</a:t>
            </a:r>
            <a:r>
              <a:rPr lang="en-US" sz="1300">
                <a:solidFill>
                  <a:srgbClr val="4A4458"/>
                </a:solidFill>
              </a:rPr>
              <a:t> VZP z let 2020–2023 a </a:t>
            </a:r>
            <a:r>
              <a:rPr lang="en-US" sz="1300" err="1">
                <a:solidFill>
                  <a:srgbClr val="4A4458"/>
                </a:solidFill>
              </a:rPr>
              <a:t>ověřili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na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roce</a:t>
            </a:r>
            <a:r>
              <a:rPr lang="en-US" sz="1300">
                <a:solidFill>
                  <a:srgbClr val="4A4458"/>
                </a:solidFill>
              </a:rPr>
              <a:t> 2024. Data </a:t>
            </a:r>
            <a:r>
              <a:rPr lang="en-US" sz="1300" err="1">
                <a:solidFill>
                  <a:srgbClr val="4A4458"/>
                </a:solidFill>
              </a:rPr>
              <a:t>obsahovala</a:t>
            </a:r>
            <a:r>
              <a:rPr lang="en-US" sz="1300">
                <a:solidFill>
                  <a:srgbClr val="4A4458"/>
                </a:solidFill>
              </a:rPr>
              <a:t> 1,34 mil. </a:t>
            </a:r>
            <a:r>
              <a:rPr lang="en-US" sz="1300" err="1">
                <a:solidFill>
                  <a:srgbClr val="4A4458"/>
                </a:solidFill>
              </a:rPr>
              <a:t>pozvánek</a:t>
            </a:r>
            <a:r>
              <a:rPr lang="en-US" sz="1300">
                <a:solidFill>
                  <a:srgbClr val="4A4458"/>
                </a:solidFill>
              </a:rPr>
              <a:t> pro 508 tis. </a:t>
            </a:r>
            <a:r>
              <a:rPr lang="en-US" sz="1300" err="1">
                <a:solidFill>
                  <a:srgbClr val="4A4458"/>
                </a:solidFill>
              </a:rPr>
              <a:t>žen</a:t>
            </a:r>
            <a:r>
              <a:rPr lang="en-US" sz="1300">
                <a:solidFill>
                  <a:srgbClr val="4A4458"/>
                </a:solidFill>
              </a:rPr>
              <a:t>.</a:t>
            </a:r>
            <a:endParaRPr lang="en-US" sz="1300"/>
          </a:p>
        </p:txBody>
      </p:sp>
      <p:sp>
        <p:nvSpPr>
          <p:cNvPr id="5" name="Ukazatel"/>
          <p:cNvSpPr/>
          <p:nvPr/>
        </p:nvSpPr>
        <p:spPr>
          <a:xfrm>
            <a:off x="777240" y="2194560"/>
            <a:ext cx="248716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Ukazatel – číslo"/>
          <p:cNvSpPr txBox="1"/>
          <p:nvPr/>
        </p:nvSpPr>
        <p:spPr>
          <a:xfrm>
            <a:off x="978408" y="230428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AUC 0,83</a:t>
            </a:r>
            <a:endParaRPr lang="en-US" sz="2400"/>
          </a:p>
        </p:txBody>
      </p:sp>
      <p:sp>
        <p:nvSpPr>
          <p:cNvPr id="7" name="Ukazatel – popis"/>
          <p:cNvSpPr txBox="1"/>
          <p:nvPr/>
        </p:nvSpPr>
        <p:spPr>
          <a:xfrm>
            <a:off x="978408" y="2798064"/>
            <a:ext cx="20848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schopnost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seřadit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ženy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podle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šance</a:t>
            </a:r>
            <a:r>
              <a:rPr lang="en-US" sz="1050">
                <a:solidFill>
                  <a:srgbClr val="4A4458"/>
                </a:solidFill>
              </a:rPr>
              <a:t>, </a:t>
            </a:r>
            <a:r>
              <a:rPr lang="en-US" sz="1050" err="1">
                <a:solidFill>
                  <a:srgbClr val="4A4458"/>
                </a:solidFill>
              </a:rPr>
              <a:t>že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přijdou</a:t>
            </a:r>
            <a:r>
              <a:rPr lang="en-US" sz="1050">
                <a:solidFill>
                  <a:srgbClr val="4A4458"/>
                </a:solidFill>
              </a:rPr>
              <a:t> (test </a:t>
            </a:r>
            <a:r>
              <a:rPr lang="en-US" sz="1050" err="1">
                <a:solidFill>
                  <a:srgbClr val="4A4458"/>
                </a:solidFill>
              </a:rPr>
              <a:t>na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roce</a:t>
            </a:r>
            <a:r>
              <a:rPr lang="en-US" sz="1050">
                <a:solidFill>
                  <a:srgbClr val="4A4458"/>
                </a:solidFill>
              </a:rPr>
              <a:t> 2024)</a:t>
            </a:r>
            <a:endParaRPr lang="en-US" sz="1050"/>
          </a:p>
        </p:txBody>
      </p:sp>
      <p:sp>
        <p:nvSpPr>
          <p:cNvPr id="8" name="Ukazatel"/>
          <p:cNvSpPr/>
          <p:nvPr/>
        </p:nvSpPr>
        <p:spPr>
          <a:xfrm>
            <a:off x="3493008" y="2194560"/>
            <a:ext cx="248716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Ukazatel – číslo"/>
          <p:cNvSpPr txBox="1"/>
          <p:nvPr/>
        </p:nvSpPr>
        <p:spPr>
          <a:xfrm>
            <a:off x="3694176" y="230428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67 % vs. 2 %</a:t>
            </a:r>
            <a:endParaRPr lang="en-US" sz="2400"/>
          </a:p>
        </p:txBody>
      </p:sp>
      <p:sp>
        <p:nvSpPr>
          <p:cNvPr id="10" name="Ukazatel – popis"/>
          <p:cNvSpPr txBox="1"/>
          <p:nvPr/>
        </p:nvSpPr>
        <p:spPr>
          <a:xfrm>
            <a:off x="3694176" y="2798064"/>
            <a:ext cx="20848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účast</a:t>
            </a:r>
            <a:r>
              <a:rPr lang="en-US" sz="1050">
                <a:solidFill>
                  <a:srgbClr val="4A4458"/>
                </a:solidFill>
              </a:rPr>
              <a:t> v </a:t>
            </a:r>
            <a:r>
              <a:rPr lang="en-US" sz="1050" err="1">
                <a:solidFill>
                  <a:srgbClr val="4A4458"/>
                </a:solidFill>
              </a:rPr>
              <a:t>horním</a:t>
            </a:r>
            <a:r>
              <a:rPr lang="en-US" sz="1050">
                <a:solidFill>
                  <a:srgbClr val="4A4458"/>
                </a:solidFill>
              </a:rPr>
              <a:t> a </a:t>
            </a:r>
            <a:r>
              <a:rPr lang="en-US" sz="1050" err="1">
                <a:solidFill>
                  <a:srgbClr val="4A4458"/>
                </a:solidFill>
              </a:rPr>
              <a:t>dolním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decilu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skóre</a:t>
            </a:r>
            <a:endParaRPr lang="en-US" sz="1050" err="1"/>
          </a:p>
        </p:txBody>
      </p:sp>
      <p:sp>
        <p:nvSpPr>
          <p:cNvPr id="11" name="Ukazatel"/>
          <p:cNvSpPr/>
          <p:nvPr/>
        </p:nvSpPr>
        <p:spPr>
          <a:xfrm>
            <a:off x="6208776" y="2194560"/>
            <a:ext cx="248716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Ukazatel – číslo"/>
          <p:cNvSpPr txBox="1"/>
          <p:nvPr/>
        </p:nvSpPr>
        <p:spPr>
          <a:xfrm>
            <a:off x="6409944" y="230428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58 %</a:t>
            </a:r>
            <a:endParaRPr lang="en-US" sz="2400"/>
          </a:p>
        </p:txBody>
      </p:sp>
      <p:sp>
        <p:nvSpPr>
          <p:cNvPr id="13" name="Ukazatel – popis"/>
          <p:cNvSpPr txBox="1"/>
          <p:nvPr/>
        </p:nvSpPr>
        <p:spPr>
          <a:xfrm>
            <a:off x="6409944" y="2798064"/>
            <a:ext cx="20848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všech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účastí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přinese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horních</a:t>
            </a:r>
            <a:r>
              <a:rPr lang="en-US" sz="1050">
                <a:solidFill>
                  <a:srgbClr val="4A4458"/>
                </a:solidFill>
              </a:rPr>
              <a:t> 20 % </a:t>
            </a:r>
            <a:r>
              <a:rPr lang="en-US" sz="1050" err="1">
                <a:solidFill>
                  <a:srgbClr val="4A4458"/>
                </a:solidFill>
              </a:rPr>
              <a:t>pozvánek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podle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skóre</a:t>
            </a:r>
            <a:endParaRPr lang="en-US" sz="1050" err="1"/>
          </a:p>
        </p:txBody>
      </p:sp>
      <p:sp>
        <p:nvSpPr>
          <p:cNvPr id="17" name="Proč tento model"/>
          <p:cNvSpPr/>
          <p:nvPr/>
        </p:nvSpPr>
        <p:spPr>
          <a:xfrm>
            <a:off x="777240" y="3611880"/>
            <a:ext cx="519379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 txBox="1"/>
          <p:nvPr/>
        </p:nvSpPr>
        <p:spPr>
          <a:xfrm>
            <a:off x="105156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230F3C"/>
                </a:solidFill>
              </a:rPr>
              <a:t>Proč</a:t>
            </a:r>
            <a:r>
              <a:rPr lang="en-US" sz="1300" b="1">
                <a:solidFill>
                  <a:srgbClr val="230F3C"/>
                </a:solidFill>
              </a:rPr>
              <a:t> </a:t>
            </a:r>
            <a:r>
              <a:rPr lang="en-US" sz="1300" b="1" err="1">
                <a:solidFill>
                  <a:srgbClr val="230F3C"/>
                </a:solidFill>
              </a:rPr>
              <a:t>logistická</a:t>
            </a:r>
            <a:r>
              <a:rPr lang="en-US" sz="1300" b="1">
                <a:solidFill>
                  <a:srgbClr val="230F3C"/>
                </a:solidFill>
              </a:rPr>
              <a:t> </a:t>
            </a:r>
            <a:r>
              <a:rPr lang="en-US" sz="1300" b="1" err="1">
                <a:solidFill>
                  <a:srgbClr val="230F3C"/>
                </a:solidFill>
              </a:rPr>
              <a:t>regrese</a:t>
            </a:r>
            <a:endParaRPr lang="en-US" sz="1300" err="1"/>
          </a:p>
        </p:txBody>
      </p:sp>
      <p:sp>
        <p:nvSpPr>
          <p:cNvPr id="19" name="Text 17"/>
          <p:cNvSpPr txBox="1"/>
          <p:nvPr/>
        </p:nvSpPr>
        <p:spPr>
          <a:xfrm>
            <a:off x="105156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err="1">
                <a:solidFill>
                  <a:srgbClr val="4A4458"/>
                </a:solidFill>
              </a:rPr>
              <a:t>Složitější</a:t>
            </a:r>
            <a:r>
              <a:rPr lang="en-US" sz="1200">
                <a:solidFill>
                  <a:srgbClr val="4A4458"/>
                </a:solidFill>
              </a:rPr>
              <a:t> model (gradient boosting) </a:t>
            </a:r>
            <a:r>
              <a:rPr lang="en-US" sz="1200" err="1">
                <a:solidFill>
                  <a:srgbClr val="4A4458"/>
                </a:solidFill>
              </a:rPr>
              <a:t>přidá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jen</a:t>
            </a:r>
            <a:r>
              <a:rPr lang="en-US" sz="1200">
                <a:solidFill>
                  <a:srgbClr val="4A4458"/>
                </a:solidFill>
              </a:rPr>
              <a:t> 0,005 AUC.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err="1">
                <a:solidFill>
                  <a:srgbClr val="4A4458"/>
                </a:solidFill>
              </a:rPr>
              <a:t>Bodovou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kartu</a:t>
            </a:r>
            <a:r>
              <a:rPr lang="en-US" sz="1200">
                <a:solidFill>
                  <a:srgbClr val="4A4458"/>
                </a:solidFill>
              </a:rPr>
              <a:t> VZP </a:t>
            </a:r>
            <a:r>
              <a:rPr lang="en-US" sz="1200" err="1">
                <a:solidFill>
                  <a:srgbClr val="4A4458"/>
                </a:solidFill>
              </a:rPr>
              <a:t>spočítá</a:t>
            </a:r>
            <a:r>
              <a:rPr lang="en-US" sz="1200">
                <a:solidFill>
                  <a:srgbClr val="4A4458"/>
                </a:solidFill>
              </a:rPr>
              <a:t> v SQL </a:t>
            </a:r>
            <a:r>
              <a:rPr lang="en-US" sz="1200" err="1">
                <a:solidFill>
                  <a:srgbClr val="4A4458"/>
                </a:solidFill>
              </a:rPr>
              <a:t>nebo</a:t>
            </a:r>
            <a:r>
              <a:rPr lang="en-US" sz="1200">
                <a:solidFill>
                  <a:srgbClr val="4A4458"/>
                </a:solidFill>
              </a:rPr>
              <a:t> v </a:t>
            </a:r>
            <a:r>
              <a:rPr lang="en-US" sz="1200" err="1">
                <a:solidFill>
                  <a:srgbClr val="4A4458"/>
                </a:solidFill>
              </a:rPr>
              <a:t>Excelu</a:t>
            </a:r>
            <a:r>
              <a:rPr lang="en-US" sz="1200">
                <a:solidFill>
                  <a:srgbClr val="4A4458"/>
                </a:solidFill>
              </a:rPr>
              <a:t>, bez </a:t>
            </a:r>
            <a:r>
              <a:rPr lang="en-US" sz="1200" err="1">
                <a:solidFill>
                  <a:srgbClr val="4A4458"/>
                </a:solidFill>
              </a:rPr>
              <a:t>nového</a:t>
            </a:r>
            <a:r>
              <a:rPr lang="en-US" sz="1200">
                <a:solidFill>
                  <a:srgbClr val="4A4458"/>
                </a:solidFill>
              </a:rPr>
              <a:t> IT.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458"/>
                </a:solidFill>
              </a:rPr>
              <a:t>Model </a:t>
            </a:r>
            <a:r>
              <a:rPr lang="en-US" sz="1200" err="1">
                <a:solidFill>
                  <a:srgbClr val="4A4458"/>
                </a:solidFill>
              </a:rPr>
              <a:t>přežití</a:t>
            </a:r>
            <a:r>
              <a:rPr lang="en-US" sz="1200">
                <a:solidFill>
                  <a:srgbClr val="4A4458"/>
                </a:solidFill>
              </a:rPr>
              <a:t> s </a:t>
            </a:r>
            <a:r>
              <a:rPr lang="en-US" sz="1200" err="1">
                <a:solidFill>
                  <a:srgbClr val="4A4458"/>
                </a:solidFill>
              </a:rPr>
              <a:t>vysvětlením</a:t>
            </a:r>
            <a:r>
              <a:rPr lang="en-US" sz="1200">
                <a:solidFill>
                  <a:srgbClr val="4A4458"/>
                </a:solidFill>
              </a:rPr>
              <a:t> SHAP </a:t>
            </a:r>
            <a:r>
              <a:rPr lang="en-US" sz="1200" err="1">
                <a:solidFill>
                  <a:srgbClr val="4A4458"/>
                </a:solidFill>
              </a:rPr>
              <a:t>potvrzuje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stejné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faktory</a:t>
            </a:r>
            <a:r>
              <a:rPr lang="en-US" sz="1200">
                <a:solidFill>
                  <a:srgbClr val="4A4458"/>
                </a:solidFill>
              </a:rPr>
              <a:t>.</a:t>
            </a:r>
            <a:endParaRPr lang="en-US" sz="1200"/>
          </a:p>
        </p:txBody>
      </p:sp>
      <p:sp>
        <p:nvSpPr>
          <p:cNvPr id="20" name="Omezení"/>
          <p:cNvSpPr/>
          <p:nvPr/>
        </p:nvSpPr>
        <p:spPr>
          <a:xfrm>
            <a:off x="6217920" y="3611880"/>
            <a:ext cx="519379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 txBox="1"/>
          <p:nvPr/>
        </p:nvSpPr>
        <p:spPr>
          <a:xfrm>
            <a:off x="649224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0F3C"/>
                </a:solidFill>
              </a:rPr>
              <a:t>Na co </a:t>
            </a:r>
            <a:r>
              <a:rPr lang="en-US" sz="1300" b="1" err="1">
                <a:solidFill>
                  <a:srgbClr val="230F3C"/>
                </a:solidFill>
              </a:rPr>
              <a:t>si</a:t>
            </a:r>
            <a:r>
              <a:rPr lang="en-US" sz="1300" b="1">
                <a:solidFill>
                  <a:srgbClr val="230F3C"/>
                </a:solidFill>
              </a:rPr>
              <a:t> </a:t>
            </a:r>
            <a:r>
              <a:rPr lang="en-US" sz="1300" b="1" err="1">
                <a:solidFill>
                  <a:srgbClr val="230F3C"/>
                </a:solidFill>
              </a:rPr>
              <a:t>dát</a:t>
            </a:r>
            <a:r>
              <a:rPr lang="en-US" sz="1300" b="1">
                <a:solidFill>
                  <a:srgbClr val="230F3C"/>
                </a:solidFill>
              </a:rPr>
              <a:t> </a:t>
            </a:r>
            <a:r>
              <a:rPr lang="en-US" sz="1300" b="1" err="1">
                <a:solidFill>
                  <a:srgbClr val="230F3C"/>
                </a:solidFill>
              </a:rPr>
              <a:t>pozor</a:t>
            </a:r>
            <a:endParaRPr lang="en-US" sz="1300" err="1"/>
          </a:p>
        </p:txBody>
      </p:sp>
      <p:sp>
        <p:nvSpPr>
          <p:cNvPr id="22" name="Text 20"/>
          <p:cNvSpPr txBox="1"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458"/>
                </a:solidFill>
              </a:rPr>
              <a:t>Model </a:t>
            </a:r>
            <a:r>
              <a:rPr lang="en-US" sz="1200" err="1">
                <a:solidFill>
                  <a:srgbClr val="4A4458"/>
                </a:solidFill>
              </a:rPr>
              <a:t>říká</a:t>
            </a:r>
            <a:r>
              <a:rPr lang="en-US" sz="1200">
                <a:solidFill>
                  <a:srgbClr val="4A4458"/>
                </a:solidFill>
              </a:rPr>
              <a:t>, </a:t>
            </a:r>
            <a:r>
              <a:rPr lang="en-US" sz="1200" err="1">
                <a:solidFill>
                  <a:srgbClr val="4A4458"/>
                </a:solidFill>
              </a:rPr>
              <a:t>kdo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přijde</a:t>
            </a:r>
            <a:r>
              <a:rPr lang="en-US" sz="1200">
                <a:solidFill>
                  <a:srgbClr val="4A4458"/>
                </a:solidFill>
              </a:rPr>
              <a:t>, ne </a:t>
            </a:r>
            <a:r>
              <a:rPr lang="en-US" sz="1200" err="1">
                <a:solidFill>
                  <a:srgbClr val="4A4458"/>
                </a:solidFill>
              </a:rPr>
              <a:t>komu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intervence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pomůže</a:t>
            </a:r>
            <a:r>
              <a:rPr lang="en-US" sz="1200">
                <a:solidFill>
                  <a:srgbClr val="4A4458"/>
                </a:solidFill>
              </a:rPr>
              <a:t>. To </a:t>
            </a:r>
            <a:r>
              <a:rPr lang="en-US" sz="1200" err="1">
                <a:solidFill>
                  <a:srgbClr val="4A4458"/>
                </a:solidFill>
              </a:rPr>
              <a:t>ukáže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až</a:t>
            </a:r>
            <a:r>
              <a:rPr lang="en-US" sz="1200">
                <a:solidFill>
                  <a:srgbClr val="4A4458"/>
                </a:solidFill>
              </a:rPr>
              <a:t> experiment.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err="1">
                <a:solidFill>
                  <a:srgbClr val="4A4458"/>
                </a:solidFill>
              </a:rPr>
              <a:t>Kalibraci</a:t>
            </a:r>
            <a:r>
              <a:rPr lang="en-US" sz="1200">
                <a:solidFill>
                  <a:srgbClr val="4A4458"/>
                </a:solidFill>
              </a:rPr>
              <a:t> je </a:t>
            </a:r>
            <a:r>
              <a:rPr lang="en-US" sz="1200" err="1">
                <a:solidFill>
                  <a:srgbClr val="4A4458"/>
                </a:solidFill>
              </a:rPr>
              <a:t>potřeba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pravidelně</a:t>
            </a:r>
            <a:r>
              <a:rPr lang="en-US" sz="1200">
                <a:solidFill>
                  <a:srgbClr val="4A4458"/>
                </a:solidFill>
              </a:rPr>
              <a:t> </a:t>
            </a:r>
            <a:r>
              <a:rPr lang="en-US" sz="1200" err="1">
                <a:solidFill>
                  <a:srgbClr val="4A4458"/>
                </a:solidFill>
              </a:rPr>
              <a:t>přepočítávat</a:t>
            </a:r>
            <a:r>
              <a:rPr lang="en-US" sz="1200">
                <a:solidFill>
                  <a:srgbClr val="4A4458"/>
                </a:solidFill>
              </a:rPr>
              <a:t>.</a:t>
            </a:r>
            <a:endParaRPr lang="en-US" sz="1200"/>
          </a:p>
        </p:txBody>
      </p:sp>
      <p:sp>
        <p:nvSpPr>
          <p:cNvPr id="23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8A8597"/>
                </a:solidFill>
              </a:rPr>
              <a:t>Zdroj</a:t>
            </a:r>
            <a:r>
              <a:rPr lang="en-US" sz="900">
                <a:solidFill>
                  <a:srgbClr val="8A8597"/>
                </a:solidFill>
              </a:rPr>
              <a:t>: data VZP pro </a:t>
            </a:r>
            <a:r>
              <a:rPr lang="en-US" sz="900" err="1">
                <a:solidFill>
                  <a:srgbClr val="8A8597"/>
                </a:solidFill>
              </a:rPr>
              <a:t>Rakathon</a:t>
            </a:r>
            <a:r>
              <a:rPr lang="en-US" sz="900">
                <a:solidFill>
                  <a:srgbClr val="8A8597"/>
                </a:solidFill>
              </a:rPr>
              <a:t> 2026, </a:t>
            </a:r>
            <a:r>
              <a:rPr lang="en-US" sz="900" err="1">
                <a:solidFill>
                  <a:srgbClr val="8A8597"/>
                </a:solidFill>
              </a:rPr>
              <a:t>pozvánky</a:t>
            </a:r>
            <a:r>
              <a:rPr lang="en-US" sz="900">
                <a:solidFill>
                  <a:srgbClr val="8A8597"/>
                </a:solidFill>
              </a:rPr>
              <a:t> 2020–2024; </a:t>
            </a:r>
            <a:r>
              <a:rPr lang="en-US" sz="900" err="1">
                <a:solidFill>
                  <a:srgbClr val="8A8597"/>
                </a:solidFill>
              </a:rPr>
              <a:t>naše</a:t>
            </a:r>
            <a:r>
              <a:rPr lang="en-US" sz="900">
                <a:solidFill>
                  <a:srgbClr val="8A8597"/>
                </a:solidFill>
              </a:rPr>
              <a:t> </a:t>
            </a:r>
            <a:r>
              <a:rPr lang="en-US" sz="900" err="1">
                <a:solidFill>
                  <a:srgbClr val="8A8597"/>
                </a:solidFill>
              </a:rPr>
              <a:t>analýza</a:t>
            </a:r>
            <a:endParaRPr lang="en-US" sz="900" err="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HLAVNÍ PŘÍČINY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 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věkem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mizí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gynekologická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prevence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praktik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mamograf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neposílá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Mezi </a:t>
            </a:r>
            <a:r>
              <a:rPr lang="en-US" sz="1300" err="1">
                <a:solidFill>
                  <a:srgbClr val="4A4458"/>
                </a:solidFill>
              </a:rPr>
              <a:t>ženami</a:t>
            </a:r>
            <a:r>
              <a:rPr lang="en-US" sz="1300">
                <a:solidFill>
                  <a:srgbClr val="4A4458"/>
                </a:solidFill>
              </a:rPr>
              <a:t>, </a:t>
            </a:r>
            <a:r>
              <a:rPr lang="en-US" sz="1300" err="1">
                <a:solidFill>
                  <a:srgbClr val="4A4458"/>
                </a:solidFill>
              </a:rPr>
              <a:t>které</a:t>
            </a:r>
            <a:r>
              <a:rPr lang="en-US" sz="1300">
                <a:solidFill>
                  <a:srgbClr val="4A4458"/>
                </a:solidFill>
              </a:rPr>
              <a:t> VZP </a:t>
            </a:r>
            <a:r>
              <a:rPr lang="en-US" sz="1300" err="1">
                <a:solidFill>
                  <a:srgbClr val="4A4458"/>
                </a:solidFill>
              </a:rPr>
              <a:t>zve</a:t>
            </a:r>
            <a:r>
              <a:rPr lang="en-US" sz="1300">
                <a:solidFill>
                  <a:srgbClr val="4A4458"/>
                </a:solidFill>
              </a:rPr>
              <a:t>, </a:t>
            </a:r>
            <a:r>
              <a:rPr lang="en-US" sz="1300" err="1">
                <a:solidFill>
                  <a:srgbClr val="4A4458"/>
                </a:solidFill>
              </a:rPr>
              <a:t>klesá</a:t>
            </a:r>
            <a:r>
              <a:rPr lang="en-US" sz="1300">
                <a:solidFill>
                  <a:srgbClr val="4A4458"/>
                </a:solidFill>
              </a:rPr>
              <a:t> s </a:t>
            </a:r>
            <a:r>
              <a:rPr lang="en-US" sz="1300" err="1">
                <a:solidFill>
                  <a:srgbClr val="4A4458"/>
                </a:solidFill>
              </a:rPr>
              <a:t>věkem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podíl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těch</a:t>
            </a:r>
            <a:r>
              <a:rPr lang="en-US" sz="1300">
                <a:solidFill>
                  <a:srgbClr val="4A4458"/>
                </a:solidFill>
              </a:rPr>
              <a:t> s </a:t>
            </a:r>
            <a:r>
              <a:rPr lang="en-US" sz="1300" err="1">
                <a:solidFill>
                  <a:srgbClr val="4A4458"/>
                </a:solidFill>
              </a:rPr>
              <a:t>preventivní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prohlídkou</a:t>
            </a:r>
            <a:r>
              <a:rPr lang="en-US" sz="1300">
                <a:solidFill>
                  <a:srgbClr val="4A4458"/>
                </a:solidFill>
              </a:rPr>
              <a:t> u </a:t>
            </a:r>
            <a:r>
              <a:rPr lang="en-US" sz="1300" err="1">
                <a:solidFill>
                  <a:srgbClr val="4A4458"/>
                </a:solidFill>
              </a:rPr>
              <a:t>gynekologa</a:t>
            </a:r>
            <a:r>
              <a:rPr lang="en-US" sz="1300">
                <a:solidFill>
                  <a:srgbClr val="4A4458"/>
                </a:solidFill>
              </a:rPr>
              <a:t> ze 61 % </a:t>
            </a:r>
            <a:r>
              <a:rPr lang="en-US" sz="1300" err="1">
                <a:solidFill>
                  <a:srgbClr val="4A4458"/>
                </a:solidFill>
              </a:rPr>
              <a:t>na</a:t>
            </a:r>
            <a:r>
              <a:rPr lang="en-US" sz="1300">
                <a:solidFill>
                  <a:srgbClr val="4A4458"/>
                </a:solidFill>
              </a:rPr>
              <a:t> 15 %. </a:t>
            </a:r>
            <a:r>
              <a:rPr lang="en-US" sz="1300" err="1">
                <a:solidFill>
                  <a:srgbClr val="4A4458"/>
                </a:solidFill>
              </a:rPr>
              <a:t>Prevence</a:t>
            </a:r>
            <a:r>
              <a:rPr lang="en-US" sz="1300">
                <a:solidFill>
                  <a:srgbClr val="4A4458"/>
                </a:solidFill>
              </a:rPr>
              <a:t> u </a:t>
            </a:r>
            <a:r>
              <a:rPr lang="en-US" sz="1300" err="1">
                <a:solidFill>
                  <a:srgbClr val="4A4458"/>
                </a:solidFill>
              </a:rPr>
              <a:t>praktika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zůstává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kolem</a:t>
            </a:r>
            <a:r>
              <a:rPr lang="en-US" sz="1300">
                <a:solidFill>
                  <a:srgbClr val="4A4458"/>
                </a:solidFill>
              </a:rPr>
              <a:t> 40 %, s </a:t>
            </a:r>
            <a:r>
              <a:rPr lang="en-US" sz="1300" err="1">
                <a:solidFill>
                  <a:srgbClr val="4A4458"/>
                </a:solidFill>
              </a:rPr>
              <a:t>účastí</a:t>
            </a:r>
            <a:r>
              <a:rPr lang="en-US" sz="1300">
                <a:solidFill>
                  <a:srgbClr val="4A4458"/>
                </a:solidFill>
              </a:rPr>
              <a:t> ale </a:t>
            </a:r>
            <a:r>
              <a:rPr lang="en-US" sz="1300" err="1">
                <a:solidFill>
                  <a:srgbClr val="4A4458"/>
                </a:solidFill>
              </a:rPr>
              <a:t>nesouvisí</a:t>
            </a:r>
            <a:r>
              <a:rPr lang="en-US" sz="1300">
                <a:solidFill>
                  <a:srgbClr val="4A4458"/>
                </a:solidFill>
              </a:rPr>
              <a:t>.</a:t>
            </a:r>
            <a:endParaRPr lang="en-US" sz="130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214884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Ukazatel"/>
          <p:cNvSpPr/>
          <p:nvPr/>
        </p:nvSpPr>
        <p:spPr>
          <a:xfrm>
            <a:off x="8001000" y="2148840"/>
            <a:ext cx="34107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Ukazatel – číslo"/>
          <p:cNvSpPr txBox="1"/>
          <p:nvPr/>
        </p:nvSpPr>
        <p:spPr>
          <a:xfrm>
            <a:off x="8202168" y="225856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1,4–1,6×</a:t>
            </a:r>
            <a:endParaRPr lang="en-US" sz="2400"/>
          </a:p>
        </p:txBody>
      </p:sp>
      <p:sp>
        <p:nvSpPr>
          <p:cNvPr id="8" name="Ukazatel – popis"/>
          <p:cNvSpPr txBox="1"/>
          <p:nvPr/>
        </p:nvSpPr>
        <p:spPr>
          <a:xfrm>
            <a:off x="8202168" y="2752344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vyšší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šance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přijít</a:t>
            </a:r>
            <a:r>
              <a:rPr lang="en-US" sz="1050">
                <a:solidFill>
                  <a:srgbClr val="4A4458"/>
                </a:solidFill>
              </a:rPr>
              <a:t> u </a:t>
            </a:r>
            <a:r>
              <a:rPr lang="en-US" sz="1050" err="1">
                <a:solidFill>
                  <a:srgbClr val="4A4458"/>
                </a:solidFill>
              </a:rPr>
              <a:t>žen</a:t>
            </a:r>
            <a:r>
              <a:rPr lang="en-US" sz="1050">
                <a:solidFill>
                  <a:srgbClr val="4A4458"/>
                </a:solidFill>
              </a:rPr>
              <a:t> s </a:t>
            </a:r>
            <a:r>
              <a:rPr lang="en-US" sz="1050" err="1">
                <a:solidFill>
                  <a:srgbClr val="4A4458"/>
                </a:solidFill>
              </a:rPr>
              <a:t>gynekologickou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prevencí</a:t>
            </a:r>
            <a:r>
              <a:rPr lang="en-US" sz="1050">
                <a:solidFill>
                  <a:srgbClr val="4A4458"/>
                </a:solidFill>
              </a:rPr>
              <a:t>, v </a:t>
            </a:r>
            <a:r>
              <a:rPr lang="en-US" sz="1050" err="1">
                <a:solidFill>
                  <a:srgbClr val="4A4458"/>
                </a:solidFill>
              </a:rPr>
              <a:t>každém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věku</a:t>
            </a:r>
            <a:endParaRPr lang="en-US" sz="1050" err="1"/>
          </a:p>
        </p:txBody>
      </p:sp>
      <p:sp>
        <p:nvSpPr>
          <p:cNvPr id="9" name="Ukazatel"/>
          <p:cNvSpPr/>
          <p:nvPr/>
        </p:nvSpPr>
        <p:spPr>
          <a:xfrm>
            <a:off x="8001000" y="3520440"/>
            <a:ext cx="34107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Ukazatel – číslo"/>
          <p:cNvSpPr txBox="1"/>
          <p:nvPr/>
        </p:nvSpPr>
        <p:spPr>
          <a:xfrm>
            <a:off x="8202168" y="363016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D7CC9"/>
                </a:solidFill>
              </a:rPr>
              <a:t>1,0×</a:t>
            </a:r>
            <a:endParaRPr lang="en-US" sz="2400"/>
          </a:p>
        </p:txBody>
      </p:sp>
      <p:sp>
        <p:nvSpPr>
          <p:cNvPr id="11" name="Ukazatel – popis"/>
          <p:cNvSpPr txBox="1"/>
          <p:nvPr/>
        </p:nvSpPr>
        <p:spPr>
          <a:xfrm>
            <a:off x="8202168" y="4123944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šance</a:t>
            </a:r>
            <a:r>
              <a:rPr lang="en-US" sz="1050">
                <a:solidFill>
                  <a:srgbClr val="4A4458"/>
                </a:solidFill>
              </a:rPr>
              <a:t> u </a:t>
            </a:r>
            <a:r>
              <a:rPr lang="en-US" sz="1050" err="1">
                <a:solidFill>
                  <a:srgbClr val="4A4458"/>
                </a:solidFill>
              </a:rPr>
              <a:t>žen</a:t>
            </a:r>
            <a:r>
              <a:rPr lang="en-US" sz="1050">
                <a:solidFill>
                  <a:srgbClr val="4A4458"/>
                </a:solidFill>
              </a:rPr>
              <a:t> s </a:t>
            </a:r>
            <a:r>
              <a:rPr lang="en-US" sz="1050" err="1">
                <a:solidFill>
                  <a:srgbClr val="4A4458"/>
                </a:solidFill>
              </a:rPr>
              <a:t>prevencí</a:t>
            </a:r>
            <a:r>
              <a:rPr lang="en-US" sz="1050">
                <a:solidFill>
                  <a:srgbClr val="4A4458"/>
                </a:solidFill>
              </a:rPr>
              <a:t> u </a:t>
            </a:r>
            <a:r>
              <a:rPr lang="en-US" sz="1050" err="1">
                <a:solidFill>
                  <a:srgbClr val="4A4458"/>
                </a:solidFill>
              </a:rPr>
              <a:t>praktika</a:t>
            </a:r>
            <a:r>
              <a:rPr lang="en-US" sz="1050">
                <a:solidFill>
                  <a:srgbClr val="4A4458"/>
                </a:solidFill>
              </a:rPr>
              <a:t>: </a:t>
            </a:r>
            <a:r>
              <a:rPr lang="en-US" sz="1050" err="1">
                <a:solidFill>
                  <a:srgbClr val="4A4458"/>
                </a:solidFill>
              </a:rPr>
              <a:t>praktik</a:t>
            </a:r>
            <a:r>
              <a:rPr lang="en-US" sz="1050">
                <a:solidFill>
                  <a:srgbClr val="4A4458"/>
                </a:solidFill>
              </a:rPr>
              <a:t> je </a:t>
            </a:r>
            <a:r>
              <a:rPr lang="en-US" sz="1050" err="1">
                <a:solidFill>
                  <a:srgbClr val="4A4458"/>
                </a:solidFill>
              </a:rPr>
              <a:t>dnes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na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mamograf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zjevně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neposílá</a:t>
            </a:r>
            <a:endParaRPr lang="en-US" sz="1050" err="1"/>
          </a:p>
        </p:txBody>
      </p:sp>
      <p:sp>
        <p:nvSpPr>
          <p:cNvPr id="12" name="Ukazatel"/>
          <p:cNvSpPr/>
          <p:nvPr/>
        </p:nvSpPr>
        <p:spPr>
          <a:xfrm>
            <a:off x="8001000" y="4892040"/>
            <a:ext cx="34107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Ukazatel – číslo"/>
          <p:cNvSpPr txBox="1"/>
          <p:nvPr/>
        </p:nvSpPr>
        <p:spPr>
          <a:xfrm>
            <a:off x="8202168" y="500176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D27869"/>
                </a:solidFill>
              </a:rPr>
              <a:t>0 </a:t>
            </a:r>
            <a:r>
              <a:rPr lang="en-US" sz="2400" b="1" err="1">
                <a:solidFill>
                  <a:srgbClr val="D27869"/>
                </a:solidFill>
              </a:rPr>
              <a:t>Kč</a:t>
            </a:r>
            <a:endParaRPr lang="en-US" sz="2400" err="1"/>
          </a:p>
        </p:txBody>
      </p:sp>
      <p:sp>
        <p:nvSpPr>
          <p:cNvPr id="14" name="Ukazatel – popis"/>
          <p:cNvSpPr txBox="1"/>
          <p:nvPr/>
        </p:nvSpPr>
        <p:spPr>
          <a:xfrm>
            <a:off x="8202168" y="5495544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dostává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gynekolog</a:t>
            </a:r>
            <a:r>
              <a:rPr lang="en-US" sz="1050">
                <a:solidFill>
                  <a:srgbClr val="4A4458"/>
                </a:solidFill>
              </a:rPr>
              <a:t> za </a:t>
            </a:r>
            <a:r>
              <a:rPr lang="en-US" sz="1050" err="1">
                <a:solidFill>
                  <a:srgbClr val="4A4458"/>
                </a:solidFill>
              </a:rPr>
              <a:t>účast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pacientek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na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mamografickém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screeningu</a:t>
            </a:r>
            <a:endParaRPr lang="en-US" sz="1050" err="1"/>
          </a:p>
        </p:txBody>
      </p:sp>
      <p:sp>
        <p:nvSpPr>
          <p:cNvPr id="15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8A8597"/>
                </a:solidFill>
              </a:rPr>
              <a:t>Zdroj</a:t>
            </a:r>
            <a:r>
              <a:rPr lang="en-US" sz="900">
                <a:solidFill>
                  <a:srgbClr val="8A8597"/>
                </a:solidFill>
              </a:rPr>
              <a:t>: data VZP pro </a:t>
            </a:r>
            <a:r>
              <a:rPr lang="en-US" sz="900" err="1">
                <a:solidFill>
                  <a:srgbClr val="8A8597"/>
                </a:solidFill>
              </a:rPr>
              <a:t>Rakathon</a:t>
            </a:r>
            <a:r>
              <a:rPr lang="en-US" sz="900">
                <a:solidFill>
                  <a:srgbClr val="8A8597"/>
                </a:solidFill>
              </a:rPr>
              <a:t> 2026, </a:t>
            </a:r>
            <a:r>
              <a:rPr lang="en-US" sz="900" err="1">
                <a:solidFill>
                  <a:srgbClr val="8A8597"/>
                </a:solidFill>
              </a:rPr>
              <a:t>pozvánky</a:t>
            </a:r>
            <a:r>
              <a:rPr lang="en-US" sz="900">
                <a:solidFill>
                  <a:srgbClr val="8A8597"/>
                </a:solidFill>
              </a:rPr>
              <a:t> 2024; </a:t>
            </a:r>
            <a:r>
              <a:rPr lang="en-US" sz="900" err="1">
                <a:solidFill>
                  <a:srgbClr val="8A8597"/>
                </a:solidFill>
              </a:rPr>
              <a:t>úhradová</a:t>
            </a:r>
            <a:r>
              <a:rPr lang="en-US" sz="900">
                <a:solidFill>
                  <a:srgbClr val="8A8597"/>
                </a:solidFill>
              </a:rPr>
              <a:t> </a:t>
            </a:r>
            <a:r>
              <a:rPr lang="en-US" sz="900" err="1">
                <a:solidFill>
                  <a:srgbClr val="8A8597"/>
                </a:solidFill>
              </a:rPr>
              <a:t>metodika</a:t>
            </a:r>
            <a:r>
              <a:rPr lang="en-US" sz="900">
                <a:solidFill>
                  <a:srgbClr val="8A8597"/>
                </a:solidFill>
              </a:rPr>
              <a:t> VZP pro </a:t>
            </a:r>
            <a:r>
              <a:rPr lang="en-US" sz="900" err="1">
                <a:solidFill>
                  <a:srgbClr val="8A8597"/>
                </a:solidFill>
              </a:rPr>
              <a:t>gynekology</a:t>
            </a:r>
            <a:r>
              <a:rPr lang="en-US" sz="900">
                <a:solidFill>
                  <a:srgbClr val="8A8597"/>
                </a:solidFill>
              </a:rPr>
              <a:t> 2026; </a:t>
            </a:r>
            <a:r>
              <a:rPr lang="en-US" sz="900" err="1">
                <a:solidFill>
                  <a:srgbClr val="8A8597"/>
                </a:solidFill>
              </a:rPr>
              <a:t>naše</a:t>
            </a:r>
            <a:r>
              <a:rPr lang="en-US" sz="900">
                <a:solidFill>
                  <a:srgbClr val="8A8597"/>
                </a:solidFill>
              </a:rPr>
              <a:t> </a:t>
            </a:r>
            <a:r>
              <a:rPr lang="en-US" sz="900" err="1">
                <a:solidFill>
                  <a:srgbClr val="8A8597"/>
                </a:solidFill>
              </a:rPr>
              <a:t>analýza</a:t>
            </a:r>
            <a:endParaRPr lang="en-US" sz="900" err="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HLAVNÍ PŘÍČINY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každé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další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pozvánce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přijde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méně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žen</a:t>
            </a:r>
            <a:endParaRPr lang="en-US" sz="2400" err="1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Po </a:t>
            </a:r>
            <a:r>
              <a:rPr lang="en-US" sz="1300" err="1">
                <a:solidFill>
                  <a:srgbClr val="4A4458"/>
                </a:solidFill>
              </a:rPr>
              <a:t>první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pozvánce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přijde</a:t>
            </a:r>
            <a:r>
              <a:rPr lang="en-US" sz="1300">
                <a:solidFill>
                  <a:srgbClr val="4A4458"/>
                </a:solidFill>
              </a:rPr>
              <a:t> do </a:t>
            </a:r>
            <a:r>
              <a:rPr lang="en-US" sz="1300" err="1">
                <a:solidFill>
                  <a:srgbClr val="4A4458"/>
                </a:solidFill>
              </a:rPr>
              <a:t>roka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polovina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žen</a:t>
            </a:r>
            <a:r>
              <a:rPr lang="en-US" sz="1300">
                <a:solidFill>
                  <a:srgbClr val="4A4458"/>
                </a:solidFill>
              </a:rPr>
              <a:t>, po </a:t>
            </a:r>
            <a:r>
              <a:rPr lang="en-US" sz="1300" err="1">
                <a:solidFill>
                  <a:srgbClr val="4A4458"/>
                </a:solidFill>
              </a:rPr>
              <a:t>osmé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nebo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další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jen</a:t>
            </a:r>
            <a:r>
              <a:rPr lang="en-US" sz="1300">
                <a:solidFill>
                  <a:srgbClr val="4A4458"/>
                </a:solidFill>
              </a:rPr>
              <a:t> 5 %. </a:t>
            </a:r>
            <a:r>
              <a:rPr lang="en-US" sz="1300" err="1">
                <a:solidFill>
                  <a:srgbClr val="4A4458"/>
                </a:solidFill>
              </a:rPr>
              <a:t>Ženám</a:t>
            </a:r>
            <a:r>
              <a:rPr lang="en-US" sz="1300">
                <a:solidFill>
                  <a:srgbClr val="4A4458"/>
                </a:solidFill>
              </a:rPr>
              <a:t>, </a:t>
            </a:r>
            <a:r>
              <a:rPr lang="en-US" sz="1300" err="1">
                <a:solidFill>
                  <a:srgbClr val="4A4458"/>
                </a:solidFill>
              </a:rPr>
              <a:t>které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vypadly</a:t>
            </a:r>
            <a:r>
              <a:rPr lang="en-US" sz="1300">
                <a:solidFill>
                  <a:srgbClr val="4A4458"/>
                </a:solidFill>
              </a:rPr>
              <a:t> z </a:t>
            </a:r>
            <a:r>
              <a:rPr lang="en-US" sz="1300" err="1">
                <a:solidFill>
                  <a:srgbClr val="4A4458"/>
                </a:solidFill>
              </a:rPr>
              <a:t>rytmu</a:t>
            </a:r>
            <a:r>
              <a:rPr lang="en-US" sz="1300">
                <a:solidFill>
                  <a:srgbClr val="4A4458"/>
                </a:solidFill>
              </a:rPr>
              <a:t>, </a:t>
            </a:r>
            <a:r>
              <a:rPr lang="en-US" sz="1300" err="1">
                <a:solidFill>
                  <a:srgbClr val="4A4458"/>
                </a:solidFill>
              </a:rPr>
              <a:t>chodí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pozvánka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pozdě</a:t>
            </a:r>
            <a:r>
              <a:rPr lang="en-US" sz="1300">
                <a:solidFill>
                  <a:srgbClr val="4A4458"/>
                </a:solidFill>
              </a:rPr>
              <a:t>.</a:t>
            </a:r>
            <a:endParaRPr lang="en-US" sz="130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2103120"/>
          <a:ext cx="694944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Ukazatel"/>
          <p:cNvSpPr/>
          <p:nvPr/>
        </p:nvSpPr>
        <p:spPr>
          <a:xfrm>
            <a:off x="8001000" y="2103120"/>
            <a:ext cx="34107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Ukazatel – číslo"/>
          <p:cNvSpPr txBox="1"/>
          <p:nvPr/>
        </p:nvSpPr>
        <p:spPr>
          <a:xfrm>
            <a:off x="8202168" y="221284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D27869"/>
                </a:solidFill>
              </a:rPr>
              <a:t>46 %</a:t>
            </a:r>
            <a:endParaRPr lang="en-US" sz="2400"/>
          </a:p>
        </p:txBody>
      </p:sp>
      <p:sp>
        <p:nvSpPr>
          <p:cNvPr id="8" name="Ukazatel – popis"/>
          <p:cNvSpPr txBox="1"/>
          <p:nvPr/>
        </p:nvSpPr>
        <p:spPr>
          <a:xfrm>
            <a:off x="8202168" y="2706624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žen</a:t>
            </a:r>
            <a:r>
              <a:rPr lang="en-US" sz="1050">
                <a:solidFill>
                  <a:srgbClr val="4A4458"/>
                </a:solidFill>
              </a:rPr>
              <a:t>, </a:t>
            </a:r>
            <a:r>
              <a:rPr lang="en-US" sz="1050" err="1">
                <a:solidFill>
                  <a:srgbClr val="4A4458"/>
                </a:solidFill>
              </a:rPr>
              <a:t>které</a:t>
            </a:r>
            <a:r>
              <a:rPr lang="en-US" sz="1050">
                <a:solidFill>
                  <a:srgbClr val="4A4458"/>
                </a:solidFill>
              </a:rPr>
              <a:t> v </a:t>
            </a:r>
            <a:r>
              <a:rPr lang="en-US" sz="1050" err="1">
                <a:solidFill>
                  <a:srgbClr val="4A4458"/>
                </a:solidFill>
              </a:rPr>
              <a:t>roce</a:t>
            </a:r>
            <a:r>
              <a:rPr lang="en-US" sz="1050">
                <a:solidFill>
                  <a:srgbClr val="4A4458"/>
                </a:solidFill>
              </a:rPr>
              <a:t> 2024 </a:t>
            </a:r>
            <a:r>
              <a:rPr lang="en-US" sz="1050" err="1">
                <a:solidFill>
                  <a:srgbClr val="4A4458"/>
                </a:solidFill>
              </a:rPr>
              <a:t>nepřišly</a:t>
            </a:r>
            <a:r>
              <a:rPr lang="en-US" sz="1050">
                <a:solidFill>
                  <a:srgbClr val="4A4458"/>
                </a:solidFill>
              </a:rPr>
              <a:t>, </a:t>
            </a:r>
            <a:r>
              <a:rPr lang="en-US" sz="1050" err="1">
                <a:solidFill>
                  <a:srgbClr val="4A4458"/>
                </a:solidFill>
              </a:rPr>
              <a:t>dostalo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už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osmou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nebo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další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pozvánku</a:t>
            </a:r>
            <a:endParaRPr lang="en-US" sz="1050" err="1"/>
          </a:p>
        </p:txBody>
      </p:sp>
      <p:sp>
        <p:nvSpPr>
          <p:cNvPr id="9" name="Ukazatel"/>
          <p:cNvSpPr/>
          <p:nvPr/>
        </p:nvSpPr>
        <p:spPr>
          <a:xfrm>
            <a:off x="8001000" y="3474720"/>
            <a:ext cx="34107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Ukazatel – číslo"/>
          <p:cNvSpPr txBox="1"/>
          <p:nvPr/>
        </p:nvSpPr>
        <p:spPr>
          <a:xfrm>
            <a:off x="8202168" y="358444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41 % vs. 25 %</a:t>
            </a:r>
            <a:endParaRPr lang="en-US" sz="2400"/>
          </a:p>
        </p:txBody>
      </p:sp>
      <p:sp>
        <p:nvSpPr>
          <p:cNvPr id="11" name="Ukazatel – popis"/>
          <p:cNvSpPr txBox="1"/>
          <p:nvPr/>
        </p:nvSpPr>
        <p:spPr>
          <a:xfrm>
            <a:off x="8202168" y="4078224"/>
            <a:ext cx="30083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návrat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vypadlých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žen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při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pozvánce</a:t>
            </a:r>
            <a:r>
              <a:rPr lang="en-US" sz="1050">
                <a:solidFill>
                  <a:srgbClr val="4A4458"/>
                </a:solidFill>
              </a:rPr>
              <a:t> 25–36, resp. 49–60 </a:t>
            </a:r>
            <a:r>
              <a:rPr lang="en-US" sz="1050" err="1">
                <a:solidFill>
                  <a:srgbClr val="4A4458"/>
                </a:solidFill>
              </a:rPr>
              <a:t>měsíců</a:t>
            </a:r>
            <a:r>
              <a:rPr lang="en-US" sz="1050">
                <a:solidFill>
                  <a:srgbClr val="4A4458"/>
                </a:solidFill>
              </a:rPr>
              <a:t> po </a:t>
            </a:r>
            <a:r>
              <a:rPr lang="en-US" sz="1050" err="1">
                <a:solidFill>
                  <a:srgbClr val="4A4458"/>
                </a:solidFill>
              </a:rPr>
              <a:t>poslední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mamografii</a:t>
            </a:r>
            <a:endParaRPr lang="en-US" sz="1050" err="1"/>
          </a:p>
        </p:txBody>
      </p:sp>
      <p:sp>
        <p:nvSpPr>
          <p:cNvPr id="12" name="Ukazatel"/>
          <p:cNvSpPr/>
          <p:nvPr/>
        </p:nvSpPr>
        <p:spPr>
          <a:xfrm>
            <a:off x="8001000" y="4983480"/>
            <a:ext cx="34107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Ukazatel – číslo"/>
          <p:cNvSpPr txBox="1"/>
          <p:nvPr/>
        </p:nvSpPr>
        <p:spPr>
          <a:xfrm>
            <a:off x="8202168" y="50932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D7CC9"/>
                </a:solidFill>
              </a:rPr>
              <a:t>95 %</a:t>
            </a:r>
            <a:endParaRPr lang="en-US" sz="2400"/>
          </a:p>
        </p:txBody>
      </p:sp>
      <p:sp>
        <p:nvSpPr>
          <p:cNvPr id="14" name="Ukazatel – popis"/>
          <p:cNvSpPr txBox="1"/>
          <p:nvPr/>
        </p:nvSpPr>
        <p:spPr>
          <a:xfrm>
            <a:off x="8202168" y="5586984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vypadlých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žen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dnes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dostane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pozvánku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až</a:t>
            </a:r>
            <a:r>
              <a:rPr lang="en-US" sz="1050">
                <a:solidFill>
                  <a:srgbClr val="4A4458"/>
                </a:solidFill>
              </a:rPr>
              <a:t> 3–5 let po </a:t>
            </a:r>
            <a:r>
              <a:rPr lang="en-US" sz="1050" err="1">
                <a:solidFill>
                  <a:srgbClr val="4A4458"/>
                </a:solidFill>
              </a:rPr>
              <a:t>poslední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mamografii</a:t>
            </a:r>
            <a:endParaRPr lang="en-US" sz="1050" err="1"/>
          </a:p>
        </p:txBody>
      </p:sp>
      <p:sp>
        <p:nvSpPr>
          <p:cNvPr id="15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8A8597"/>
                </a:solidFill>
              </a:rPr>
              <a:t>Zdroj</a:t>
            </a:r>
            <a:r>
              <a:rPr lang="en-US" sz="900">
                <a:solidFill>
                  <a:srgbClr val="8A8597"/>
                </a:solidFill>
              </a:rPr>
              <a:t>: data VZP pro </a:t>
            </a:r>
            <a:r>
              <a:rPr lang="en-US" sz="900" err="1">
                <a:solidFill>
                  <a:srgbClr val="8A8597"/>
                </a:solidFill>
              </a:rPr>
              <a:t>Rakathon</a:t>
            </a:r>
            <a:r>
              <a:rPr lang="en-US" sz="900">
                <a:solidFill>
                  <a:srgbClr val="8A8597"/>
                </a:solidFill>
              </a:rPr>
              <a:t> 2026, </a:t>
            </a:r>
            <a:r>
              <a:rPr lang="en-US" sz="900" err="1">
                <a:solidFill>
                  <a:srgbClr val="8A8597"/>
                </a:solidFill>
              </a:rPr>
              <a:t>pozvánky</a:t>
            </a:r>
            <a:r>
              <a:rPr lang="en-US" sz="900">
                <a:solidFill>
                  <a:srgbClr val="8A8597"/>
                </a:solidFill>
              </a:rPr>
              <a:t> 2020–2024; </a:t>
            </a:r>
            <a:r>
              <a:rPr lang="en-US" sz="900" err="1">
                <a:solidFill>
                  <a:srgbClr val="8A8597"/>
                </a:solidFill>
              </a:rPr>
              <a:t>naše</a:t>
            </a:r>
            <a:r>
              <a:rPr lang="en-US" sz="900">
                <a:solidFill>
                  <a:srgbClr val="8A8597"/>
                </a:solidFill>
              </a:rPr>
              <a:t> </a:t>
            </a:r>
            <a:r>
              <a:rPr lang="en-US" sz="900" err="1">
                <a:solidFill>
                  <a:srgbClr val="8A8597"/>
                </a:solidFill>
              </a:rPr>
              <a:t>analýza</a:t>
            </a:r>
            <a:endParaRPr lang="en-US" sz="900" err="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7D09-4C1F-F96B-3F55-B1171B9C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F1B918-AC65-3F92-514D-10FB476DDA45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SKUPINY KLIENTEK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8B7E01F-ADF8-26BA-AAC4-F3CB07B3FAE8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Většinu žen, které nepřišly, lze oslovit jinak než dopisem</a:t>
            </a:r>
            <a:endParaRPr lang="en-US" sz="2400"/>
          </a:p>
        </p:txBody>
      </p:sp>
      <p:sp>
        <p:nvSpPr>
          <p:cNvPr id="4" name="Úvod">
            <a:extLst>
              <a:ext uri="{FF2B5EF4-FFF2-40B4-BE49-F238E27FC236}">
                <a16:creationId xmlns:a16="http://schemas.microsoft.com/office/drawing/2014/main" id="{DD92E2C4-9F81-C7DC-A875-6B012EF15CD5}"/>
              </a:ext>
            </a:extLst>
          </p:cNvPr>
          <p:cNvSpPr txBox="1"/>
          <p:nvPr/>
        </p:nvSpPr>
        <p:spPr>
          <a:xfrm>
            <a:off x="777240" y="1481328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Segmenty stojí jen </a:t>
            </a:r>
            <a:r>
              <a:rPr lang="en-US" sz="1300" err="1">
                <a:solidFill>
                  <a:srgbClr val="4A4458"/>
                </a:solidFill>
              </a:rPr>
              <a:t>na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polích</a:t>
            </a:r>
            <a:r>
              <a:rPr lang="en-US" sz="1300">
                <a:solidFill>
                  <a:srgbClr val="4A4458"/>
                </a:solidFill>
              </a:rPr>
              <a:t> v </a:t>
            </a:r>
            <a:r>
              <a:rPr lang="en-US" sz="1300" err="1">
                <a:solidFill>
                  <a:srgbClr val="4A4458"/>
                </a:solidFill>
              </a:rPr>
              <a:t>poskytnutých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datech</a:t>
            </a:r>
            <a:r>
              <a:rPr lang="en-US" sz="1300">
                <a:solidFill>
                  <a:srgbClr val="4A4458"/>
                </a:solidFill>
              </a:rPr>
              <a:t>, a jsou vzájemně výlučné. Účast se mezi nimi liší víc než dvacetinásobně.</a:t>
            </a:r>
            <a:endParaRPr lang="en-US" sz="1300"/>
          </a:p>
        </p:txBody>
      </p:sp>
      <p:graphicFrame>
        <p:nvGraphicFramePr>
          <p:cNvPr id="9" name="Tabulka segmentů">
            <a:extLst>
              <a:ext uri="{FF2B5EF4-FFF2-40B4-BE49-F238E27FC236}">
                <a16:creationId xmlns:a16="http://schemas.microsoft.com/office/drawing/2014/main" id="{FA195E1F-2345-D156-48D0-AB66DC533236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011680"/>
          <a:ext cx="7863840" cy="386791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Segment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Ženy 2024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Účast do 12m od </a:t>
                      </a:r>
                      <a:r>
                        <a:rPr lang="en-US" sz="1050" b="1" err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pozvání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Nepřišlo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Kanál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 nedávno vyšetřená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7 600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7 418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nezvat, ověřit výkony před odesláním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 první pozvánka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37 460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55 %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16 820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dopis s pevným termínem, SMS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 vypadlá z rytmu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28 577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33 %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19 111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dřívější připomínka s termínem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 bez screeningu, chodí ke gynekologovi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51 047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21 %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40 573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gynekolog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 bez screeningu, jiná prevence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89 351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82 559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praktik, zubař, jiný screening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 jen léčebná péče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28 368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26 977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ošetřující lékaři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 mimo péči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14 063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13 743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nejdřív ověřit kontakt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Celkem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256 466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207 201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Ukazatel">
            <a:extLst>
              <a:ext uri="{FF2B5EF4-FFF2-40B4-BE49-F238E27FC236}">
                <a16:creationId xmlns:a16="http://schemas.microsoft.com/office/drawing/2014/main" id="{1B845153-9A29-9710-0391-48B05D4A0115}"/>
              </a:ext>
            </a:extLst>
          </p:cNvPr>
          <p:cNvSpPr/>
          <p:nvPr/>
        </p:nvSpPr>
        <p:spPr>
          <a:xfrm>
            <a:off x="8915400" y="2011680"/>
            <a:ext cx="249631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Ukazatel – číslo">
            <a:extLst>
              <a:ext uri="{FF2B5EF4-FFF2-40B4-BE49-F238E27FC236}">
                <a16:creationId xmlns:a16="http://schemas.microsoft.com/office/drawing/2014/main" id="{4B671D13-EF89-2286-23C2-048515E7BDAF}"/>
              </a:ext>
            </a:extLst>
          </p:cNvPr>
          <p:cNvSpPr txBox="1"/>
          <p:nvPr/>
        </p:nvSpPr>
        <p:spPr>
          <a:xfrm>
            <a:off x="9116568" y="212140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59 %</a:t>
            </a:r>
            <a:endParaRPr lang="en-US" sz="2400"/>
          </a:p>
        </p:txBody>
      </p:sp>
      <p:sp>
        <p:nvSpPr>
          <p:cNvPr id="8" name="Ukazatel – popis">
            <a:extLst>
              <a:ext uri="{FF2B5EF4-FFF2-40B4-BE49-F238E27FC236}">
                <a16:creationId xmlns:a16="http://schemas.microsoft.com/office/drawing/2014/main" id="{57B89D67-7B66-5CF5-30D5-B3E3EB710C74}"/>
              </a:ext>
            </a:extLst>
          </p:cNvPr>
          <p:cNvSpPr txBox="1"/>
          <p:nvPr/>
        </p:nvSpPr>
        <p:spPr>
          <a:xfrm>
            <a:off x="9116568" y="2615184"/>
            <a:ext cx="20939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žen, které nepřišly, patří do segmentů D a E: chodí ke gynekologovi nebo na jinou prevenci</a:t>
            </a:r>
            <a:endParaRPr lang="en-US" sz="1050"/>
          </a:p>
        </p:txBody>
      </p:sp>
      <p:sp>
        <p:nvSpPr>
          <p:cNvPr id="5" name="Ukazatel">
            <a:extLst>
              <a:ext uri="{FF2B5EF4-FFF2-40B4-BE49-F238E27FC236}">
                <a16:creationId xmlns:a16="http://schemas.microsoft.com/office/drawing/2014/main" id="{EE622573-9D0F-71F2-792F-364C31D8C5E9}"/>
              </a:ext>
            </a:extLst>
          </p:cNvPr>
          <p:cNvSpPr/>
          <p:nvPr/>
        </p:nvSpPr>
        <p:spPr>
          <a:xfrm>
            <a:off x="8915400" y="4069080"/>
            <a:ext cx="24963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Ukazatel – číslo">
            <a:extLst>
              <a:ext uri="{FF2B5EF4-FFF2-40B4-BE49-F238E27FC236}">
                <a16:creationId xmlns:a16="http://schemas.microsoft.com/office/drawing/2014/main" id="{EFE30D26-DFC2-B2C6-C50A-349AE22CCF9D}"/>
              </a:ext>
            </a:extLst>
          </p:cNvPr>
          <p:cNvSpPr txBox="1"/>
          <p:nvPr/>
        </p:nvSpPr>
        <p:spPr>
          <a:xfrm>
            <a:off x="9116568" y="417880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D7CC9"/>
                </a:solidFill>
              </a:rPr>
              <a:t>AUC 0,80</a:t>
            </a:r>
            <a:endParaRPr lang="en-US" sz="2400"/>
          </a:p>
        </p:txBody>
      </p:sp>
      <p:sp>
        <p:nvSpPr>
          <p:cNvPr id="11" name="Ukazatel – popis">
            <a:extLst>
              <a:ext uri="{FF2B5EF4-FFF2-40B4-BE49-F238E27FC236}">
                <a16:creationId xmlns:a16="http://schemas.microsoft.com/office/drawing/2014/main" id="{4B456D97-748E-4E6D-3DF5-D3814794F9DD}"/>
              </a:ext>
            </a:extLst>
          </p:cNvPr>
          <p:cNvSpPr txBox="1"/>
          <p:nvPr/>
        </p:nvSpPr>
        <p:spPr>
          <a:xfrm>
            <a:off x="9116568" y="4672584"/>
            <a:ext cx="20939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samotné segmenty seřadí ženy skoro stejně dobře jako celý model</a:t>
            </a:r>
            <a:endParaRPr lang="en-US" sz="1050"/>
          </a:p>
        </p:txBody>
      </p:sp>
      <p:sp>
        <p:nvSpPr>
          <p:cNvPr id="12" name="Zdroj">
            <a:extLst>
              <a:ext uri="{FF2B5EF4-FFF2-40B4-BE49-F238E27FC236}">
                <a16:creationId xmlns:a16="http://schemas.microsoft.com/office/drawing/2014/main" id="{56350596-A643-0F85-159C-DB32A1C53329}"/>
              </a:ext>
            </a:extLst>
          </p:cNvPr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2026, pozvánky 2024; naše analýza</a:t>
            </a:r>
            <a:endParaRPr lang="en-US" sz="9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2B4865E-FC1F-BFD9-BE62-9C6F0A190E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48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NÁVRHY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Šest skupin opatření a podklady, ze kterých vycházejí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U každé skupiny uvádíme, co navrhujeme a co ji podporuje v datech VZP, v literatuře a v rozhovorech s experty. Úplné citace jsou v příloze.</a:t>
            </a:r>
            <a:endParaRPr lang="en-US" sz="1300"/>
          </a:p>
        </p:txBody>
      </p:sp>
      <p:graphicFrame>
        <p:nvGraphicFramePr>
          <p:cNvPr id="11" name="Tabulka podpo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297760"/>
              </p:ext>
            </p:extLst>
          </p:nvPr>
        </p:nvGraphicFramePr>
        <p:xfrm>
          <a:off x="777240" y="2240280"/>
          <a:ext cx="10634472" cy="323392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Opatření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VZP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Literatura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Rozhovor s expertem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Chytřejší zvaní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nezvat nedávno vyšetřené, dřívější připomínka vypadlým, SMS, nový dopis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7 600 dopisů ročně jde ženám těsně po screeningu; 95 % vypadlých dostane pozvánku až po 3–5 letech; po 8. a další pozvánce přijde 5 %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poštovní připomínka +2,7 p. b. (Allgood a kol., 2016); SMS 59 → 64 % (Kerrison a kol., 2015); připomínka dlouhodobým neúčastnicím +6,4 p. b. (Ferrari a kol., 2026)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dopisy často končí v </a:t>
                      </a:r>
                      <a:r>
                        <a:rPr lang="en-US" sz="850" err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koši</a:t>
                      </a: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 (I. Duškov, VZP), </a:t>
                      </a:r>
                      <a:r>
                        <a:rPr lang="en-US" sz="850" err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jeden</a:t>
                      </a: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 </a:t>
                      </a:r>
                      <a:r>
                        <a:rPr lang="en-US" sz="850" err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stojí</a:t>
                      </a: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 40Kč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Snadné objednání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pevný termín místo otevřené pozvánky, víkendové a večerní termíny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segmenty B a C: 66 tis. zvaných žen ročně, z nich 36 tis. nepřišlo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pevný termín 49 → 68 % (Li a kol., 2026); druhý pevný termín 12 → 22 % (Allgood a kol., 2017); víkendy využívají hlavně mladší ženy (Rossi a kol., 2024)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víkendové termíny pro komunitu charedi v Izraeli (L. Hamplová); prevence v lednu, mamograf až v červnu (P. Adámková, Hlas Onko)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Lékař jako kanál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seznamy žen bez mamografie, srovnání lékařů, upozornění v EZ kartě, bonus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gynekologická prevence zvyšuje šanci přijít 1,4–1,6×, prevence u praktika ne (1,0×); gynekolog za mamografii pacientek nedostává nic (metodika VZP 2026)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audit a zpětná vazba lékařům jsou účinné (Brouwers a kol., 2011); připomínky lékařům zlepšují dodržování doporučení (Ricci-Cabello a kol., 2023); dopis s podpisem praktika +5,8 p. b. (Hewitson a kol., 2011)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upozornění v informačním systému lékaře; férové srovnání lékařů s ostatními (P. Hroboň)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Úpravy aplikace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Moje VZP: připomínka, objednání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kanály ani používání aplikace data VZP neobsahují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push notifikaci prokliklo 4,1 % žen (Lee a kol., 2026)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–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Dostupnost v regionech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doprava a pojízdný mamograf pro 65+ v okresech bez centra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okres bez centra snižuje šanci přijít od 50 let (0,82–0,91×, nejvíc v 65–69), ve 45–49 ne; pro přesné cílení potřebujeme okres bydliště a data obcí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nejistá doprava snižuje šanci na mamografii (OR 0,59; Pohl a kol., 2025); pojízdný mamograf v primární péči (Ziegler a kol., 2026)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program v Chorvatsku, kterým se lze inspirovat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Plošné nástroje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kampaň, finanční pobídka; zatím neřešit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plošná pobídka 500 Kč vychází na ≈ 30 500 Kč za mamografii navíc (při +1 p. b.), cílená na F a G na ≈ 2 500 Kč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masová média bez průkazného účinku (Community Guide); malé finanční pobídky bez průkazného účinku (Merrick a kol., 2015)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–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990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2026; PAPERS.md; zápis rozhovorů (docs/CALL_STRATEGIE_261010.md); docs/PREZENTACE.md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24D7-AA24-C03C-E1AC-B73D2F61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A34305-4D18-746D-18C6-6BA4DBD6936B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NÁVRHY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AAA157A-8EAA-75BC-E89D-4E6B08DA1A8D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Šest skupin opatření podle náročnosti a dopadu</a:t>
            </a:r>
            <a:endParaRPr lang="en-US" sz="2400"/>
          </a:p>
        </p:txBody>
      </p:sp>
      <p:sp>
        <p:nvSpPr>
          <p:cNvPr id="4" name="Úvod">
            <a:extLst>
              <a:ext uri="{FF2B5EF4-FFF2-40B4-BE49-F238E27FC236}">
                <a16:creationId xmlns:a16="http://schemas.microsoft.com/office/drawing/2014/main" id="{B59EDDD1-962F-080C-0686-6F97393616FE}"/>
              </a:ext>
            </a:extLst>
          </p:cNvPr>
          <p:cNvSpPr txBox="1"/>
          <p:nvPr/>
        </p:nvSpPr>
        <p:spPr>
          <a:xfrm>
            <a:off x="777240" y="1481328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Začínáme chytřejším zvaním: je levné, VZP ho zvládne sama a uspořené dopisy financují dražší kanály.</a:t>
            </a:r>
            <a:endParaRPr lang="en-US" sz="1300"/>
          </a:p>
        </p:txBody>
      </p:sp>
      <p:sp>
        <p:nvSpPr>
          <p:cNvPr id="5" name="Matice – rámec">
            <a:extLst>
              <a:ext uri="{FF2B5EF4-FFF2-40B4-BE49-F238E27FC236}">
                <a16:creationId xmlns:a16="http://schemas.microsoft.com/office/drawing/2014/main" id="{56DC936B-D541-965F-C7F4-5462479F1A5F}"/>
              </a:ext>
            </a:extLst>
          </p:cNvPr>
          <p:cNvSpPr/>
          <p:nvPr/>
        </p:nvSpPr>
        <p:spPr>
          <a:xfrm>
            <a:off x="1188720" y="2057400"/>
            <a:ext cx="6766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Osa svislá">
            <a:extLst>
              <a:ext uri="{FF2B5EF4-FFF2-40B4-BE49-F238E27FC236}">
                <a16:creationId xmlns:a16="http://schemas.microsoft.com/office/drawing/2014/main" id="{173130FB-E8BC-B087-AFE7-266FB4B6D714}"/>
              </a:ext>
            </a:extLst>
          </p:cNvPr>
          <p:cNvSpPr/>
          <p:nvPr/>
        </p:nvSpPr>
        <p:spPr>
          <a:xfrm>
            <a:off x="4572000" y="2057400"/>
            <a:ext cx="0" cy="3931920"/>
          </a:xfrm>
          <a:prstGeom prst="line">
            <a:avLst/>
          </a:prstGeom>
          <a:noFill/>
          <a:ln w="9525">
            <a:solidFill>
              <a:srgbClr val="B9B6D6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7" name="Osa vodorovná">
            <a:extLst>
              <a:ext uri="{FF2B5EF4-FFF2-40B4-BE49-F238E27FC236}">
                <a16:creationId xmlns:a16="http://schemas.microsoft.com/office/drawing/2014/main" id="{0E6E580E-23D7-2ADE-9F47-0970CE3F31C2}"/>
              </a:ext>
            </a:extLst>
          </p:cNvPr>
          <p:cNvSpPr/>
          <p:nvPr/>
        </p:nvSpPr>
        <p:spPr>
          <a:xfrm>
            <a:off x="1188720" y="4023360"/>
            <a:ext cx="6766560" cy="0"/>
          </a:xfrm>
          <a:prstGeom prst="line">
            <a:avLst/>
          </a:prstGeom>
          <a:noFill/>
          <a:ln w="9525">
            <a:solidFill>
              <a:srgbClr val="B9B6D6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8" name="Kvadrant – Levné a účinné">
            <a:extLst>
              <a:ext uri="{FF2B5EF4-FFF2-40B4-BE49-F238E27FC236}">
                <a16:creationId xmlns:a16="http://schemas.microsoft.com/office/drawing/2014/main" id="{4EF91324-1F22-985D-9D2E-3576ED7D0A5C}"/>
              </a:ext>
            </a:extLst>
          </p:cNvPr>
          <p:cNvSpPr txBox="1"/>
          <p:nvPr/>
        </p:nvSpPr>
        <p:spPr>
          <a:xfrm>
            <a:off x="1298448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7A78C3"/>
                </a:solidFill>
              </a:rPr>
              <a:t>Levné a účinné</a:t>
            </a:r>
            <a:endParaRPr lang="en-US" sz="1000"/>
          </a:p>
        </p:txBody>
      </p:sp>
      <p:sp>
        <p:nvSpPr>
          <p:cNvPr id="9" name="Kvadrant – Účinné, ale náročné">
            <a:extLst>
              <a:ext uri="{FF2B5EF4-FFF2-40B4-BE49-F238E27FC236}">
                <a16:creationId xmlns:a16="http://schemas.microsoft.com/office/drawing/2014/main" id="{0C8E27D1-C28E-E1D5-BE20-CD67F9505662}"/>
              </a:ext>
            </a:extLst>
          </p:cNvPr>
          <p:cNvSpPr txBox="1"/>
          <p:nvPr/>
        </p:nvSpPr>
        <p:spPr>
          <a:xfrm>
            <a:off x="4736592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7A78C3"/>
                </a:solidFill>
              </a:rPr>
              <a:t>Účinné, </a:t>
            </a:r>
            <a:r>
              <a:rPr lang="en-US" sz="1000" b="1" err="1">
                <a:solidFill>
                  <a:srgbClr val="7A78C3"/>
                </a:solidFill>
              </a:rPr>
              <a:t>náročné</a:t>
            </a:r>
            <a:endParaRPr lang="en-US" sz="1000"/>
          </a:p>
        </p:txBody>
      </p:sp>
      <p:sp>
        <p:nvSpPr>
          <p:cNvPr id="10" name="Kvadrant – Doplňky a testy">
            <a:extLst>
              <a:ext uri="{FF2B5EF4-FFF2-40B4-BE49-F238E27FC236}">
                <a16:creationId xmlns:a16="http://schemas.microsoft.com/office/drawing/2014/main" id="{F9DF37E5-9D72-3B36-8A32-24B19B78FF3F}"/>
              </a:ext>
            </a:extLst>
          </p:cNvPr>
          <p:cNvSpPr txBox="1"/>
          <p:nvPr/>
        </p:nvSpPr>
        <p:spPr>
          <a:xfrm>
            <a:off x="1298448" y="5623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7A78C3"/>
                </a:solidFill>
              </a:rPr>
              <a:t>Doplňky a testy</a:t>
            </a:r>
            <a:endParaRPr lang="en-US" sz="1000"/>
          </a:p>
        </p:txBody>
      </p:sp>
      <p:sp>
        <p:nvSpPr>
          <p:cNvPr id="11" name="Kvadrant – Zatím neřešit">
            <a:extLst>
              <a:ext uri="{FF2B5EF4-FFF2-40B4-BE49-F238E27FC236}">
                <a16:creationId xmlns:a16="http://schemas.microsoft.com/office/drawing/2014/main" id="{77E83CDB-8F6B-A25B-0D36-9C85B88FEC5D}"/>
              </a:ext>
            </a:extLst>
          </p:cNvPr>
          <p:cNvSpPr txBox="1"/>
          <p:nvPr/>
        </p:nvSpPr>
        <p:spPr>
          <a:xfrm>
            <a:off x="4736592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7A78C3"/>
                </a:solidFill>
              </a:rPr>
              <a:t>Zatím neřešit</a:t>
            </a:r>
            <a:endParaRPr lang="en-US" sz="1000"/>
          </a:p>
        </p:txBody>
      </p:sp>
      <p:sp>
        <p:nvSpPr>
          <p:cNvPr id="12" name="Osa Y">
            <a:extLst>
              <a:ext uri="{FF2B5EF4-FFF2-40B4-BE49-F238E27FC236}">
                <a16:creationId xmlns:a16="http://schemas.microsoft.com/office/drawing/2014/main" id="{EE0CEC4D-5682-1A80-C833-CFE4E7D5E751}"/>
              </a:ext>
            </a:extLst>
          </p:cNvPr>
          <p:cNvSpPr txBox="1"/>
          <p:nvPr/>
        </p:nvSpPr>
        <p:spPr>
          <a:xfrm rot="16200000"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A4458"/>
                </a:solidFill>
              </a:rPr>
              <a:t>Dopad na účast →</a:t>
            </a:r>
            <a:endParaRPr lang="en-US" sz="900"/>
          </a:p>
        </p:txBody>
      </p:sp>
      <p:sp>
        <p:nvSpPr>
          <p:cNvPr id="13" name="Osa X">
            <a:extLst>
              <a:ext uri="{FF2B5EF4-FFF2-40B4-BE49-F238E27FC236}">
                <a16:creationId xmlns:a16="http://schemas.microsoft.com/office/drawing/2014/main" id="{F261CC9B-AD81-12B2-29E7-80A0C9147CAE}"/>
              </a:ext>
            </a:extLst>
          </p:cNvPr>
          <p:cNvSpPr txBox="1"/>
          <p:nvPr/>
        </p:nvSpPr>
        <p:spPr>
          <a:xfrm>
            <a:off x="1188720" y="60350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4458"/>
                </a:solidFill>
              </a:rPr>
              <a:t>Náročnost: IT, partneři, úhrady, cena →</a:t>
            </a:r>
            <a:endParaRPr lang="en-US" sz="900"/>
          </a:p>
        </p:txBody>
      </p:sp>
      <p:sp>
        <p:nvSpPr>
          <p:cNvPr id="14" name="Opatření – Chytřejší zvaní">
            <a:extLst>
              <a:ext uri="{FF2B5EF4-FFF2-40B4-BE49-F238E27FC236}">
                <a16:creationId xmlns:a16="http://schemas.microsoft.com/office/drawing/2014/main" id="{086589DC-3B16-1474-9B56-831D4070603B}"/>
              </a:ext>
            </a:extLst>
          </p:cNvPr>
          <p:cNvSpPr/>
          <p:nvPr/>
        </p:nvSpPr>
        <p:spPr>
          <a:xfrm>
            <a:off x="1600200" y="30175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5FCC59-0F0A-3C95-2B92-2552DB71D960}"/>
              </a:ext>
            </a:extLst>
          </p:cNvPr>
          <p:cNvSpPr txBox="1"/>
          <p:nvPr/>
        </p:nvSpPr>
        <p:spPr>
          <a:xfrm>
            <a:off x="1691640" y="305409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B7A"/>
                </a:solidFill>
              </a:rPr>
              <a:t>Chytřejší zvaní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načasování, SMS, lepší dopis</a:t>
            </a:r>
            <a:endParaRPr lang="en-US" sz="1150"/>
          </a:p>
        </p:txBody>
      </p:sp>
      <p:sp>
        <p:nvSpPr>
          <p:cNvPr id="16" name="Opatření – Snadné objednání">
            <a:extLst>
              <a:ext uri="{FF2B5EF4-FFF2-40B4-BE49-F238E27FC236}">
                <a16:creationId xmlns:a16="http://schemas.microsoft.com/office/drawing/2014/main" id="{1C00382F-FFAD-9B0E-848C-07CBF1411594}"/>
              </a:ext>
            </a:extLst>
          </p:cNvPr>
          <p:cNvSpPr/>
          <p:nvPr/>
        </p:nvSpPr>
        <p:spPr>
          <a:xfrm>
            <a:off x="4681728" y="24871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1753DCD-42F2-4D0E-F13A-8DBAB8A351D0}"/>
              </a:ext>
            </a:extLst>
          </p:cNvPr>
          <p:cNvSpPr txBox="1"/>
          <p:nvPr/>
        </p:nvSpPr>
        <p:spPr>
          <a:xfrm>
            <a:off x="4773168" y="252374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B7A"/>
                </a:solidFill>
              </a:rPr>
              <a:t>Snadné objednání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pevný termín, víkendy</a:t>
            </a:r>
            <a:endParaRPr lang="en-US" sz="1150"/>
          </a:p>
        </p:txBody>
      </p:sp>
      <p:sp>
        <p:nvSpPr>
          <p:cNvPr id="916" name="Opatření – Úpravy aplikace">
            <a:extLst>
              <a:ext uri="{FF2B5EF4-FFF2-40B4-BE49-F238E27FC236}">
                <a16:creationId xmlns:a16="http://schemas.microsoft.com/office/drawing/2014/main" id="{DA93B77C-268B-D5BC-195A-E036F8166463}"/>
              </a:ext>
            </a:extLst>
          </p:cNvPr>
          <p:cNvSpPr/>
          <p:nvPr/>
        </p:nvSpPr>
        <p:spPr>
          <a:xfrm>
            <a:off x="6373368" y="248716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17" name="Text 15">
            <a:extLst>
              <a:ext uri="{FF2B5EF4-FFF2-40B4-BE49-F238E27FC236}">
                <a16:creationId xmlns:a16="http://schemas.microsoft.com/office/drawing/2014/main" id="{52447780-B218-0CA5-1379-F1FFE25D7E67}"/>
              </a:ext>
            </a:extLst>
          </p:cNvPr>
          <p:cNvSpPr txBox="1"/>
          <p:nvPr/>
        </p:nvSpPr>
        <p:spPr>
          <a:xfrm>
            <a:off x="6464808" y="2523744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B7A"/>
                </a:solidFill>
              </a:rPr>
              <a:t>Úpravy aplikace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Moje VZP: připomínka, objednání</a:t>
            </a:r>
            <a:endParaRPr lang="en-US" sz="1150"/>
          </a:p>
        </p:txBody>
      </p:sp>
      <p:sp>
        <p:nvSpPr>
          <p:cNvPr id="18" name="Opatření – Lékař jako kanál">
            <a:extLst>
              <a:ext uri="{FF2B5EF4-FFF2-40B4-BE49-F238E27FC236}">
                <a16:creationId xmlns:a16="http://schemas.microsoft.com/office/drawing/2014/main" id="{8540C1AF-CE8F-5AAC-D1CD-CA98C515EF30}"/>
              </a:ext>
            </a:extLst>
          </p:cNvPr>
          <p:cNvSpPr/>
          <p:nvPr/>
        </p:nvSpPr>
        <p:spPr>
          <a:xfrm>
            <a:off x="5120640" y="3255264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17621D5-956A-B3AE-5A4C-A8AFC61FB2F8}"/>
              </a:ext>
            </a:extLst>
          </p:cNvPr>
          <p:cNvSpPr txBox="1"/>
          <p:nvPr/>
        </p:nvSpPr>
        <p:spPr>
          <a:xfrm>
            <a:off x="5212080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B7A"/>
                </a:solidFill>
              </a:rPr>
              <a:t>Lékař jako kanál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gynekolog, praktik, upozornění</a:t>
            </a:r>
            <a:endParaRPr lang="en-US" sz="1150"/>
          </a:p>
        </p:txBody>
      </p:sp>
      <p:sp>
        <p:nvSpPr>
          <p:cNvPr id="20" name="Opatření – Dostupnost v regionech">
            <a:extLst>
              <a:ext uri="{FF2B5EF4-FFF2-40B4-BE49-F238E27FC236}">
                <a16:creationId xmlns:a16="http://schemas.microsoft.com/office/drawing/2014/main" id="{D0D3C2FE-8C1B-07DF-9F1F-5330480EB37A}"/>
              </a:ext>
            </a:extLst>
          </p:cNvPr>
          <p:cNvSpPr/>
          <p:nvPr/>
        </p:nvSpPr>
        <p:spPr>
          <a:xfrm>
            <a:off x="5440680" y="437083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3F2F6"/>
          </a:solidFill>
          <a:ln w="12700">
            <a:solidFill>
              <a:srgbClr val="B5B2C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EECA8EC-8803-F606-F52F-A8F8E92F80B2}"/>
              </a:ext>
            </a:extLst>
          </p:cNvPr>
          <p:cNvSpPr txBox="1"/>
          <p:nvPr/>
        </p:nvSpPr>
        <p:spPr>
          <a:xfrm>
            <a:off x="5532120" y="44074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4A4458"/>
                </a:solidFill>
              </a:rPr>
              <a:t>Dostupnost v regionech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doprava, pojízdný mamograf</a:t>
            </a:r>
            <a:endParaRPr lang="en-US" sz="1150"/>
          </a:p>
        </p:txBody>
      </p:sp>
      <p:sp>
        <p:nvSpPr>
          <p:cNvPr id="22" name="Opatření – Plošné nástroje">
            <a:extLst>
              <a:ext uri="{FF2B5EF4-FFF2-40B4-BE49-F238E27FC236}">
                <a16:creationId xmlns:a16="http://schemas.microsoft.com/office/drawing/2014/main" id="{FFD472CD-0EFD-DCFD-CC5C-65A8DE3137A8}"/>
              </a:ext>
            </a:extLst>
          </p:cNvPr>
          <p:cNvSpPr/>
          <p:nvPr/>
        </p:nvSpPr>
        <p:spPr>
          <a:xfrm>
            <a:off x="4754880" y="5184648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3F2F6"/>
          </a:solidFill>
          <a:ln w="12700">
            <a:solidFill>
              <a:srgbClr val="B5B2C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8073107-A317-AD87-8413-303D1320B8FE}"/>
              </a:ext>
            </a:extLst>
          </p:cNvPr>
          <p:cNvSpPr txBox="1"/>
          <p:nvPr/>
        </p:nvSpPr>
        <p:spPr>
          <a:xfrm>
            <a:off x="4846320" y="522122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4A4458"/>
                </a:solidFill>
              </a:rPr>
              <a:t>Plošné nástroje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kampaň, finanční pobídka</a:t>
            </a:r>
            <a:endParaRPr lang="en-US" sz="1150"/>
          </a:p>
        </p:txBody>
      </p:sp>
      <p:sp>
        <p:nvSpPr>
          <p:cNvPr id="24" name="Postup">
            <a:extLst>
              <a:ext uri="{FF2B5EF4-FFF2-40B4-BE49-F238E27FC236}">
                <a16:creationId xmlns:a16="http://schemas.microsoft.com/office/drawing/2014/main" id="{A950C68B-9143-F80B-16A7-F63BCAE84F68}"/>
              </a:ext>
            </a:extLst>
          </p:cNvPr>
          <p:cNvSpPr/>
          <p:nvPr/>
        </p:nvSpPr>
        <p:spPr>
          <a:xfrm>
            <a:off x="8366760" y="2057400"/>
            <a:ext cx="3044952" cy="3931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8BF6324-E3A3-1A12-FD66-2156CDFC7AAC}"/>
              </a:ext>
            </a:extLst>
          </p:cNvPr>
          <p:cNvSpPr txBox="1"/>
          <p:nvPr/>
        </p:nvSpPr>
        <p:spPr>
          <a:xfrm>
            <a:off x="8595360" y="221284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0F3C"/>
                </a:solidFill>
              </a:rPr>
              <a:t>Postup zavedení</a:t>
            </a:r>
            <a:endParaRPr lang="en-US" sz="13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C076C80-526F-0252-C3CE-4348476FB0A7}"/>
              </a:ext>
            </a:extLst>
          </p:cNvPr>
          <p:cNvSpPr txBox="1"/>
          <p:nvPr/>
        </p:nvSpPr>
        <p:spPr>
          <a:xfrm>
            <a:off x="8595360" y="2651760"/>
            <a:ext cx="2587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b="1">
                <a:solidFill>
                  <a:srgbClr val="003B7A"/>
                </a:solidFill>
              </a:rPr>
              <a:t>Hned: </a:t>
            </a:r>
            <a:r>
              <a:rPr lang="en-US" sz="1050">
                <a:solidFill>
                  <a:srgbClr val="4A4458"/>
                </a:solidFill>
              </a:rPr>
              <a:t>chytřejší zvaní (klíč rozesílky, SMS, nový dopis)</a:t>
            </a:r>
            <a:endParaRPr lang="en-US" sz="1050"/>
          </a:p>
          <a:p>
            <a:pPr marL="0" indent="0">
              <a:spcAft>
                <a:spcPts val="800"/>
              </a:spcAft>
              <a:buNone/>
            </a:pPr>
            <a:r>
              <a:rPr lang="en-US" sz="1050" b="1">
                <a:solidFill>
                  <a:srgbClr val="003B7A"/>
                </a:solidFill>
              </a:rPr>
              <a:t>Pilot: </a:t>
            </a:r>
            <a:r>
              <a:rPr lang="en-US" sz="1050">
                <a:solidFill>
                  <a:srgbClr val="4A4458"/>
                </a:solidFill>
              </a:rPr>
              <a:t>snadné objednání a lékař jako kanál s partnerskými centry a praxemi</a:t>
            </a:r>
            <a:endParaRPr lang="en-US" sz="1050"/>
          </a:p>
          <a:p>
            <a:pPr marL="0" indent="0">
              <a:spcAft>
                <a:spcPts val="800"/>
              </a:spcAft>
              <a:buNone/>
            </a:pPr>
            <a:r>
              <a:rPr lang="en-US" sz="1050" b="1">
                <a:solidFill>
                  <a:srgbClr val="4A4458"/>
                </a:solidFill>
              </a:rPr>
              <a:t>Lokálně: </a:t>
            </a:r>
            <a:r>
              <a:rPr lang="en-US" sz="1050">
                <a:solidFill>
                  <a:srgbClr val="4A4458"/>
                </a:solidFill>
              </a:rPr>
              <a:t>dostupnost jen tam, kde je problém (65+ v okresech bez centra)</a:t>
            </a:r>
            <a:endParaRPr lang="en-US" sz="1050"/>
          </a:p>
          <a:p>
            <a:pPr marL="0" indent="0">
              <a:spcAft>
                <a:spcPts val="800"/>
              </a:spcAft>
              <a:buNone/>
            </a:pPr>
            <a:r>
              <a:rPr lang="en-US" sz="1050" b="1">
                <a:solidFill>
                  <a:srgbClr val="4A4458"/>
                </a:solidFill>
              </a:rPr>
              <a:t>Ne: </a:t>
            </a:r>
            <a:r>
              <a:rPr lang="en-US" sz="1050">
                <a:solidFill>
                  <a:srgbClr val="4A4458"/>
                </a:solidFill>
              </a:rPr>
              <a:t>plošná kampaň a pobídka mají v literatuře minimální účinek</a:t>
            </a:r>
            <a:endParaRPr lang="en-US" sz="1050"/>
          </a:p>
        </p:txBody>
      </p:sp>
      <p:sp>
        <p:nvSpPr>
          <p:cNvPr id="27" name="Zdroj">
            <a:extLst>
              <a:ext uri="{FF2B5EF4-FFF2-40B4-BE49-F238E27FC236}">
                <a16:creationId xmlns:a16="http://schemas.microsoft.com/office/drawing/2014/main" id="{B9AC7669-4CDF-094D-DA9C-5E88F7DD8942}"/>
              </a:ext>
            </a:extLst>
          </p:cNvPr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náš úsudek z dat VZP a literatury (docs/interventions.md)</a:t>
            </a:r>
            <a:endParaRPr lang="en-US" sz="900"/>
          </a:p>
        </p:txBody>
      </p:sp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CAF256B2-95ED-9FB0-98BE-86793D8B028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31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1AFA-C04D-9DFB-C7C0-43280E7C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76853B-A0A2-E7FD-A2BD-656EB6AB162B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CÍLENÁ PODPORA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13485E3-D7B5-6D4C-36C5-7252792CEAD9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Hlavní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opatření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zvolené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segmenty</a:t>
            </a:r>
            <a:endParaRPr lang="en-US" sz="2400"/>
          </a:p>
        </p:txBody>
      </p:sp>
      <p:sp>
        <p:nvSpPr>
          <p:cNvPr id="4" name="Úvod">
            <a:extLst>
              <a:ext uri="{FF2B5EF4-FFF2-40B4-BE49-F238E27FC236}">
                <a16:creationId xmlns:a16="http://schemas.microsoft.com/office/drawing/2014/main" id="{700B1B46-A6B1-C2CD-C31B-FB5193C51294}"/>
              </a:ext>
            </a:extLst>
          </p:cNvPr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Vybíráme segmenty B–E: dohromady 81 % pozvánek a 77 % žen, které nepřišly. U každého existuje dosažitelný kanál a opatření s doloženým účinkem.</a:t>
            </a:r>
            <a:endParaRPr lang="en-US" sz="1300"/>
          </a:p>
        </p:txBody>
      </p:sp>
      <p:graphicFrame>
        <p:nvGraphicFramePr>
          <p:cNvPr id="11" name="Tabulka podpory">
            <a:extLst>
              <a:ext uri="{FF2B5EF4-FFF2-40B4-BE49-F238E27FC236}">
                <a16:creationId xmlns:a16="http://schemas.microsoft.com/office/drawing/2014/main" id="{2C9753EE-B95B-FFAB-2B4A-34F069A02872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194560"/>
          <a:ext cx="10634472" cy="3328416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Segment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Hlavní opatření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Skupina opatření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Účinek (p. b.)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 první pozvánka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pevný termín už v první pozvánce, SMS připomínka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Snadné objednání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+10 až +19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 vypadlá z rytmu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připomínka s termínem ve 25.–36. měsíci místo po 3–5 letech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Chytřejší zvaní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 gynekolog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seznam žen bez mamografie pro gynekologa, objednání v ordinaci, bonus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Lékař jako kanál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 jiná prevence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praktik jako nový kanál: seznam žen, upozornění při preventivní prohlídce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Lékař jako kanál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 nedávno vyšetřená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nezvat, ověřit výkony těsně před odesláním (≈ 7 600 dopisů ročně)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Chytřejší zvaní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úspora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65+ v okrese bez centra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doprava, pojízdný mamograf, termín v sousedním okrese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Dostupnost v regionech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lokálně +5 až +15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Poznámka">
            <a:extLst>
              <a:ext uri="{FF2B5EF4-FFF2-40B4-BE49-F238E27FC236}">
                <a16:creationId xmlns:a16="http://schemas.microsoft.com/office/drawing/2014/main" id="{C95204DD-FCF7-2C50-6047-B8F1A7CA4883}"/>
              </a:ext>
            </a:extLst>
          </p:cNvPr>
          <p:cNvSpPr/>
          <p:nvPr/>
        </p:nvSpPr>
        <p:spPr>
          <a:xfrm>
            <a:off x="777240" y="5623560"/>
            <a:ext cx="10634472" cy="502920"/>
          </a:xfrm>
          <a:prstGeom prst="roundRect">
            <a:avLst>
              <a:gd name="adj" fmla="val 10909"/>
            </a:avLst>
          </a:prstGeom>
          <a:solidFill>
            <a:srgbClr val="EFEEF8"/>
          </a:solidFill>
          <a:ln w="12700">
            <a:solidFill>
              <a:srgbClr val="EFEEF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864A49E-2F44-DF7C-E264-1D0DFA8E93E5}"/>
              </a:ext>
            </a:extLst>
          </p:cNvPr>
          <p:cNvSpPr txBox="1"/>
          <p:nvPr/>
        </p:nvSpPr>
        <p:spPr>
          <a:xfrm>
            <a:off x="1005840" y="5623560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D27869"/>
                </a:solidFill>
              </a:rPr>
              <a:t>F a G zatím nevybíráme: </a:t>
            </a:r>
            <a:r>
              <a:rPr lang="en-US" sz="1050">
                <a:solidFill>
                  <a:srgbClr val="4A4458"/>
                </a:solidFill>
              </a:rPr>
              <a:t>nízká účast i nejistý účinek. Rozpětí účinku pochází z literatury a udává přírůstek oproti dnešnímu dopisu; skutečný účinek ověří experiment.</a:t>
            </a:r>
            <a:endParaRPr lang="en-US" sz="10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A3287A4-730F-5019-706E-D7A3091266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36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EF79-8FA1-7A3E-0EE4-3AC6F410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BD3821-4343-0862-9DF3-5916DEAAF16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UKÁZKA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C5F952B-4EA0-96E1-0584-22A9F18D6A6B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Ukázka dopisů pro tři segmenty</a:t>
            </a:r>
            <a:endParaRPr lang="en-US" sz="2400"/>
          </a:p>
        </p:txBody>
      </p:sp>
      <p:sp>
        <p:nvSpPr>
          <p:cNvPr id="4" name="Rámeček dopisu">
            <a:extLst>
              <a:ext uri="{FF2B5EF4-FFF2-40B4-BE49-F238E27FC236}">
                <a16:creationId xmlns:a16="http://schemas.microsoft.com/office/drawing/2014/main" id="{1C7E1FD7-81FD-34E3-9188-2B7E1E44E4CC}"/>
              </a:ext>
            </a:extLst>
          </p:cNvPr>
          <p:cNvSpPr/>
          <p:nvPr/>
        </p:nvSpPr>
        <p:spPr>
          <a:xfrm>
            <a:off x="1197864" y="1572768"/>
            <a:ext cx="2770632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Návrh dopisu: B první pozvánka: co mě čeká">
            <a:extLst>
              <a:ext uri="{FF2B5EF4-FFF2-40B4-BE49-F238E27FC236}">
                <a16:creationId xmlns:a16="http://schemas.microsoft.com/office/drawing/2014/main" id="{40D36ED9-E95E-AC02-12F2-D3D267CEB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9344"/>
            <a:ext cx="2697480" cy="381304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3FDB9EF-1D90-5FC3-E655-79BC25A6A632}"/>
              </a:ext>
            </a:extLst>
          </p:cNvPr>
          <p:cNvSpPr txBox="1"/>
          <p:nvPr/>
        </p:nvSpPr>
        <p:spPr>
          <a:xfrm>
            <a:off x="105156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B první pozvánka: co mě čeká</a:t>
            </a:r>
            <a:endParaRPr lang="en-US" sz="1100"/>
          </a:p>
        </p:txBody>
      </p:sp>
      <p:sp>
        <p:nvSpPr>
          <p:cNvPr id="7" name="Rámeček dopisu">
            <a:extLst>
              <a:ext uri="{FF2B5EF4-FFF2-40B4-BE49-F238E27FC236}">
                <a16:creationId xmlns:a16="http://schemas.microsoft.com/office/drawing/2014/main" id="{63ADBA40-14C0-9BD2-F2C2-833FF37FC6E9}"/>
              </a:ext>
            </a:extLst>
          </p:cNvPr>
          <p:cNvSpPr/>
          <p:nvPr/>
        </p:nvSpPr>
        <p:spPr>
          <a:xfrm>
            <a:off x="4718304" y="1572768"/>
            <a:ext cx="2770632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Návrh dopisu: D, E bez screeningu: vyvrácení mýtů">
            <a:extLst>
              <a:ext uri="{FF2B5EF4-FFF2-40B4-BE49-F238E27FC236}">
                <a16:creationId xmlns:a16="http://schemas.microsoft.com/office/drawing/2014/main" id="{9E6AB628-BB26-8BBF-A9A3-4E4FCD668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09344"/>
            <a:ext cx="2697480" cy="381304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4671646D-056D-9823-294B-EC973B180D7F}"/>
              </a:ext>
            </a:extLst>
          </p:cNvPr>
          <p:cNvSpPr txBox="1"/>
          <p:nvPr/>
        </p:nvSpPr>
        <p:spPr>
          <a:xfrm>
            <a:off x="457200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D, E bez screeningu: vyvrácení mýtů</a:t>
            </a:r>
            <a:endParaRPr lang="en-US" sz="1100"/>
          </a:p>
        </p:txBody>
      </p:sp>
      <p:sp>
        <p:nvSpPr>
          <p:cNvPr id="10" name="Rámeček dopisu">
            <a:extLst>
              <a:ext uri="{FF2B5EF4-FFF2-40B4-BE49-F238E27FC236}">
                <a16:creationId xmlns:a16="http://schemas.microsoft.com/office/drawing/2014/main" id="{7B625C4D-E4BE-7C86-7A47-60F8650D2F09}"/>
              </a:ext>
            </a:extLst>
          </p:cNvPr>
          <p:cNvSpPr/>
          <p:nvPr/>
        </p:nvSpPr>
        <p:spPr>
          <a:xfrm>
            <a:off x="8238744" y="1572768"/>
            <a:ext cx="2770632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1" name="Image 2" descr="Návrh dopisu: C vypadlá z rytmu: pomoc s překážkami">
            <a:extLst>
              <a:ext uri="{FF2B5EF4-FFF2-40B4-BE49-F238E27FC236}">
                <a16:creationId xmlns:a16="http://schemas.microsoft.com/office/drawing/2014/main" id="{D423A22F-FE4C-EA31-A4C1-8D73BEE8C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609344"/>
            <a:ext cx="2697480" cy="3813048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0428A276-CCD4-F345-6E5E-3D5C4066F126}"/>
              </a:ext>
            </a:extLst>
          </p:cNvPr>
          <p:cNvSpPr txBox="1"/>
          <p:nvPr/>
        </p:nvSpPr>
        <p:spPr>
          <a:xfrm>
            <a:off x="809244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C vypadlá z rytmu: pomoc s překážkami</a:t>
            </a:r>
            <a:endParaRPr lang="en-US" sz="1100"/>
          </a:p>
        </p:txBody>
      </p:sp>
      <p:sp>
        <p:nvSpPr>
          <p:cNvPr id="13" name="Zdroj">
            <a:extLst>
              <a:ext uri="{FF2B5EF4-FFF2-40B4-BE49-F238E27FC236}">
                <a16:creationId xmlns:a16="http://schemas.microsoft.com/office/drawing/2014/main" id="{7473E8D8-7778-FE0C-16B7-CDF4F3121DEF}"/>
              </a:ext>
            </a:extLst>
          </p:cNvPr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Návrhy dopisů k revizi; fakta v dopisech ověříme se zdravotním garantem VZP</a:t>
            </a:r>
            <a:endParaRPr lang="en-US" sz="9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C118C25-7EBD-9B9D-5696-1D7F0822CD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16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C8D6E-D1BC-7309-6458-A4FF036D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EEDDDE-DDFE-CB55-5B2A-7D35F6670BCC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EXPERIMENT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8CB6F6D-F7E7-BA5C-95D5-C084FB9D8849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 ověří účinek proti dnešnímu dopisu</a:t>
            </a:r>
            <a:endParaRPr lang="en-US" sz="2400"/>
          </a:p>
        </p:txBody>
      </p:sp>
      <p:sp>
        <p:nvSpPr>
          <p:cNvPr id="4" name="Úvod">
            <a:extLst>
              <a:ext uri="{FF2B5EF4-FFF2-40B4-BE49-F238E27FC236}">
                <a16:creationId xmlns:a16="http://schemas.microsoft.com/office/drawing/2014/main" id="{E5F31436-A2A4-7338-DAF3-6BC6B295DC30}"/>
              </a:ext>
            </a:extLst>
          </p:cNvPr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Ženy v segmentech B–E náhodně rozdělíme do ramen. Kontrolní skupina dostane dnešní dopis, takže měříme přínos oproti současné praxi.</a:t>
            </a:r>
            <a:endParaRPr lang="en-US" sz="1300"/>
          </a:p>
        </p:txBody>
      </p:sp>
      <p:sp>
        <p:nvSpPr>
          <p:cNvPr id="5" name="Vstup">
            <a:extLst>
              <a:ext uri="{FF2B5EF4-FFF2-40B4-BE49-F238E27FC236}">
                <a16:creationId xmlns:a16="http://schemas.microsoft.com/office/drawing/2014/main" id="{573C7561-AD42-4D1F-7290-1D8F77FC0FFB}"/>
              </a:ext>
            </a:extLst>
          </p:cNvPr>
          <p:cNvSpPr/>
          <p:nvPr/>
        </p:nvSpPr>
        <p:spPr>
          <a:xfrm>
            <a:off x="777240" y="299008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2A23C5-B24B-D56E-A6C0-C4346834FC24}"/>
              </a:ext>
            </a:extLst>
          </p:cNvPr>
          <p:cNvSpPr txBox="1"/>
          <p:nvPr/>
        </p:nvSpPr>
        <p:spPr>
          <a:xfrm>
            <a:off x="868680" y="3026664"/>
            <a:ext cx="1828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Segmenty B–E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ženy, které VZP zve</a:t>
            </a:r>
            <a:endParaRPr lang="en-US" sz="1150"/>
          </a:p>
        </p:txBody>
      </p:sp>
      <p:sp>
        <p:nvSpPr>
          <p:cNvPr id="7" name="Randomizace">
            <a:extLst>
              <a:ext uri="{FF2B5EF4-FFF2-40B4-BE49-F238E27FC236}">
                <a16:creationId xmlns:a16="http://schemas.microsoft.com/office/drawing/2014/main" id="{61DACC6B-793F-973E-A75B-CADBE2563AEB}"/>
              </a:ext>
            </a:extLst>
          </p:cNvPr>
          <p:cNvSpPr/>
          <p:nvPr/>
        </p:nvSpPr>
        <p:spPr>
          <a:xfrm>
            <a:off x="3200400" y="299008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FEEF8"/>
          </a:solidFill>
          <a:ln w="12700">
            <a:solidFill>
              <a:srgbClr val="7A78C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CB1368-3F7F-D495-1B31-71F603F603A8}"/>
              </a:ext>
            </a:extLst>
          </p:cNvPr>
          <p:cNvSpPr txBox="1"/>
          <p:nvPr/>
        </p:nvSpPr>
        <p:spPr>
          <a:xfrm>
            <a:off x="3291840" y="3026664"/>
            <a:ext cx="1645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Náhodné rozdělení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ženy; u lékařů po praxích</a:t>
            </a:r>
            <a:endParaRPr lang="en-US" sz="1150"/>
          </a:p>
        </p:txBody>
      </p:sp>
      <p:sp>
        <p:nvSpPr>
          <p:cNvPr id="9" name="Rameno 0">
            <a:extLst>
              <a:ext uri="{FF2B5EF4-FFF2-40B4-BE49-F238E27FC236}">
                <a16:creationId xmlns:a16="http://schemas.microsoft.com/office/drawing/2014/main" id="{1C43E18F-8252-FD27-AD87-73147ADBD802}"/>
              </a:ext>
            </a:extLst>
          </p:cNvPr>
          <p:cNvSpPr/>
          <p:nvPr/>
        </p:nvSpPr>
        <p:spPr>
          <a:xfrm>
            <a:off x="5486400" y="210312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3F2F6"/>
          </a:solidFill>
          <a:ln w="12700">
            <a:solidFill>
              <a:srgbClr val="B5B2C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BBCA59-4128-70BB-6669-306E73A4C773}"/>
              </a:ext>
            </a:extLst>
          </p:cNvPr>
          <p:cNvSpPr txBox="1"/>
          <p:nvPr/>
        </p:nvSpPr>
        <p:spPr>
          <a:xfrm>
            <a:off x="5577840" y="2139696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Kontrola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dnešní dopis</a:t>
            </a:r>
            <a:endParaRPr lang="en-US" sz="1150"/>
          </a:p>
        </p:txBody>
      </p:sp>
      <p:sp>
        <p:nvSpPr>
          <p:cNvPr id="11" name="Rameno 1">
            <a:extLst>
              <a:ext uri="{FF2B5EF4-FFF2-40B4-BE49-F238E27FC236}">
                <a16:creationId xmlns:a16="http://schemas.microsoft.com/office/drawing/2014/main" id="{10368145-CBA9-47AB-D74E-FC28E5344E7A}"/>
              </a:ext>
            </a:extLst>
          </p:cNvPr>
          <p:cNvSpPr/>
          <p:nvPr/>
        </p:nvSpPr>
        <p:spPr>
          <a:xfrm>
            <a:off x="5486400" y="2816352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E09ACD-4152-1589-C406-13911BB0E2F0}"/>
              </a:ext>
            </a:extLst>
          </p:cNvPr>
          <p:cNvSpPr txBox="1"/>
          <p:nvPr/>
        </p:nvSpPr>
        <p:spPr>
          <a:xfrm>
            <a:off x="5577840" y="2852928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Rameno 1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nový dopis podle segmentu</a:t>
            </a:r>
            <a:endParaRPr lang="en-US" sz="1150"/>
          </a:p>
        </p:txBody>
      </p:sp>
      <p:sp>
        <p:nvSpPr>
          <p:cNvPr id="13" name="Rameno 2">
            <a:extLst>
              <a:ext uri="{FF2B5EF4-FFF2-40B4-BE49-F238E27FC236}">
                <a16:creationId xmlns:a16="http://schemas.microsoft.com/office/drawing/2014/main" id="{9CEAF130-CAF7-9B02-29FF-EA4D431A8142}"/>
              </a:ext>
            </a:extLst>
          </p:cNvPr>
          <p:cNvSpPr/>
          <p:nvPr/>
        </p:nvSpPr>
        <p:spPr>
          <a:xfrm>
            <a:off x="5486400" y="3529584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82258F9-F0C5-9CD9-5D2E-C15752979078}"/>
              </a:ext>
            </a:extLst>
          </p:cNvPr>
          <p:cNvSpPr txBox="1"/>
          <p:nvPr/>
        </p:nvSpPr>
        <p:spPr>
          <a:xfrm>
            <a:off x="5577840" y="356616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Rameno 2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pevný termín + SMS</a:t>
            </a:r>
            <a:endParaRPr lang="en-US" sz="1150"/>
          </a:p>
        </p:txBody>
      </p:sp>
      <p:sp>
        <p:nvSpPr>
          <p:cNvPr id="15" name="Rameno 3">
            <a:extLst>
              <a:ext uri="{FF2B5EF4-FFF2-40B4-BE49-F238E27FC236}">
                <a16:creationId xmlns:a16="http://schemas.microsoft.com/office/drawing/2014/main" id="{4DF7361F-9F5B-9D15-32BB-730B74819F48}"/>
              </a:ext>
            </a:extLst>
          </p:cNvPr>
          <p:cNvSpPr/>
          <p:nvPr/>
        </p:nvSpPr>
        <p:spPr>
          <a:xfrm>
            <a:off x="5486400" y="4242816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B03B103-CF36-ACDE-7F78-57540D19A08C}"/>
              </a:ext>
            </a:extLst>
          </p:cNvPr>
          <p:cNvSpPr txBox="1"/>
          <p:nvPr/>
        </p:nvSpPr>
        <p:spPr>
          <a:xfrm>
            <a:off x="5577840" y="427939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Rameno 3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lékař jako kanál</a:t>
            </a:r>
            <a:endParaRPr lang="en-US" sz="1150"/>
          </a:p>
        </p:txBody>
      </p:sp>
      <p:sp>
        <p:nvSpPr>
          <p:cNvPr id="17" name="Výsledek">
            <a:extLst>
              <a:ext uri="{FF2B5EF4-FFF2-40B4-BE49-F238E27FC236}">
                <a16:creationId xmlns:a16="http://schemas.microsoft.com/office/drawing/2014/main" id="{9EDECB74-A4C5-FBD3-B340-BE5D791234D4}"/>
              </a:ext>
            </a:extLst>
          </p:cNvPr>
          <p:cNvSpPr/>
          <p:nvPr/>
        </p:nvSpPr>
        <p:spPr>
          <a:xfrm>
            <a:off x="8549640" y="2990088"/>
            <a:ext cx="2862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A6A07A9-53CA-16F7-440B-9E94885ECE9C}"/>
              </a:ext>
            </a:extLst>
          </p:cNvPr>
          <p:cNvSpPr txBox="1"/>
          <p:nvPr/>
        </p:nvSpPr>
        <p:spPr>
          <a:xfrm>
            <a:off x="8641080" y="3026664"/>
            <a:ext cx="26791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Výsledek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vykázaná mamografie do 6 měsíců, data VZP</a:t>
            </a:r>
            <a:endParaRPr lang="en-US" sz="1150"/>
          </a:p>
        </p:txBody>
      </p:sp>
      <p:sp>
        <p:nvSpPr>
          <p:cNvPr id="19" name="Šipka">
            <a:extLst>
              <a:ext uri="{FF2B5EF4-FFF2-40B4-BE49-F238E27FC236}">
                <a16:creationId xmlns:a16="http://schemas.microsoft.com/office/drawing/2014/main" id="{3510B6BC-7764-1CA9-65DE-8F9A8542F844}"/>
              </a:ext>
            </a:extLst>
          </p:cNvPr>
          <p:cNvSpPr/>
          <p:nvPr/>
        </p:nvSpPr>
        <p:spPr>
          <a:xfrm>
            <a:off x="2788920" y="3470148"/>
            <a:ext cx="411480" cy="0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0" name="Šipka">
            <a:extLst>
              <a:ext uri="{FF2B5EF4-FFF2-40B4-BE49-F238E27FC236}">
                <a16:creationId xmlns:a16="http://schemas.microsoft.com/office/drawing/2014/main" id="{AD57A6B4-7345-D772-F37D-6CBAE7D1E2C2}"/>
              </a:ext>
            </a:extLst>
          </p:cNvPr>
          <p:cNvSpPr/>
          <p:nvPr/>
        </p:nvSpPr>
        <p:spPr>
          <a:xfrm flipV="1">
            <a:off x="5029200" y="2400300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Šipka">
            <a:extLst>
              <a:ext uri="{FF2B5EF4-FFF2-40B4-BE49-F238E27FC236}">
                <a16:creationId xmlns:a16="http://schemas.microsoft.com/office/drawing/2014/main" id="{C5FD45A9-F18A-77B7-83A3-909F59A806C4}"/>
              </a:ext>
            </a:extLst>
          </p:cNvPr>
          <p:cNvSpPr/>
          <p:nvPr/>
        </p:nvSpPr>
        <p:spPr>
          <a:xfrm>
            <a:off x="8092440" y="2400300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2" name="Šipka">
            <a:extLst>
              <a:ext uri="{FF2B5EF4-FFF2-40B4-BE49-F238E27FC236}">
                <a16:creationId xmlns:a16="http://schemas.microsoft.com/office/drawing/2014/main" id="{B40E2C57-9E1A-A70D-7064-FCF00DC3E237}"/>
              </a:ext>
            </a:extLst>
          </p:cNvPr>
          <p:cNvSpPr/>
          <p:nvPr/>
        </p:nvSpPr>
        <p:spPr>
          <a:xfrm flipV="1">
            <a:off x="5029200" y="3113532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3" name="Šipka">
            <a:extLst>
              <a:ext uri="{FF2B5EF4-FFF2-40B4-BE49-F238E27FC236}">
                <a16:creationId xmlns:a16="http://schemas.microsoft.com/office/drawing/2014/main" id="{E810B72D-FB3F-5C20-646A-F27F31AFE3FA}"/>
              </a:ext>
            </a:extLst>
          </p:cNvPr>
          <p:cNvSpPr/>
          <p:nvPr/>
        </p:nvSpPr>
        <p:spPr>
          <a:xfrm>
            <a:off x="8092440" y="3113532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4" name="Šipka">
            <a:extLst>
              <a:ext uri="{FF2B5EF4-FFF2-40B4-BE49-F238E27FC236}">
                <a16:creationId xmlns:a16="http://schemas.microsoft.com/office/drawing/2014/main" id="{FA1E9B60-936E-5607-4D95-D38E9B02FE65}"/>
              </a:ext>
            </a:extLst>
          </p:cNvPr>
          <p:cNvSpPr/>
          <p:nvPr/>
        </p:nvSpPr>
        <p:spPr>
          <a:xfrm>
            <a:off x="5029200" y="3470148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5" name="Šipka">
            <a:extLst>
              <a:ext uri="{FF2B5EF4-FFF2-40B4-BE49-F238E27FC236}">
                <a16:creationId xmlns:a16="http://schemas.microsoft.com/office/drawing/2014/main" id="{004820EF-7448-3033-0C28-C00637DEE93D}"/>
              </a:ext>
            </a:extLst>
          </p:cNvPr>
          <p:cNvSpPr/>
          <p:nvPr/>
        </p:nvSpPr>
        <p:spPr>
          <a:xfrm flipV="1">
            <a:off x="8092440" y="3470148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6" name="Šipka">
            <a:extLst>
              <a:ext uri="{FF2B5EF4-FFF2-40B4-BE49-F238E27FC236}">
                <a16:creationId xmlns:a16="http://schemas.microsoft.com/office/drawing/2014/main" id="{4ECF8DCE-F281-02A9-DCCB-0525706AB67D}"/>
              </a:ext>
            </a:extLst>
          </p:cNvPr>
          <p:cNvSpPr/>
          <p:nvPr/>
        </p:nvSpPr>
        <p:spPr>
          <a:xfrm>
            <a:off x="5029200" y="3470148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7" name="Šipka">
            <a:extLst>
              <a:ext uri="{FF2B5EF4-FFF2-40B4-BE49-F238E27FC236}">
                <a16:creationId xmlns:a16="http://schemas.microsoft.com/office/drawing/2014/main" id="{5DDA0038-57E3-3193-8FAC-BCA155CD624C}"/>
              </a:ext>
            </a:extLst>
          </p:cNvPr>
          <p:cNvSpPr/>
          <p:nvPr/>
        </p:nvSpPr>
        <p:spPr>
          <a:xfrm flipV="1">
            <a:off x="8092440" y="3470148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8" name="Ukazatel">
            <a:extLst>
              <a:ext uri="{FF2B5EF4-FFF2-40B4-BE49-F238E27FC236}">
                <a16:creationId xmlns:a16="http://schemas.microsoft.com/office/drawing/2014/main" id="{DDC887B6-1ED5-3F96-2CD7-E284699A4C32}"/>
              </a:ext>
            </a:extLst>
          </p:cNvPr>
          <p:cNvSpPr/>
          <p:nvPr/>
        </p:nvSpPr>
        <p:spPr>
          <a:xfrm>
            <a:off x="777240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Ukazatel – číslo">
            <a:extLst>
              <a:ext uri="{FF2B5EF4-FFF2-40B4-BE49-F238E27FC236}">
                <a16:creationId xmlns:a16="http://schemas.microsoft.com/office/drawing/2014/main" id="{2E5262A6-C1C5-8AF5-9BF7-C78A1ECCEFDB}"/>
              </a:ext>
            </a:extLst>
          </p:cNvPr>
          <p:cNvSpPr txBox="1"/>
          <p:nvPr/>
        </p:nvSpPr>
        <p:spPr>
          <a:xfrm>
            <a:off x="978408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3–9 tis. žen</a:t>
            </a:r>
            <a:endParaRPr lang="en-US" sz="1700"/>
          </a:p>
        </p:txBody>
      </p:sp>
      <p:sp>
        <p:nvSpPr>
          <p:cNvPr id="30" name="Ukazatel – popis">
            <a:extLst>
              <a:ext uri="{FF2B5EF4-FFF2-40B4-BE49-F238E27FC236}">
                <a16:creationId xmlns:a16="http://schemas.microsoft.com/office/drawing/2014/main" id="{033C4A0A-FB11-A185-AB6D-0807F8EBC97C}"/>
              </a:ext>
            </a:extLst>
          </p:cNvPr>
          <p:cNvSpPr txBox="1"/>
          <p:nvPr/>
        </p:nvSpPr>
        <p:spPr>
          <a:xfrm>
            <a:off x="978408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na rameno odhalí rozdíl +2 až +3 p. b.</a:t>
            </a:r>
            <a:endParaRPr lang="en-US" sz="1050"/>
          </a:p>
        </p:txBody>
      </p:sp>
      <p:sp>
        <p:nvSpPr>
          <p:cNvPr id="31" name="Ukazatel">
            <a:extLst>
              <a:ext uri="{FF2B5EF4-FFF2-40B4-BE49-F238E27FC236}">
                <a16:creationId xmlns:a16="http://schemas.microsoft.com/office/drawing/2014/main" id="{56BEC646-F487-53F1-85F5-216B6E91D2F5}"/>
              </a:ext>
            </a:extLst>
          </p:cNvPr>
          <p:cNvSpPr/>
          <p:nvPr/>
        </p:nvSpPr>
        <p:spPr>
          <a:xfrm>
            <a:off x="3493008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Ukazatel – číslo">
            <a:extLst>
              <a:ext uri="{FF2B5EF4-FFF2-40B4-BE49-F238E27FC236}">
                <a16:creationId xmlns:a16="http://schemas.microsoft.com/office/drawing/2014/main" id="{91442A60-7C2D-FF32-E841-0272E7671662}"/>
              </a:ext>
            </a:extLst>
          </p:cNvPr>
          <p:cNvSpPr txBox="1"/>
          <p:nvPr/>
        </p:nvSpPr>
        <p:spPr>
          <a:xfrm>
            <a:off x="3694176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Předregistrace</a:t>
            </a:r>
            <a:endParaRPr lang="en-US" sz="1700"/>
          </a:p>
        </p:txBody>
      </p:sp>
      <p:sp>
        <p:nvSpPr>
          <p:cNvPr id="33" name="Ukazatel – popis">
            <a:extLst>
              <a:ext uri="{FF2B5EF4-FFF2-40B4-BE49-F238E27FC236}">
                <a16:creationId xmlns:a16="http://schemas.microsoft.com/office/drawing/2014/main" id="{E38C735D-905E-323B-F8C4-5ADB51074996}"/>
              </a:ext>
            </a:extLst>
          </p:cNvPr>
          <p:cNvSpPr txBox="1"/>
          <p:nvPr/>
        </p:nvSpPr>
        <p:spPr>
          <a:xfrm>
            <a:off x="3694176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hypotézy, sledovaný ukazatel a analýza stanovené předem</a:t>
            </a:r>
            <a:endParaRPr lang="en-US" sz="1050"/>
          </a:p>
        </p:txBody>
      </p:sp>
      <p:sp>
        <p:nvSpPr>
          <p:cNvPr id="34" name="Ukazatel">
            <a:extLst>
              <a:ext uri="{FF2B5EF4-FFF2-40B4-BE49-F238E27FC236}">
                <a16:creationId xmlns:a16="http://schemas.microsoft.com/office/drawing/2014/main" id="{9A60D655-56EC-7C1B-22FA-5FA98126FC16}"/>
              </a:ext>
            </a:extLst>
          </p:cNvPr>
          <p:cNvSpPr/>
          <p:nvPr/>
        </p:nvSpPr>
        <p:spPr>
          <a:xfrm>
            <a:off x="6208776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Ukazatel – číslo">
            <a:extLst>
              <a:ext uri="{FF2B5EF4-FFF2-40B4-BE49-F238E27FC236}">
                <a16:creationId xmlns:a16="http://schemas.microsoft.com/office/drawing/2014/main" id="{8BD629C5-1F43-FBFD-1491-E87042884B64}"/>
              </a:ext>
            </a:extLst>
          </p:cNvPr>
          <p:cNvSpPr txBox="1"/>
          <p:nvPr/>
        </p:nvSpPr>
        <p:spPr>
          <a:xfrm>
            <a:off x="6409944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Podle přidělení</a:t>
            </a:r>
            <a:endParaRPr lang="en-US" sz="1700"/>
          </a:p>
        </p:txBody>
      </p:sp>
      <p:sp>
        <p:nvSpPr>
          <p:cNvPr id="36" name="Ukazatel – popis">
            <a:extLst>
              <a:ext uri="{FF2B5EF4-FFF2-40B4-BE49-F238E27FC236}">
                <a16:creationId xmlns:a16="http://schemas.microsoft.com/office/drawing/2014/main" id="{2AFDEC00-EB3A-2C24-6EC2-7379725385B4}"/>
              </a:ext>
            </a:extLst>
          </p:cNvPr>
          <p:cNvSpPr txBox="1"/>
          <p:nvPr/>
        </p:nvSpPr>
        <p:spPr>
          <a:xfrm>
            <a:off x="6409944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vyhodnocení všech žen v rameni (ITT)</a:t>
            </a:r>
            <a:endParaRPr lang="en-US" sz="1050"/>
          </a:p>
        </p:txBody>
      </p:sp>
      <p:sp>
        <p:nvSpPr>
          <p:cNvPr id="37" name="Ukazatel">
            <a:extLst>
              <a:ext uri="{FF2B5EF4-FFF2-40B4-BE49-F238E27FC236}">
                <a16:creationId xmlns:a16="http://schemas.microsoft.com/office/drawing/2014/main" id="{BF4960D3-F14A-4D06-D535-2A567EF74CE8}"/>
              </a:ext>
            </a:extLst>
          </p:cNvPr>
          <p:cNvSpPr/>
          <p:nvPr/>
        </p:nvSpPr>
        <p:spPr>
          <a:xfrm>
            <a:off x="8924544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Ukazatel – číslo">
            <a:extLst>
              <a:ext uri="{FF2B5EF4-FFF2-40B4-BE49-F238E27FC236}">
                <a16:creationId xmlns:a16="http://schemas.microsoft.com/office/drawing/2014/main" id="{B6FF0512-800C-044E-48EF-66CCF63BCE82}"/>
              </a:ext>
            </a:extLst>
          </p:cNvPr>
          <p:cNvSpPr txBox="1"/>
          <p:nvPr/>
        </p:nvSpPr>
        <p:spPr>
          <a:xfrm>
            <a:off x="9125712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Pilot s VZP</a:t>
            </a:r>
            <a:endParaRPr lang="en-US" sz="1700"/>
          </a:p>
        </p:txBody>
      </p:sp>
      <p:sp>
        <p:nvSpPr>
          <p:cNvPr id="39" name="Ukazatel – popis">
            <a:extLst>
              <a:ext uri="{FF2B5EF4-FFF2-40B4-BE49-F238E27FC236}">
                <a16:creationId xmlns:a16="http://schemas.microsoft.com/office/drawing/2014/main" id="{E308BF38-6126-DC30-5D6A-41841D495FDF}"/>
              </a:ext>
            </a:extLst>
          </p:cNvPr>
          <p:cNvSpPr txBox="1"/>
          <p:nvPr/>
        </p:nvSpPr>
        <p:spPr>
          <a:xfrm>
            <a:off x="9125712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v rámci řízeného vstupu inovací</a:t>
            </a:r>
            <a:endParaRPr lang="en-US" sz="105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D4EF0F79-C6C3-8BDF-F1FC-BC104678FBE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91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0397-5AC6-ECB7-728D-07681927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1A9BD9-BA08-7AA4-CEFA-6C068F561863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DOPAD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C96C7FC-D7B9-5329-2E83-BB4F3E2939BB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 může přinést plošné nasazení: odhad finančního modelu</a:t>
            </a:r>
            <a:endParaRPr lang="en-US" sz="2400"/>
          </a:p>
        </p:txBody>
      </p:sp>
      <p:sp>
        <p:nvSpPr>
          <p:cNvPr id="4" name="Úvod">
            <a:extLst>
              <a:ext uri="{FF2B5EF4-FFF2-40B4-BE49-F238E27FC236}">
                <a16:creationId xmlns:a16="http://schemas.microsoft.com/office/drawing/2014/main" id="{D7C9C699-958F-F2E6-6299-7C630B4CA635}"/>
              </a:ext>
            </a:extLst>
          </p:cNvPr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První tři čísla jsou změřená na ženách, které VZP pozvala v roce 2024. Další tři jsou odhad finančního modelu pro 1,5 mil. klientek VZP 45+ za roky 2027–2031; obě populace zatím nepropojujeme.</a:t>
            </a:r>
            <a:endParaRPr lang="en-US" sz="1300"/>
          </a:p>
        </p:txBody>
      </p:sp>
      <p:sp>
        <p:nvSpPr>
          <p:cNvPr id="5" name="Krok 1">
            <a:extLst>
              <a:ext uri="{FF2B5EF4-FFF2-40B4-BE49-F238E27FC236}">
                <a16:creationId xmlns:a16="http://schemas.microsoft.com/office/drawing/2014/main" id="{53DE7BCF-F826-31B9-5F1B-8D5790A1BDA3}"/>
              </a:ext>
            </a:extLst>
          </p:cNvPr>
          <p:cNvSpPr/>
          <p:nvPr/>
        </p:nvSpPr>
        <p:spPr>
          <a:xfrm>
            <a:off x="777240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64FD4A-B672-C1C0-B834-927193F2639E}"/>
              </a:ext>
            </a:extLst>
          </p:cNvPr>
          <p:cNvSpPr txBox="1"/>
          <p:nvPr/>
        </p:nvSpPr>
        <p:spPr>
          <a:xfrm>
            <a:off x="868680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256 466</a:t>
            </a:r>
            <a:endParaRPr lang="en-US"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1E2695-0977-2629-8D44-84B116767A82}"/>
              </a:ext>
            </a:extLst>
          </p:cNvPr>
          <p:cNvSpPr txBox="1"/>
          <p:nvPr/>
        </p:nvSpPr>
        <p:spPr>
          <a:xfrm>
            <a:off x="868680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žen pozvala VZP v roce 2024</a:t>
            </a:r>
            <a:endParaRPr lang="en-US" sz="1000"/>
          </a:p>
        </p:txBody>
      </p:sp>
      <p:sp>
        <p:nvSpPr>
          <p:cNvPr id="8" name="Šipka">
            <a:extLst>
              <a:ext uri="{FF2B5EF4-FFF2-40B4-BE49-F238E27FC236}">
                <a16:creationId xmlns:a16="http://schemas.microsoft.com/office/drawing/2014/main" id="{A78AB9CC-60AB-36AC-FDC5-660208660CEC}"/>
              </a:ext>
            </a:extLst>
          </p:cNvPr>
          <p:cNvSpPr txBox="1"/>
          <p:nvPr/>
        </p:nvSpPr>
        <p:spPr>
          <a:xfrm>
            <a:off x="2295144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9" name="Krok 2">
            <a:extLst>
              <a:ext uri="{FF2B5EF4-FFF2-40B4-BE49-F238E27FC236}">
                <a16:creationId xmlns:a16="http://schemas.microsoft.com/office/drawing/2014/main" id="{0B1EC9E3-4CF5-FFBF-6B08-340D58342F24}"/>
              </a:ext>
            </a:extLst>
          </p:cNvPr>
          <p:cNvSpPr/>
          <p:nvPr/>
        </p:nvSpPr>
        <p:spPr>
          <a:xfrm>
            <a:off x="2600554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DEF68A-FB1C-B3CF-CB5F-456881D49BB2}"/>
              </a:ext>
            </a:extLst>
          </p:cNvPr>
          <p:cNvSpPr txBox="1"/>
          <p:nvPr/>
        </p:nvSpPr>
        <p:spPr>
          <a:xfrm>
            <a:off x="2691994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207 201</a:t>
            </a:r>
            <a:endParaRPr lang="en-US"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3DB5D14-D0D8-2345-FE4F-7509B557490B}"/>
              </a:ext>
            </a:extLst>
          </p:cNvPr>
          <p:cNvSpPr txBox="1"/>
          <p:nvPr/>
        </p:nvSpPr>
        <p:spPr>
          <a:xfrm>
            <a:off x="2691994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z nich nepřišlo do 12 měsíců</a:t>
            </a:r>
            <a:endParaRPr lang="en-US" sz="1000"/>
          </a:p>
        </p:txBody>
      </p:sp>
      <p:sp>
        <p:nvSpPr>
          <p:cNvPr id="12" name="Šipka">
            <a:extLst>
              <a:ext uri="{FF2B5EF4-FFF2-40B4-BE49-F238E27FC236}">
                <a16:creationId xmlns:a16="http://schemas.microsoft.com/office/drawing/2014/main" id="{1767C4E4-6458-D8F0-1F6F-073500B0D62E}"/>
              </a:ext>
            </a:extLst>
          </p:cNvPr>
          <p:cNvSpPr txBox="1"/>
          <p:nvPr/>
        </p:nvSpPr>
        <p:spPr>
          <a:xfrm>
            <a:off x="4118458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13" name="Krok 3">
            <a:extLst>
              <a:ext uri="{FF2B5EF4-FFF2-40B4-BE49-F238E27FC236}">
                <a16:creationId xmlns:a16="http://schemas.microsoft.com/office/drawing/2014/main" id="{5D285908-A300-2EB0-6163-ED38E50A34DE}"/>
              </a:ext>
            </a:extLst>
          </p:cNvPr>
          <p:cNvSpPr/>
          <p:nvPr/>
        </p:nvSpPr>
        <p:spPr>
          <a:xfrm>
            <a:off x="4423867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30E91D-AA21-89E5-C110-5DF14881E6AB}"/>
              </a:ext>
            </a:extLst>
          </p:cNvPr>
          <p:cNvSpPr txBox="1"/>
          <p:nvPr/>
        </p:nvSpPr>
        <p:spPr>
          <a:xfrm>
            <a:off x="4515307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159 063</a:t>
            </a:r>
            <a:endParaRPr lang="en-US" sz="18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E0DA309-27D2-BB6E-98B0-D0F9ABFBC536}"/>
              </a:ext>
            </a:extLst>
          </p:cNvPr>
          <p:cNvSpPr txBox="1"/>
          <p:nvPr/>
        </p:nvSpPr>
        <p:spPr>
          <a:xfrm>
            <a:off x="4515307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z nich v segmentech B–E</a:t>
            </a:r>
            <a:endParaRPr lang="en-US" sz="1000"/>
          </a:p>
        </p:txBody>
      </p:sp>
      <p:sp>
        <p:nvSpPr>
          <p:cNvPr id="17" name="Krok 4">
            <a:extLst>
              <a:ext uri="{FF2B5EF4-FFF2-40B4-BE49-F238E27FC236}">
                <a16:creationId xmlns:a16="http://schemas.microsoft.com/office/drawing/2014/main" id="{8F367601-540F-C39E-BFAD-71D1FE0E5CB6}"/>
              </a:ext>
            </a:extLst>
          </p:cNvPr>
          <p:cNvSpPr/>
          <p:nvPr/>
        </p:nvSpPr>
        <p:spPr>
          <a:xfrm>
            <a:off x="6247181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A6A1DA-C4E5-91F4-646C-9EF5E6EFA973}"/>
              </a:ext>
            </a:extLst>
          </p:cNvPr>
          <p:cNvSpPr txBox="1"/>
          <p:nvPr/>
        </p:nvSpPr>
        <p:spPr>
          <a:xfrm>
            <a:off x="6338621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3B7A"/>
                </a:solidFill>
              </a:rPr>
              <a:t>≈ 291 tis.</a:t>
            </a: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0F0829F-6F59-E098-A69E-A64AC48E307A}"/>
              </a:ext>
            </a:extLst>
          </p:cNvPr>
          <p:cNvSpPr txBox="1"/>
          <p:nvPr/>
        </p:nvSpPr>
        <p:spPr>
          <a:xfrm>
            <a:off x="6338621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03B7A"/>
                </a:solidFill>
              </a:rPr>
              <a:t>vyšetření navíc za 2027–2031</a:t>
            </a:r>
            <a:endParaRPr lang="en-US" sz="1000"/>
          </a:p>
        </p:txBody>
      </p:sp>
      <p:sp>
        <p:nvSpPr>
          <p:cNvPr id="20" name="Šipka">
            <a:extLst>
              <a:ext uri="{FF2B5EF4-FFF2-40B4-BE49-F238E27FC236}">
                <a16:creationId xmlns:a16="http://schemas.microsoft.com/office/drawing/2014/main" id="{E19D7EC0-D11E-D7D7-4B1F-22D2D977BFE5}"/>
              </a:ext>
            </a:extLst>
          </p:cNvPr>
          <p:cNvSpPr txBox="1"/>
          <p:nvPr/>
        </p:nvSpPr>
        <p:spPr>
          <a:xfrm>
            <a:off x="7765085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21" name="Krok 5">
            <a:extLst>
              <a:ext uri="{FF2B5EF4-FFF2-40B4-BE49-F238E27FC236}">
                <a16:creationId xmlns:a16="http://schemas.microsoft.com/office/drawing/2014/main" id="{794C133D-8F9F-5EFD-E842-5C2F62D51ACB}"/>
              </a:ext>
            </a:extLst>
          </p:cNvPr>
          <p:cNvSpPr/>
          <p:nvPr/>
        </p:nvSpPr>
        <p:spPr>
          <a:xfrm>
            <a:off x="8070494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85FA46B-BBE0-EB18-B844-3977EBCAAB01}"/>
              </a:ext>
            </a:extLst>
          </p:cNvPr>
          <p:cNvSpPr txBox="1"/>
          <p:nvPr/>
        </p:nvSpPr>
        <p:spPr>
          <a:xfrm>
            <a:off x="8161934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3B7A"/>
                </a:solidFill>
              </a:rPr>
              <a:t>≈ 1 600</a:t>
            </a:r>
            <a:endParaRPr lang="en-US" sz="11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DE458E4-942A-0FA9-1894-26B0689B0D0C}"/>
              </a:ext>
            </a:extLst>
          </p:cNvPr>
          <p:cNvSpPr txBox="1"/>
          <p:nvPr/>
        </p:nvSpPr>
        <p:spPr>
          <a:xfrm>
            <a:off x="8161934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03B7A"/>
                </a:solidFill>
              </a:rPr>
              <a:t>dříve zachycených nádorů, ≈ 190 odvrácených úmrtí</a:t>
            </a:r>
            <a:endParaRPr lang="en-US" sz="1000"/>
          </a:p>
        </p:txBody>
      </p:sp>
      <p:sp>
        <p:nvSpPr>
          <p:cNvPr id="24" name="Šipka">
            <a:extLst>
              <a:ext uri="{FF2B5EF4-FFF2-40B4-BE49-F238E27FC236}">
                <a16:creationId xmlns:a16="http://schemas.microsoft.com/office/drawing/2014/main" id="{72E3AB31-4F8F-8169-DE9E-295F47F26719}"/>
              </a:ext>
            </a:extLst>
          </p:cNvPr>
          <p:cNvSpPr txBox="1"/>
          <p:nvPr/>
        </p:nvSpPr>
        <p:spPr>
          <a:xfrm>
            <a:off x="9588398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25" name="Krok 6">
            <a:extLst>
              <a:ext uri="{FF2B5EF4-FFF2-40B4-BE49-F238E27FC236}">
                <a16:creationId xmlns:a16="http://schemas.microsoft.com/office/drawing/2014/main" id="{2DCC51DE-B494-B74D-BB02-194E9366022D}"/>
              </a:ext>
            </a:extLst>
          </p:cNvPr>
          <p:cNvSpPr/>
          <p:nvPr/>
        </p:nvSpPr>
        <p:spPr>
          <a:xfrm>
            <a:off x="9893808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1AEDE5B-0FD9-18A0-BEA2-9B0E1C700F80}"/>
              </a:ext>
            </a:extLst>
          </p:cNvPr>
          <p:cNvSpPr txBox="1"/>
          <p:nvPr/>
        </p:nvSpPr>
        <p:spPr>
          <a:xfrm>
            <a:off x="9985248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3B7A"/>
                </a:solidFill>
              </a:rPr>
              <a:t>≈ 156 mil. Kč</a:t>
            </a:r>
            <a:endParaRPr lang="en-US" sz="11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BD5A874-EEB0-5081-3C7D-F9E2C601AB85}"/>
              </a:ext>
            </a:extLst>
          </p:cNvPr>
          <p:cNvSpPr txBox="1"/>
          <p:nvPr/>
        </p:nvSpPr>
        <p:spPr>
          <a:xfrm>
            <a:off x="9985248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03B7A"/>
                </a:solidFill>
              </a:rPr>
              <a:t>čistý přínos za 5 let, z toho 34 mil. Kč za dopisy</a:t>
            </a:r>
            <a:endParaRPr lang="en-US" sz="1000"/>
          </a:p>
        </p:txBody>
      </p:sp>
      <p:sp>
        <p:nvSpPr>
          <p:cNvPr id="28" name="Nejistota">
            <a:extLst>
              <a:ext uri="{FF2B5EF4-FFF2-40B4-BE49-F238E27FC236}">
                <a16:creationId xmlns:a16="http://schemas.microsoft.com/office/drawing/2014/main" id="{CA0F2366-E2DB-F305-3A48-BA01C5FA5970}"/>
              </a:ext>
            </a:extLst>
          </p:cNvPr>
          <p:cNvSpPr/>
          <p:nvPr/>
        </p:nvSpPr>
        <p:spPr>
          <a:xfrm>
            <a:off x="777240" y="4023360"/>
            <a:ext cx="51937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E84C847-E717-CE48-AE10-0425F33D759D}"/>
              </a:ext>
            </a:extLst>
          </p:cNvPr>
          <p:cNvSpPr txBox="1"/>
          <p:nvPr/>
        </p:nvSpPr>
        <p:spPr>
          <a:xfrm>
            <a:off x="1051560" y="4187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0F3C"/>
                </a:solidFill>
              </a:rPr>
              <a:t>Rozhodující nejistota</a:t>
            </a:r>
            <a:endParaRPr lang="en-US" sz="13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BD1267F-5B3B-5BCA-6D40-59F14CFCA63F}"/>
              </a:ext>
            </a:extLst>
          </p:cNvPr>
          <p:cNvSpPr txBox="1"/>
          <p:nvPr/>
        </p:nvSpPr>
        <p:spPr>
          <a:xfrm>
            <a:off x="1051560" y="45720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A4458"/>
                </a:solidFill>
              </a:rPr>
              <a:t>Výsledek stojí na ceně léčby stadia IV, v modelu 3 mil. Kč na pacientku (odhad týmu). Pod ≈ 1,9 mil. Kč vychází první vyšetření navíc finančně zhruba na nulu a přínosem zůstávají zachráněné životy.</a:t>
            </a:r>
            <a:endParaRPr lang="en-US" sz="1150"/>
          </a:p>
        </p:txBody>
      </p:sp>
      <p:sp>
        <p:nvSpPr>
          <p:cNvPr id="31" name="Předpoklady">
            <a:extLst>
              <a:ext uri="{FF2B5EF4-FFF2-40B4-BE49-F238E27FC236}">
                <a16:creationId xmlns:a16="http://schemas.microsoft.com/office/drawing/2014/main" id="{271AED41-CDFB-F543-763A-396E22A48A65}"/>
              </a:ext>
            </a:extLst>
          </p:cNvPr>
          <p:cNvSpPr/>
          <p:nvPr/>
        </p:nvSpPr>
        <p:spPr>
          <a:xfrm>
            <a:off x="6217920" y="4023360"/>
            <a:ext cx="51937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D12450C-6961-39BF-A01A-ED5C46B5DD3F}"/>
              </a:ext>
            </a:extLst>
          </p:cNvPr>
          <p:cNvSpPr txBox="1"/>
          <p:nvPr/>
        </p:nvSpPr>
        <p:spPr>
          <a:xfrm>
            <a:off x="6492240" y="4187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0F3C"/>
                </a:solidFill>
              </a:rPr>
              <a:t>Na čem výpočet stojí</a:t>
            </a:r>
            <a:endParaRPr lang="en-US" sz="13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F0E7915-DF4C-5CC3-2077-62A16B4790EA}"/>
              </a:ext>
            </a:extLst>
          </p:cNvPr>
          <p:cNvSpPr txBox="1"/>
          <p:nvPr/>
        </p:nvSpPr>
        <p:spPr>
          <a:xfrm>
            <a:off x="6492240" y="45720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A4458"/>
                </a:solidFill>
              </a:rPr>
              <a:t>Digitální kaskáda (push, e-mail, SMS, RCS) přivede ročně o 6 p. b. víc z ≈ 614 tis. žen bez prevence (konzervativně 3, optimisticky 10). Model počítá s návratem 80 %, data VZP dávají u žen dříve bez screeningu 60–70 %.</a:t>
            </a:r>
            <a:endParaRPr lang="en-US" sz="1150"/>
          </a:p>
        </p:txBody>
      </p:sp>
      <p:sp>
        <p:nvSpPr>
          <p:cNvPr id="34" name="Zdroj">
            <a:extLst>
              <a:ext uri="{FF2B5EF4-FFF2-40B4-BE49-F238E27FC236}">
                <a16:creationId xmlns:a16="http://schemas.microsoft.com/office/drawing/2014/main" id="{A3E82C3E-1971-0A6A-841C-25DC51F628FF}"/>
              </a:ext>
            </a:extLst>
          </p:cNvPr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2026; finanční model (docs/Financial_model, 16. 10. 2026); audit čísel (docs/AUDIT_CISEL.md)</a:t>
            </a:r>
            <a:endParaRPr lang="en-US" sz="900"/>
          </a:p>
        </p:txBody>
      </p:sp>
      <p:sp>
        <p:nvSpPr>
          <p:cNvPr id="16" name="Slide Number Placeholder 0">
            <a:extLst>
              <a:ext uri="{FF2B5EF4-FFF2-40B4-BE49-F238E27FC236}">
                <a16:creationId xmlns:a16="http://schemas.microsoft.com/office/drawing/2014/main" id="{1A6DCA5A-7724-32A3-70B0-46ACAB13BB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15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2603-1418-7D45-175E-156F0B22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7E4B7C-2CE4-23F4-A1D2-F13CB0BCD501}"/>
              </a:ext>
            </a:extLst>
          </p:cNvPr>
          <p:cNvSpPr txBox="1"/>
          <p:nvPr/>
        </p:nvSpPr>
        <p:spPr>
          <a:xfrm>
            <a:off x="777240" y="1554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FFFFFF"/>
                </a:solidFill>
              </a:rPr>
              <a:t>Nabízíme VZP pilot</a:t>
            </a:r>
            <a:endParaRPr lang="en-US"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4C9444-6284-CE54-2D84-0226A5C53627}"/>
              </a:ext>
            </a:extLst>
          </p:cNvPr>
          <p:cNvSpPr txBox="1"/>
          <p:nvPr/>
        </p:nvSpPr>
        <p:spPr>
          <a:xfrm>
            <a:off x="777240" y="26060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E6E4F7"/>
                </a:solidFill>
              </a:rPr>
              <a:t>Pilot </a:t>
            </a:r>
            <a:r>
              <a:rPr lang="en-US" sz="1600" err="1">
                <a:solidFill>
                  <a:srgbClr val="E6E4F7"/>
                </a:solidFill>
              </a:rPr>
              <a:t>segmentů</a:t>
            </a:r>
            <a:r>
              <a:rPr lang="en-US" sz="1600">
                <a:solidFill>
                  <a:srgbClr val="E6E4F7"/>
                </a:solidFill>
              </a:rPr>
              <a:t> B–E s </a:t>
            </a:r>
            <a:r>
              <a:rPr lang="en-US" sz="1600" err="1">
                <a:solidFill>
                  <a:srgbClr val="E6E4F7"/>
                </a:solidFill>
              </a:rPr>
              <a:t>randomizací</a:t>
            </a:r>
            <a:r>
              <a:rPr lang="en-US" sz="1600">
                <a:solidFill>
                  <a:srgbClr val="E6E4F7"/>
                </a:solidFill>
              </a:rPr>
              <a:t> v </a:t>
            </a:r>
            <a:r>
              <a:rPr lang="en-US" sz="1600" err="1">
                <a:solidFill>
                  <a:srgbClr val="E6E4F7"/>
                </a:solidFill>
              </a:rPr>
              <a:t>rámci</a:t>
            </a:r>
            <a:r>
              <a:rPr lang="en-US" sz="1600">
                <a:solidFill>
                  <a:srgbClr val="E6E4F7"/>
                </a:solidFill>
              </a:rPr>
              <a:t> </a:t>
            </a:r>
            <a:r>
              <a:rPr lang="en-US" sz="1600" err="1">
                <a:solidFill>
                  <a:srgbClr val="E6E4F7"/>
                </a:solidFill>
              </a:rPr>
              <a:t>řízeného</a:t>
            </a:r>
            <a:r>
              <a:rPr lang="en-US" sz="1600">
                <a:solidFill>
                  <a:srgbClr val="E6E4F7"/>
                </a:solidFill>
              </a:rPr>
              <a:t> </a:t>
            </a:r>
            <a:r>
              <a:rPr lang="en-US" sz="1600" err="1">
                <a:solidFill>
                  <a:srgbClr val="E6E4F7"/>
                </a:solidFill>
              </a:rPr>
              <a:t>vstupu</a:t>
            </a:r>
            <a:r>
              <a:rPr lang="en-US" sz="1600">
                <a:solidFill>
                  <a:srgbClr val="E6E4F7"/>
                </a:solidFill>
              </a:rPr>
              <a:t> </a:t>
            </a:r>
            <a:r>
              <a:rPr lang="en-US" sz="1600" err="1">
                <a:solidFill>
                  <a:srgbClr val="E6E4F7"/>
                </a:solidFill>
              </a:rPr>
              <a:t>inovací</a:t>
            </a:r>
            <a:r>
              <a:rPr lang="en-US" sz="1600">
                <a:solidFill>
                  <a:srgbClr val="E6E4F7"/>
                </a:solidFill>
              </a:rPr>
              <a:t> VZP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E6E4F7"/>
                </a:solidFill>
              </a:rPr>
              <a:t>Model, </a:t>
            </a:r>
            <a:r>
              <a:rPr lang="en-US" sz="1600" err="1">
                <a:solidFill>
                  <a:srgbClr val="E6E4F7"/>
                </a:solidFill>
              </a:rPr>
              <a:t>segmenty</a:t>
            </a:r>
            <a:r>
              <a:rPr lang="en-US" sz="1600">
                <a:solidFill>
                  <a:srgbClr val="E6E4F7"/>
                </a:solidFill>
              </a:rPr>
              <a:t> a </a:t>
            </a:r>
            <a:r>
              <a:rPr lang="en-US" sz="1600" err="1">
                <a:solidFill>
                  <a:srgbClr val="E6E4F7"/>
                </a:solidFill>
              </a:rPr>
              <a:t>návrh</a:t>
            </a:r>
            <a:r>
              <a:rPr lang="en-US" sz="1600">
                <a:solidFill>
                  <a:srgbClr val="E6E4F7"/>
                </a:solidFill>
              </a:rPr>
              <a:t> </a:t>
            </a:r>
            <a:r>
              <a:rPr lang="en-US" sz="1600" err="1">
                <a:solidFill>
                  <a:srgbClr val="E6E4F7"/>
                </a:solidFill>
              </a:rPr>
              <a:t>experimentu</a:t>
            </a:r>
            <a:r>
              <a:rPr lang="en-US" sz="1600">
                <a:solidFill>
                  <a:srgbClr val="E6E4F7"/>
                </a:solidFill>
              </a:rPr>
              <a:t> </a:t>
            </a:r>
            <a:r>
              <a:rPr lang="en-US" sz="1600" err="1">
                <a:solidFill>
                  <a:srgbClr val="E6E4F7"/>
                </a:solidFill>
              </a:rPr>
              <a:t>předáme</a:t>
            </a:r>
            <a:r>
              <a:rPr lang="en-US" sz="1600">
                <a:solidFill>
                  <a:srgbClr val="E6E4F7"/>
                </a:solidFill>
              </a:rPr>
              <a:t> </a:t>
            </a:r>
            <a:r>
              <a:rPr lang="en-US" sz="1600" err="1">
                <a:solidFill>
                  <a:srgbClr val="E6E4F7"/>
                </a:solidFill>
              </a:rPr>
              <a:t>včetně</a:t>
            </a:r>
            <a:r>
              <a:rPr lang="en-US" sz="1600">
                <a:solidFill>
                  <a:srgbClr val="E6E4F7"/>
                </a:solidFill>
              </a:rPr>
              <a:t> </a:t>
            </a:r>
            <a:r>
              <a:rPr lang="en-US" sz="1600" err="1">
                <a:solidFill>
                  <a:srgbClr val="E6E4F7"/>
                </a:solidFill>
              </a:rPr>
              <a:t>kódu</a:t>
            </a:r>
            <a:r>
              <a:rPr lang="en-US" sz="1600">
                <a:solidFill>
                  <a:srgbClr val="E6E4F7"/>
                </a:solidFill>
              </a:rPr>
              <a:t> a </a:t>
            </a:r>
            <a:r>
              <a:rPr lang="en-US" sz="1600" err="1">
                <a:solidFill>
                  <a:srgbClr val="E6E4F7"/>
                </a:solidFill>
              </a:rPr>
              <a:t>dokumentace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err="1">
                <a:solidFill>
                  <a:srgbClr val="E6E4F7"/>
                </a:solidFill>
              </a:rPr>
              <a:t>Zkušenosti</a:t>
            </a:r>
            <a:r>
              <a:rPr lang="en-US" sz="1600">
                <a:solidFill>
                  <a:srgbClr val="E6E4F7"/>
                </a:solidFill>
              </a:rPr>
              <a:t> ze </a:t>
            </a:r>
            <a:r>
              <a:rPr lang="en-US" sz="1600" err="1">
                <a:solidFill>
                  <a:srgbClr val="E6E4F7"/>
                </a:solidFill>
              </a:rPr>
              <a:t>zdravotnictví</a:t>
            </a:r>
            <a:r>
              <a:rPr lang="en-US" sz="1600">
                <a:solidFill>
                  <a:srgbClr val="E6E4F7"/>
                </a:solidFill>
              </a:rPr>
              <a:t>, z data science </a:t>
            </a:r>
            <a:r>
              <a:rPr lang="en-US" sz="1600" err="1">
                <a:solidFill>
                  <a:srgbClr val="E6E4F7"/>
                </a:solidFill>
              </a:rPr>
              <a:t>i</a:t>
            </a:r>
            <a:r>
              <a:rPr lang="en-US" sz="1600">
                <a:solidFill>
                  <a:srgbClr val="E6E4F7"/>
                </a:solidFill>
              </a:rPr>
              <a:t> z </a:t>
            </a:r>
            <a:r>
              <a:rPr lang="en-US" sz="1600" err="1">
                <a:solidFill>
                  <a:srgbClr val="E6E4F7"/>
                </a:solidFill>
              </a:rPr>
              <a:t>byznysu</a:t>
            </a:r>
            <a:endParaRPr lang="en-US" sz="1600">
              <a:solidFill>
                <a:srgbClr val="E6E4F7"/>
              </a:solidFill>
            </a:endParaRPr>
          </a:p>
          <a:p>
            <a:pPr>
              <a:spcAft>
                <a:spcPts val="1000"/>
              </a:spcAft>
              <a:buSzPct val="100000"/>
            </a:pPr>
            <a:endParaRPr lang="en-US"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C0EEAE-E80E-5E9F-2932-17D11793043B}"/>
              </a:ext>
            </a:extLst>
          </p:cNvPr>
          <p:cNvSpPr txBox="1"/>
          <p:nvPr/>
        </p:nvSpPr>
        <p:spPr>
          <a:xfrm>
            <a:off x="777240" y="49377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Jakub Weiner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AD8F2"/>
                </a:solidFill>
              </a:rPr>
              <a:t>jakub@weiner.cz · +420 602 307 893 · www.weinerpartners.cz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330063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C7F2-F792-F15C-F725-54E0441D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86D8F0-9BF0-587D-2144-AC2A53864042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974737A-851E-B326-7DCC-04BEE9DF0944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Přehled zvažovaných intervencí a jejich očekávaného účinku</a:t>
            </a:r>
            <a:endParaRPr lang="en-US" sz="2400"/>
          </a:p>
        </p:txBody>
      </p:sp>
      <p:sp>
        <p:nvSpPr>
          <p:cNvPr id="4" name="Úvod">
            <a:extLst>
              <a:ext uri="{FF2B5EF4-FFF2-40B4-BE49-F238E27FC236}">
                <a16:creationId xmlns:a16="http://schemas.microsoft.com/office/drawing/2014/main" id="{7CC14881-7E4F-4808-B3F5-9F12D21884DB}"/>
              </a:ext>
            </a:extLst>
          </p:cNvPr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Účinek je přírůstek oproti dnešnímu dopisu podle literatury; přenos do ČR je náš úsudek a skutečný účinek ověří experiment.</a:t>
            </a:r>
            <a:endParaRPr lang="en-US" sz="1300"/>
          </a:p>
        </p:txBody>
      </p:sp>
      <p:graphicFrame>
        <p:nvGraphicFramePr>
          <p:cNvPr id="11" name="Tabulka podpory">
            <a:extLst>
              <a:ext uri="{FF2B5EF4-FFF2-40B4-BE49-F238E27FC236}">
                <a16:creationId xmlns:a16="http://schemas.microsoft.com/office/drawing/2014/main" id="{982B75E4-E319-6271-AE26-6915DAB8DCC9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103120"/>
          <a:ext cx="10634472" cy="382219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Skupina opatření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Intervence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 koho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Účinek (p. b.)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Chytřejší zvaní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nezvat nedávno vyšetřené, ověřit výkony před odesláním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úspora 7 600 dopisů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dřívější připomínka s termínem ve 25.–36. měsíci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nový dopis: vyvrácení mýtů, přerušení zvyku, „bez žádanky“, podpis lékaře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zvané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 až +4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SMS připomínka s odkazem na objednání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ženy s mobilním číslem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+5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zprávy upravené AI pro minisegmenty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varianty dopisu a SMS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až +2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Snadné objednání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pevný termín místo otevřené pozvánky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B, C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+10 až +19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víkendové a večerní termíny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pracující ženy (B, C)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neměřeno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elektronická žádanka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zvané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bez odhadu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Lékař jako kanál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seznamy žen bez mamografie a zpětná vazba lékařům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D, 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upozornění pro lékaře v EZ kartě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E, F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 až +5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bonus lékařům za mamografický screening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gynekologové, praktici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až +2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Úpravy aplikace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push v Moje VZP a úpravy aplikace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uživatelky aplikace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push 0 až +1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Dostupnost v regionech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doprava a pojízdný mamograf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65+ v okresech bez centra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lokálně +5 až +15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Plošné nástroje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mediální kampaň, influenceři, pacientské organizace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ženy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≈ 0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finanční pobídka ženám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ženy, případně F, 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až +1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Zatím nezařazeno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telefonická navigace: objednat a vyřešit překážku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F, 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+5 až +12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balíček prevence (více screeningů najednou)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−2 až +3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ověření pobytu v ČR, komunitní práce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bez odhadu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3520B40-FB23-EF6F-00D3-5C257059DC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sp>
        <p:nvSpPr>
          <p:cNvPr id="990" name="Zdroj">
            <a:extLst>
              <a:ext uri="{FF2B5EF4-FFF2-40B4-BE49-F238E27FC236}">
                <a16:creationId xmlns:a16="http://schemas.microsoft.com/office/drawing/2014/main" id="{563AA697-F377-F866-3A9E-8949AFDFF3F6}"/>
              </a:ext>
            </a:extLst>
          </p:cNvPr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docs/PREZENTACE.md, kap. 7–11; docs/interventions.md; naše analýza</a:t>
            </a:r>
            <a:endParaRPr lang="en-US" sz="90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2977752C-F716-6534-959B-B76F80E90917}"/>
              </a:ext>
            </a:extLst>
          </p:cNvPr>
          <p:cNvSpPr/>
          <p:nvPr/>
        </p:nvSpPr>
        <p:spPr>
          <a:xfrm>
            <a:off x="7956046" y="-574231"/>
            <a:ext cx="6368903" cy="1169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Potřebujeme lepší popis jednotlivých intervencí i s odkazy na literaturu (příklady z cizích zemí: například Chorvatsko a transport)</a:t>
            </a:r>
          </a:p>
        </p:txBody>
      </p:sp>
    </p:spTree>
    <p:extLst>
      <p:ext uri="{BB962C8B-B14F-4D97-AF65-F5344CB8AC3E}">
        <p14:creationId xmlns:p14="http://schemas.microsoft.com/office/powerpoint/2010/main" val="3560424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8BFB-91E1-DDEB-65C9-8538AF42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480A2F-5693-926D-6ABB-E5F6A783308F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7B1FCAB-522F-7087-A3FE-62FF548A5182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VZP a jejich omezení</a:t>
            </a:r>
            <a:endParaRPr lang="en-US" sz="2400"/>
          </a:p>
        </p:txBody>
      </p:sp>
      <p:sp>
        <p:nvSpPr>
          <p:cNvPr id="4" name="Řádek – Co data jsou">
            <a:extLst>
              <a:ext uri="{FF2B5EF4-FFF2-40B4-BE49-F238E27FC236}">
                <a16:creationId xmlns:a16="http://schemas.microsoft.com/office/drawing/2014/main" id="{7D6655FF-C278-7F2D-0BA8-DC73FA2AF092}"/>
              </a:ext>
            </a:extLst>
          </p:cNvPr>
          <p:cNvSpPr/>
          <p:nvPr/>
        </p:nvSpPr>
        <p:spPr>
          <a:xfrm>
            <a:off x="777240" y="169164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F0EB62-8DBD-0F78-2250-3E8A659A1281}"/>
              </a:ext>
            </a:extLst>
          </p:cNvPr>
          <p:cNvSpPr txBox="1"/>
          <p:nvPr/>
        </p:nvSpPr>
        <p:spPr>
          <a:xfrm>
            <a:off x="105156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Co data jsou</a:t>
            </a:r>
            <a:endParaRPr lang="en-US" sz="1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A415FF-FAA7-D223-348C-DC0452D46F9A}"/>
              </a:ext>
            </a:extLst>
          </p:cNvPr>
          <p:cNvSpPr txBox="1"/>
          <p:nvPr/>
        </p:nvSpPr>
        <p:spPr>
          <a:xfrm>
            <a:off x="3337560" y="169164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1 344 556 adresných pozvánek VZP (dopisy 3, 4, 7 a 8) z let 2020–2024 pro 508 527 žen nepřetržitě pojištěných 2015–2025.</a:t>
            </a:r>
            <a:endParaRPr lang="en-US" sz="1100"/>
          </a:p>
        </p:txBody>
      </p:sp>
      <p:sp>
        <p:nvSpPr>
          <p:cNvPr id="7" name="Řádek – Koho obsahují">
            <a:extLst>
              <a:ext uri="{FF2B5EF4-FFF2-40B4-BE49-F238E27FC236}">
                <a16:creationId xmlns:a16="http://schemas.microsoft.com/office/drawing/2014/main" id="{601C4749-5740-A9BA-A930-B596F6FDA1F0}"/>
              </a:ext>
            </a:extLst>
          </p:cNvPr>
          <p:cNvSpPr/>
          <p:nvPr/>
        </p:nvSpPr>
        <p:spPr>
          <a:xfrm>
            <a:off x="777240" y="256032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BF6FBE-8AE0-9B20-6983-F427F777EA63}"/>
              </a:ext>
            </a:extLst>
          </p:cNvPr>
          <p:cNvSpPr txBox="1"/>
          <p:nvPr/>
        </p:nvSpPr>
        <p:spPr>
          <a:xfrm>
            <a:off x="105156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Koho obsahují</a:t>
            </a:r>
            <a:endParaRPr lang="en-US"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81E84F-7C7B-3FCA-C8FE-3BC8D9B5AF92}"/>
              </a:ext>
            </a:extLst>
          </p:cNvPr>
          <p:cNvSpPr txBox="1"/>
          <p:nvPr/>
        </p:nvSpPr>
        <p:spPr>
          <a:xfrm>
            <a:off x="3337560" y="256032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jen ženy, které VZP zvala, tedy ženy mimo doporučený interval; ženy 40–74 let, bez 75+ a bez nově pojištěných.</a:t>
            </a:r>
            <a:endParaRPr lang="en-US" sz="1100"/>
          </a:p>
        </p:txBody>
      </p:sp>
      <p:sp>
        <p:nvSpPr>
          <p:cNvPr id="10" name="Řádek – Co měříme">
            <a:extLst>
              <a:ext uri="{FF2B5EF4-FFF2-40B4-BE49-F238E27FC236}">
                <a16:creationId xmlns:a16="http://schemas.microsoft.com/office/drawing/2014/main" id="{74FE78C8-E97B-95D2-5CEA-A92A325CECA1}"/>
              </a:ext>
            </a:extLst>
          </p:cNvPr>
          <p:cNvSpPr/>
          <p:nvPr/>
        </p:nvSpPr>
        <p:spPr>
          <a:xfrm>
            <a:off x="777240" y="342900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83F334-0CA7-D54B-9176-ACFD3BE5AFC3}"/>
              </a:ext>
            </a:extLst>
          </p:cNvPr>
          <p:cNvSpPr txBox="1"/>
          <p:nvPr/>
        </p:nvSpPr>
        <p:spPr>
          <a:xfrm>
            <a:off x="105156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Co měříme</a:t>
            </a:r>
            <a:endParaRPr lang="en-US"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D3EF77-2B69-9F05-74E1-B41530C145AB}"/>
              </a:ext>
            </a:extLst>
          </p:cNvPr>
          <p:cNvSpPr txBox="1"/>
          <p:nvPr/>
        </p:nvSpPr>
        <p:spPr>
          <a:xfrm>
            <a:off x="3337560" y="342900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účast do 3, 6 a 12 měsíců od pozvánky; výkony zahrnují i doplňující snímky a ultrazvuk.</a:t>
            </a:r>
            <a:endParaRPr lang="en-US" sz="1100"/>
          </a:p>
        </p:txBody>
      </p:sp>
      <p:sp>
        <p:nvSpPr>
          <p:cNvPr id="13" name="Řádek – Region">
            <a:extLst>
              <a:ext uri="{FF2B5EF4-FFF2-40B4-BE49-F238E27FC236}">
                <a16:creationId xmlns:a16="http://schemas.microsoft.com/office/drawing/2014/main" id="{DC51525C-3770-3A86-AF92-B5208055A81D}"/>
              </a:ext>
            </a:extLst>
          </p:cNvPr>
          <p:cNvSpPr/>
          <p:nvPr/>
        </p:nvSpPr>
        <p:spPr>
          <a:xfrm>
            <a:off x="777240" y="429768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91EF4F-9A1B-E10E-0032-1165A2B63972}"/>
              </a:ext>
            </a:extLst>
          </p:cNvPr>
          <p:cNvSpPr txBox="1"/>
          <p:nvPr/>
        </p:nvSpPr>
        <p:spPr>
          <a:xfrm>
            <a:off x="1051560" y="4297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Region</a:t>
            </a:r>
            <a:endParaRPr lang="en-US"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07BF4B-5506-D184-AFB6-E1EBD2ED60E6}"/>
              </a:ext>
            </a:extLst>
          </p:cNvPr>
          <p:cNvSpPr txBox="1"/>
          <p:nvPr/>
        </p:nvSpPr>
        <p:spPr>
          <a:xfrm>
            <a:off x="3337560" y="429768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územní pracoviště VZP, ne okres; okresní ukazatele lze napojit jen přibližně.</a:t>
            </a:r>
            <a:endParaRPr lang="en-US" sz="1100"/>
          </a:p>
        </p:txBody>
      </p:sp>
      <p:sp>
        <p:nvSpPr>
          <p:cNvPr id="16" name="Řádek – Co chybí">
            <a:extLst>
              <a:ext uri="{FF2B5EF4-FFF2-40B4-BE49-F238E27FC236}">
                <a16:creationId xmlns:a16="http://schemas.microsoft.com/office/drawing/2014/main" id="{3ABF23D8-1071-8154-4AC7-77C15078F1AE}"/>
              </a:ext>
            </a:extLst>
          </p:cNvPr>
          <p:cNvSpPr/>
          <p:nvPr/>
        </p:nvSpPr>
        <p:spPr>
          <a:xfrm>
            <a:off x="777240" y="516636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8C526F-EDDD-3784-E8CE-B5C35EEBF4AB}"/>
              </a:ext>
            </a:extLst>
          </p:cNvPr>
          <p:cNvSpPr txBox="1"/>
          <p:nvPr/>
        </p:nvSpPr>
        <p:spPr>
          <a:xfrm>
            <a:off x="1051560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Co chybí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BFCD915-6E4B-9E3F-80EE-B2D7F0F1DCBE}"/>
              </a:ext>
            </a:extLst>
          </p:cNvPr>
          <p:cNvSpPr txBox="1"/>
          <p:nvPr/>
        </p:nvSpPr>
        <p:spPr>
          <a:xfrm>
            <a:off x="3337560" y="516636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kategorie plátce, okres bydliště, registrující lékař, typ a znění dopisu, kanály, pozvánky po 7/2026.</a:t>
            </a:r>
            <a:endParaRPr lang="en-US" sz="1100"/>
          </a:p>
        </p:txBody>
      </p:sp>
      <p:sp>
        <p:nvSpPr>
          <p:cNvPr id="19" name="Zdroj">
            <a:extLst>
              <a:ext uri="{FF2B5EF4-FFF2-40B4-BE49-F238E27FC236}">
                <a16:creationId xmlns:a16="http://schemas.microsoft.com/office/drawing/2014/main" id="{5E109F85-D2D7-D7DA-1DA0-79CE715745AB}"/>
              </a:ext>
            </a:extLst>
          </p:cNvPr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 a rozhraní dat; docs/RAKATHON_MODEL.md</a:t>
            </a:r>
            <a:endParaRPr lang="en-US" sz="9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4EAED09-4039-E692-3AC6-FB3C7DFA4D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43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D9158-F426-0491-CDBE-CF962867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64659B-364D-F6B2-2D19-5E7A65F2A956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BD89D4F-DBFA-A9E6-2F87-D85D936E81EF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Návrat po mamografii podle segmentu</a:t>
            </a:r>
            <a:endParaRPr lang="en-US" sz="2400"/>
          </a:p>
        </p:txBody>
      </p:sp>
      <p:sp>
        <p:nvSpPr>
          <p:cNvPr id="4" name="Úvod">
            <a:extLst>
              <a:ext uri="{FF2B5EF4-FFF2-40B4-BE49-F238E27FC236}">
                <a16:creationId xmlns:a16="http://schemas.microsoft.com/office/drawing/2014/main" id="{AABB7794-6417-EE10-D95B-199DB4085D28}"/>
              </a:ext>
            </a:extLst>
          </p:cNvPr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Sledujeme ženy, které přišly po pozvánce z 1. pololetí 2020, do konce roku 2024. Návrat znamená spíše „do zhruba 3 let“, protože VZP znovu zve až po 36 a více měsících.</a:t>
            </a:r>
            <a:endParaRPr lang="en-US" sz="1300"/>
          </a:p>
        </p:txBody>
      </p:sp>
      <p:graphicFrame>
        <p:nvGraphicFramePr>
          <p:cNvPr id="17" name="Tabulka návratu">
            <a:extLst>
              <a:ext uri="{FF2B5EF4-FFF2-40B4-BE49-F238E27FC236}">
                <a16:creationId xmlns:a16="http://schemas.microsoft.com/office/drawing/2014/main" id="{8B7F77D0-5755-DCFC-B34E-D5231237A09D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240280"/>
          <a:ext cx="6949440" cy="34381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Skupina (segment pozvánky, po které přišla)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Žen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Návrat: dolní – horní mez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všechny, které přišly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24 267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73–80 %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 první pozvánka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12 066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86–89 %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 vypadlá z rytmu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3 968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64–74 %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D–G dříve bez screeningu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8 175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60–70 %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 toho D gynekolog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4 717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67–75 %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 toho E jiná prevence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2 819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51–64 %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 toho F, 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639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46–61 %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Ukazatel">
            <a:extLst>
              <a:ext uri="{FF2B5EF4-FFF2-40B4-BE49-F238E27FC236}">
                <a16:creationId xmlns:a16="http://schemas.microsoft.com/office/drawing/2014/main" id="{59A8060B-6BB7-38E2-87A6-437CB6349BDD}"/>
              </a:ext>
            </a:extLst>
          </p:cNvPr>
          <p:cNvSpPr/>
          <p:nvPr/>
        </p:nvSpPr>
        <p:spPr>
          <a:xfrm>
            <a:off x="8001000" y="2240280"/>
            <a:ext cx="341071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Ukazatel – číslo">
            <a:extLst>
              <a:ext uri="{FF2B5EF4-FFF2-40B4-BE49-F238E27FC236}">
                <a16:creationId xmlns:a16="http://schemas.microsoft.com/office/drawing/2014/main" id="{B8F7372C-3280-D97A-3497-B633F20C5D90}"/>
              </a:ext>
            </a:extLst>
          </p:cNvPr>
          <p:cNvSpPr txBox="1"/>
          <p:nvPr/>
        </p:nvSpPr>
        <p:spPr>
          <a:xfrm>
            <a:off x="8202168" y="23500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D27869"/>
                </a:solidFill>
              </a:rPr>
              <a:t>60–70 %</a:t>
            </a:r>
            <a:endParaRPr lang="en-US" sz="2400"/>
          </a:p>
        </p:txBody>
      </p:sp>
      <p:sp>
        <p:nvSpPr>
          <p:cNvPr id="8" name="Ukazatel – popis">
            <a:extLst>
              <a:ext uri="{FF2B5EF4-FFF2-40B4-BE49-F238E27FC236}">
                <a16:creationId xmlns:a16="http://schemas.microsoft.com/office/drawing/2014/main" id="{639A603A-CC54-A24C-9E98-4B811CC7B22C}"/>
              </a:ext>
            </a:extLst>
          </p:cNvPr>
          <p:cNvSpPr txBox="1"/>
          <p:nvPr/>
        </p:nvSpPr>
        <p:spPr>
          <a:xfrm>
            <a:off x="8202168" y="2843784"/>
            <a:ext cx="30083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návrat u žen dříve bez screeningu (D–G); u žen po první pozvánce 86–89 %</a:t>
            </a:r>
            <a:endParaRPr lang="en-US" sz="1050"/>
          </a:p>
        </p:txBody>
      </p:sp>
      <p:sp>
        <p:nvSpPr>
          <p:cNvPr id="9" name="Zdroj">
            <a:extLst>
              <a:ext uri="{FF2B5EF4-FFF2-40B4-BE49-F238E27FC236}">
                <a16:creationId xmlns:a16="http://schemas.microsoft.com/office/drawing/2014/main" id="{C22FCF72-3A87-57C9-DB0B-7A8BA52F5FBD}"/>
              </a:ext>
            </a:extLst>
          </p:cNvPr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2026; docs/AUDIT_CISEL.md, kap. 5.3</a:t>
            </a:r>
            <a:endParaRPr lang="en-US" sz="9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0D32ECF-C438-0E20-3858-3BE5C88687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36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6F5A5-FC85-3431-40A6-BF83F50C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53E13C-48E6-1A22-2047-C53E8F1744B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A18A65F-F10A-E041-34F8-1BCD6DCF19F9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Otázky pro VZP a data, která by pilot potřeboval</a:t>
            </a:r>
            <a:endParaRPr lang="en-US" sz="2400"/>
          </a:p>
        </p:txBody>
      </p:sp>
      <p:sp>
        <p:nvSpPr>
          <p:cNvPr id="4" name="Otázky – Data">
            <a:extLst>
              <a:ext uri="{FF2B5EF4-FFF2-40B4-BE49-F238E27FC236}">
                <a16:creationId xmlns:a16="http://schemas.microsoft.com/office/drawing/2014/main" id="{A5D9C59B-29CD-B8CD-7F4F-972DCADA2A35}"/>
              </a:ext>
            </a:extLst>
          </p:cNvPr>
          <p:cNvSpPr/>
          <p:nvPr/>
        </p:nvSpPr>
        <p:spPr>
          <a:xfrm>
            <a:off x="777240" y="1691640"/>
            <a:ext cx="338328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3B1B3E-82F9-6497-8FE4-A327B802C36B}"/>
              </a:ext>
            </a:extLst>
          </p:cNvPr>
          <p:cNvSpPr txBox="1"/>
          <p:nvPr/>
        </p:nvSpPr>
        <p:spPr>
          <a:xfrm>
            <a:off x="105156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B7A"/>
                </a:solidFill>
              </a:rPr>
              <a:t>Data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A9FFD1-D00E-AF91-FACB-3D88AA16F069}"/>
              </a:ext>
            </a:extLst>
          </p:cNvPr>
          <p:cNvSpPr txBox="1"/>
          <p:nvPr/>
        </p:nvSpPr>
        <p:spPr>
          <a:xfrm>
            <a:off x="1051560" y="2331720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typ a znění dopisu (přirozený experiment)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kategorie plátce jako zástupný ukazatel socioekonomické situace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okres bydliště místo územního pracoviště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pseudonym registrujícího praktika a gynekologa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dostupné kanály: Moje VZP, telefon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pozvánky po 7/2026 (reforma bez žádanky)</a:t>
            </a:r>
            <a:endParaRPr lang="en-US" sz="1150"/>
          </a:p>
        </p:txBody>
      </p:sp>
      <p:sp>
        <p:nvSpPr>
          <p:cNvPr id="7" name="Otázky – Ekonomika">
            <a:extLst>
              <a:ext uri="{FF2B5EF4-FFF2-40B4-BE49-F238E27FC236}">
                <a16:creationId xmlns:a16="http://schemas.microsoft.com/office/drawing/2014/main" id="{BC8EE5CD-46E1-7C35-99D7-A433849BF778}"/>
              </a:ext>
            </a:extLst>
          </p:cNvPr>
          <p:cNvSpPr/>
          <p:nvPr/>
        </p:nvSpPr>
        <p:spPr>
          <a:xfrm>
            <a:off x="4402836" y="1691640"/>
            <a:ext cx="338328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772A4C-EA6A-9EA6-B3C8-178C18FBB76C}"/>
              </a:ext>
            </a:extLst>
          </p:cNvPr>
          <p:cNvSpPr txBox="1"/>
          <p:nvPr/>
        </p:nvSpPr>
        <p:spPr>
          <a:xfrm>
            <a:off x="4677156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B7A"/>
                </a:solidFill>
              </a:rPr>
              <a:t>Ekonomika</a:t>
            </a:r>
            <a:endParaRPr lang="en-US"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4DA4CE-7542-0A49-5BDD-6A93B1754BA6}"/>
              </a:ext>
            </a:extLst>
          </p:cNvPr>
          <p:cNvSpPr txBox="1"/>
          <p:nvPr/>
        </p:nvSpPr>
        <p:spPr>
          <a:xfrm>
            <a:off x="4677156" y="2331720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náklady léčby karcinomu prsu podle stadia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úhrada výkonu 89223 a doplňujících vyšetření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náklady kanálů a rozpočet na kampaň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kapacita a objednací lhůty mamocenter</a:t>
            </a:r>
            <a:endParaRPr lang="en-US" sz="1150"/>
          </a:p>
        </p:txBody>
      </p:sp>
      <p:sp>
        <p:nvSpPr>
          <p:cNvPr id="10" name="Otázky – Systém">
            <a:extLst>
              <a:ext uri="{FF2B5EF4-FFF2-40B4-BE49-F238E27FC236}">
                <a16:creationId xmlns:a16="http://schemas.microsoft.com/office/drawing/2014/main" id="{A9D2CA08-999B-DCF6-6CDC-14439E63B8A4}"/>
              </a:ext>
            </a:extLst>
          </p:cNvPr>
          <p:cNvSpPr/>
          <p:nvPr/>
        </p:nvSpPr>
        <p:spPr>
          <a:xfrm>
            <a:off x="8028432" y="1691640"/>
            <a:ext cx="338328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AF6C7B-AF40-251D-0695-670D58E75507}"/>
              </a:ext>
            </a:extLst>
          </p:cNvPr>
          <p:cNvSpPr txBox="1"/>
          <p:nvPr/>
        </p:nvSpPr>
        <p:spPr>
          <a:xfrm>
            <a:off x="8302752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B7A"/>
                </a:solidFill>
              </a:rPr>
              <a:t>Systém</a:t>
            </a:r>
            <a:endParaRPr lang="en-US"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AE1AEA-FC8A-6FF0-6110-38D3501159E5}"/>
              </a:ext>
            </a:extLst>
          </p:cNvPr>
          <p:cNvSpPr txBox="1"/>
          <p:nvPr/>
        </p:nvSpPr>
        <p:spPr>
          <a:xfrm>
            <a:off x="8302752" y="2331720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úhradový mechanismus praktiků a možnost bonusu za mamografický screening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jak VZP zve dnes: otevřená pozvánka, kanály, frekvence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počet aktivních uživatelů aplikace Moje VZP</a:t>
            </a:r>
            <a:endParaRPr lang="en-US"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9469F5C-C8C4-AF30-609F-E1DD1F963A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82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SKUPINY KLIENTEK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Většinu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žen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které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nepřišly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lze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oslovit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jinak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než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dopisem</a:t>
            </a:r>
            <a:endParaRPr lang="en-US" sz="2400" err="1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err="1">
                <a:solidFill>
                  <a:srgbClr val="4A4458"/>
                </a:solidFill>
              </a:rPr>
              <a:t>Segmenty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stojí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jen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na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polích</a:t>
            </a:r>
            <a:r>
              <a:rPr lang="en-US" sz="1300">
                <a:solidFill>
                  <a:srgbClr val="4A4458"/>
                </a:solidFill>
              </a:rPr>
              <a:t> v </a:t>
            </a:r>
            <a:r>
              <a:rPr lang="en-US" sz="1300" err="1">
                <a:solidFill>
                  <a:srgbClr val="4A4458"/>
                </a:solidFill>
              </a:rPr>
              <a:t>poskytnutých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datech</a:t>
            </a:r>
            <a:r>
              <a:rPr lang="en-US" sz="1300">
                <a:solidFill>
                  <a:srgbClr val="4A4458"/>
                </a:solidFill>
              </a:rPr>
              <a:t>, a </a:t>
            </a:r>
            <a:r>
              <a:rPr lang="en-US" sz="1300" err="1">
                <a:solidFill>
                  <a:srgbClr val="4A4458"/>
                </a:solidFill>
              </a:rPr>
              <a:t>jsou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vzájemně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výlučné</a:t>
            </a:r>
            <a:r>
              <a:rPr lang="en-US" sz="1300">
                <a:solidFill>
                  <a:srgbClr val="4A4458"/>
                </a:solidFill>
              </a:rPr>
              <a:t>. </a:t>
            </a:r>
            <a:r>
              <a:rPr lang="en-US" sz="1300" err="1">
                <a:solidFill>
                  <a:srgbClr val="4A4458"/>
                </a:solidFill>
              </a:rPr>
              <a:t>Účast</a:t>
            </a:r>
            <a:r>
              <a:rPr lang="en-US" sz="1300">
                <a:solidFill>
                  <a:srgbClr val="4A4458"/>
                </a:solidFill>
              </a:rPr>
              <a:t> se </a:t>
            </a:r>
            <a:r>
              <a:rPr lang="en-US" sz="1300" err="1">
                <a:solidFill>
                  <a:srgbClr val="4A4458"/>
                </a:solidFill>
              </a:rPr>
              <a:t>mezi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nimi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liší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víc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než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dvacetinásobně</a:t>
            </a:r>
            <a:r>
              <a:rPr lang="en-US" sz="1300">
                <a:solidFill>
                  <a:srgbClr val="4A4458"/>
                </a:solidFill>
              </a:rPr>
              <a:t>.</a:t>
            </a:r>
            <a:endParaRPr lang="en-US" sz="1300"/>
          </a:p>
        </p:txBody>
      </p:sp>
      <p:graphicFrame>
        <p:nvGraphicFramePr>
          <p:cNvPr id="9" name="Tabulka segmentů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961499"/>
              </p:ext>
            </p:extLst>
          </p:nvPr>
        </p:nvGraphicFramePr>
        <p:xfrm>
          <a:off x="777240" y="2011680"/>
          <a:ext cx="7863840" cy="386791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Segment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Ženy 2024</a:t>
                      </a:r>
                      <a:endParaRPr lang="en-US" sz="1050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Účast do 12m od pozvání</a:t>
                      </a:r>
                      <a:endParaRPr lang="en-US" sz="1050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Nepřišlo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Kanál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A nedávno vyšetřená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7 600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7 418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nezvat, ověřit výkony před odesláním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B první pozvánka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37 460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55 %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16 820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dopis s pevným termínem, SMS</a:t>
                      </a:r>
                      <a:endParaRPr lang="en-US" sz="1050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C vypadlá z rytmu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28 577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33 %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19 111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dřívější připomínka s termínem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D bez screeningu, chodí ke gynekologovi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51 047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21 %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40 573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gynekolog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E bez screeningu, jiná prevence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89 351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82 559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praktik, zubař, jiný screening</a:t>
                      </a:r>
                      <a:endParaRPr lang="en-US" sz="1050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F jen léčebná péče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28 368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26 977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ošetřující lékaři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G mimo péči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14 063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13 743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nejdřív ověřit kontakt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/>
                          <a:ea typeface="Poppins" pitchFamily="34" charset="-122"/>
                          <a:cs typeface="Poppins"/>
                        </a:rPr>
                        <a:t>Celkem</a:t>
                      </a:r>
                      <a:endParaRPr lang="en-US" sz="1050" err="1">
                        <a:latin typeface="Poppins"/>
                        <a:ea typeface="Poppins" charset="0"/>
                        <a:cs typeface="Poppins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256 466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207 201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Ukazatel"/>
          <p:cNvSpPr/>
          <p:nvPr/>
        </p:nvSpPr>
        <p:spPr>
          <a:xfrm>
            <a:off x="8915400" y="2011680"/>
            <a:ext cx="249631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Ukazatel – číslo"/>
          <p:cNvSpPr txBox="1"/>
          <p:nvPr/>
        </p:nvSpPr>
        <p:spPr>
          <a:xfrm>
            <a:off x="9116568" y="212140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3B7A"/>
                </a:solidFill>
              </a:rPr>
              <a:t>59 %</a:t>
            </a:r>
            <a:endParaRPr lang="en-US" sz="2400"/>
          </a:p>
        </p:txBody>
      </p:sp>
      <p:sp>
        <p:nvSpPr>
          <p:cNvPr id="8" name="Ukazatel – popis"/>
          <p:cNvSpPr txBox="1"/>
          <p:nvPr/>
        </p:nvSpPr>
        <p:spPr>
          <a:xfrm>
            <a:off x="9116568" y="2615184"/>
            <a:ext cx="20939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žen</a:t>
            </a:r>
            <a:r>
              <a:rPr lang="en-US" sz="1050">
                <a:solidFill>
                  <a:srgbClr val="4A4458"/>
                </a:solidFill>
              </a:rPr>
              <a:t>, </a:t>
            </a:r>
            <a:r>
              <a:rPr lang="en-US" sz="1050" err="1">
                <a:solidFill>
                  <a:srgbClr val="4A4458"/>
                </a:solidFill>
              </a:rPr>
              <a:t>které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nepřišly</a:t>
            </a:r>
            <a:r>
              <a:rPr lang="en-US" sz="1050">
                <a:solidFill>
                  <a:srgbClr val="4A4458"/>
                </a:solidFill>
              </a:rPr>
              <a:t>, </a:t>
            </a:r>
            <a:r>
              <a:rPr lang="en-US" sz="1050" err="1">
                <a:solidFill>
                  <a:srgbClr val="4A4458"/>
                </a:solidFill>
              </a:rPr>
              <a:t>patří</a:t>
            </a:r>
            <a:r>
              <a:rPr lang="en-US" sz="1050">
                <a:solidFill>
                  <a:srgbClr val="4A4458"/>
                </a:solidFill>
              </a:rPr>
              <a:t> do </a:t>
            </a:r>
            <a:r>
              <a:rPr lang="en-US" sz="1050" err="1">
                <a:solidFill>
                  <a:srgbClr val="4A4458"/>
                </a:solidFill>
              </a:rPr>
              <a:t>segmentů</a:t>
            </a:r>
            <a:r>
              <a:rPr lang="en-US" sz="1050">
                <a:solidFill>
                  <a:srgbClr val="4A4458"/>
                </a:solidFill>
              </a:rPr>
              <a:t> D a E: </a:t>
            </a:r>
            <a:r>
              <a:rPr lang="en-US" sz="1050" err="1">
                <a:solidFill>
                  <a:srgbClr val="4A4458"/>
                </a:solidFill>
              </a:rPr>
              <a:t>chodí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ke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gynekologovi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nebo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na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jinou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prevenci</a:t>
            </a:r>
            <a:endParaRPr lang="en-US" sz="1050" err="1"/>
          </a:p>
        </p:txBody>
      </p:sp>
      <p:sp>
        <p:nvSpPr>
          <p:cNvPr id="5" name="Ukazatel"/>
          <p:cNvSpPr/>
          <p:nvPr/>
        </p:nvSpPr>
        <p:spPr>
          <a:xfrm>
            <a:off x="8915400" y="4069080"/>
            <a:ext cx="24963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Ukazatel – číslo"/>
          <p:cNvSpPr txBox="1"/>
          <p:nvPr/>
        </p:nvSpPr>
        <p:spPr>
          <a:xfrm>
            <a:off x="9116568" y="4178808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D7CC9"/>
                </a:solidFill>
              </a:rPr>
              <a:t>AUC 0,80</a:t>
            </a:r>
            <a:endParaRPr lang="en-US" sz="2400"/>
          </a:p>
        </p:txBody>
      </p:sp>
      <p:sp>
        <p:nvSpPr>
          <p:cNvPr id="11" name="Ukazatel – popis"/>
          <p:cNvSpPr txBox="1"/>
          <p:nvPr/>
        </p:nvSpPr>
        <p:spPr>
          <a:xfrm>
            <a:off x="9116568" y="4672584"/>
            <a:ext cx="20939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err="1">
                <a:solidFill>
                  <a:srgbClr val="4A4458"/>
                </a:solidFill>
              </a:rPr>
              <a:t>samotné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segmenty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seřadí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ženy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skoro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stejně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dobře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jako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celý</a:t>
            </a:r>
            <a:r>
              <a:rPr lang="en-US" sz="1050">
                <a:solidFill>
                  <a:srgbClr val="4A4458"/>
                </a:solidFill>
              </a:rPr>
              <a:t> model</a:t>
            </a:r>
            <a:endParaRPr lang="en-US" sz="1050"/>
          </a:p>
        </p:txBody>
      </p:sp>
      <p:sp>
        <p:nvSpPr>
          <p:cNvPr id="12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8A8597"/>
                </a:solidFill>
              </a:rPr>
              <a:t>Zdroj</a:t>
            </a:r>
            <a:r>
              <a:rPr lang="en-US" sz="900">
                <a:solidFill>
                  <a:srgbClr val="8A8597"/>
                </a:solidFill>
              </a:rPr>
              <a:t>: data VZP pro </a:t>
            </a:r>
            <a:r>
              <a:rPr lang="en-US" sz="900" err="1">
                <a:solidFill>
                  <a:srgbClr val="8A8597"/>
                </a:solidFill>
              </a:rPr>
              <a:t>Rakathon</a:t>
            </a:r>
            <a:r>
              <a:rPr lang="en-US" sz="900">
                <a:solidFill>
                  <a:srgbClr val="8A8597"/>
                </a:solidFill>
              </a:rPr>
              <a:t> 2026, </a:t>
            </a:r>
            <a:r>
              <a:rPr lang="en-US" sz="900" err="1">
                <a:solidFill>
                  <a:srgbClr val="8A8597"/>
                </a:solidFill>
              </a:rPr>
              <a:t>pozvánky</a:t>
            </a:r>
            <a:r>
              <a:rPr lang="en-US" sz="900">
                <a:solidFill>
                  <a:srgbClr val="8A8597"/>
                </a:solidFill>
              </a:rPr>
              <a:t> 2024; </a:t>
            </a:r>
            <a:r>
              <a:rPr lang="en-US" sz="900" err="1">
                <a:solidFill>
                  <a:srgbClr val="8A8597"/>
                </a:solidFill>
              </a:rPr>
              <a:t>naše</a:t>
            </a:r>
            <a:r>
              <a:rPr lang="en-US" sz="900">
                <a:solidFill>
                  <a:srgbClr val="8A8597"/>
                </a:solidFill>
              </a:rPr>
              <a:t> </a:t>
            </a:r>
            <a:r>
              <a:rPr lang="en-US" sz="900" err="1">
                <a:solidFill>
                  <a:srgbClr val="8A8597"/>
                </a:solidFill>
              </a:rPr>
              <a:t>analýza</a:t>
            </a:r>
            <a:endParaRPr lang="en-US" sz="900" err="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NÁVRHY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Šest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skupin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opatření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podle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náročnosti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 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dopadu</a:t>
            </a:r>
            <a:endParaRPr lang="en-US" sz="2400" err="1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err="1">
                <a:solidFill>
                  <a:srgbClr val="4A4458"/>
                </a:solidFill>
              </a:rPr>
              <a:t>Začínáme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chytřejším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zvaním</a:t>
            </a:r>
            <a:r>
              <a:rPr lang="en-US" sz="1300">
                <a:solidFill>
                  <a:srgbClr val="4A4458"/>
                </a:solidFill>
              </a:rPr>
              <a:t>: je </a:t>
            </a:r>
            <a:r>
              <a:rPr lang="en-US" sz="1300" err="1">
                <a:solidFill>
                  <a:srgbClr val="4A4458"/>
                </a:solidFill>
              </a:rPr>
              <a:t>levné</a:t>
            </a:r>
            <a:r>
              <a:rPr lang="en-US" sz="1300">
                <a:solidFill>
                  <a:srgbClr val="4A4458"/>
                </a:solidFill>
              </a:rPr>
              <a:t>, VZP ho </a:t>
            </a:r>
            <a:r>
              <a:rPr lang="en-US" sz="1300" err="1">
                <a:solidFill>
                  <a:srgbClr val="4A4458"/>
                </a:solidFill>
              </a:rPr>
              <a:t>zvládne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sama</a:t>
            </a:r>
            <a:r>
              <a:rPr lang="en-US" sz="1300">
                <a:solidFill>
                  <a:srgbClr val="4A4458"/>
                </a:solidFill>
              </a:rPr>
              <a:t> a </a:t>
            </a:r>
            <a:r>
              <a:rPr lang="en-US" sz="1300" err="1">
                <a:solidFill>
                  <a:srgbClr val="4A4458"/>
                </a:solidFill>
              </a:rPr>
              <a:t>uspořené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dopisy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financují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dražší</a:t>
            </a:r>
            <a:r>
              <a:rPr lang="en-US" sz="1300">
                <a:solidFill>
                  <a:srgbClr val="4A4458"/>
                </a:solidFill>
              </a:rPr>
              <a:t> </a:t>
            </a:r>
            <a:r>
              <a:rPr lang="en-US" sz="1300" err="1">
                <a:solidFill>
                  <a:srgbClr val="4A4458"/>
                </a:solidFill>
              </a:rPr>
              <a:t>kanály</a:t>
            </a:r>
            <a:r>
              <a:rPr lang="en-US" sz="1300">
                <a:solidFill>
                  <a:srgbClr val="4A4458"/>
                </a:solidFill>
              </a:rPr>
              <a:t>.</a:t>
            </a:r>
            <a:endParaRPr lang="en-US" sz="1300"/>
          </a:p>
        </p:txBody>
      </p:sp>
      <p:sp>
        <p:nvSpPr>
          <p:cNvPr id="5" name="Matice – rámec"/>
          <p:cNvSpPr/>
          <p:nvPr/>
        </p:nvSpPr>
        <p:spPr>
          <a:xfrm>
            <a:off x="1188720" y="2057400"/>
            <a:ext cx="6766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Osa svislá"/>
          <p:cNvSpPr/>
          <p:nvPr/>
        </p:nvSpPr>
        <p:spPr>
          <a:xfrm>
            <a:off x="4572000" y="2057400"/>
            <a:ext cx="0" cy="3931920"/>
          </a:xfrm>
          <a:prstGeom prst="line">
            <a:avLst/>
          </a:prstGeom>
          <a:noFill/>
          <a:ln w="9525">
            <a:solidFill>
              <a:srgbClr val="B9B6D6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7" name="Osa vodorovná"/>
          <p:cNvSpPr/>
          <p:nvPr/>
        </p:nvSpPr>
        <p:spPr>
          <a:xfrm>
            <a:off x="1188720" y="4023360"/>
            <a:ext cx="6766560" cy="0"/>
          </a:xfrm>
          <a:prstGeom prst="line">
            <a:avLst/>
          </a:prstGeom>
          <a:noFill/>
          <a:ln w="9525">
            <a:solidFill>
              <a:srgbClr val="B9B6D6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8" name="Kvadrant – Levné a účinné"/>
          <p:cNvSpPr txBox="1"/>
          <p:nvPr/>
        </p:nvSpPr>
        <p:spPr>
          <a:xfrm>
            <a:off x="1298448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err="1">
                <a:solidFill>
                  <a:srgbClr val="7A78C3"/>
                </a:solidFill>
              </a:rPr>
              <a:t>Levné</a:t>
            </a:r>
            <a:r>
              <a:rPr lang="en-US" sz="1000" b="1">
                <a:solidFill>
                  <a:srgbClr val="7A78C3"/>
                </a:solidFill>
              </a:rPr>
              <a:t> a </a:t>
            </a:r>
            <a:r>
              <a:rPr lang="en-US" sz="1000" b="1" err="1">
                <a:solidFill>
                  <a:srgbClr val="7A78C3"/>
                </a:solidFill>
              </a:rPr>
              <a:t>účinné</a:t>
            </a:r>
            <a:endParaRPr lang="en-US" sz="1000" err="1"/>
          </a:p>
        </p:txBody>
      </p:sp>
      <p:sp>
        <p:nvSpPr>
          <p:cNvPr id="9" name="Kvadrant – Účinné, ale náročné"/>
          <p:cNvSpPr txBox="1"/>
          <p:nvPr/>
        </p:nvSpPr>
        <p:spPr>
          <a:xfrm>
            <a:off x="4736592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err="1">
                <a:solidFill>
                  <a:srgbClr val="7A78C3"/>
                </a:solidFill>
              </a:rPr>
              <a:t>Účinné</a:t>
            </a:r>
            <a:r>
              <a:rPr lang="en-US" sz="1000" b="1">
                <a:solidFill>
                  <a:srgbClr val="7A78C3"/>
                </a:solidFill>
              </a:rPr>
              <a:t>, </a:t>
            </a:r>
            <a:r>
              <a:rPr lang="en-US" sz="1000" b="1" err="1">
                <a:solidFill>
                  <a:srgbClr val="7A78C3"/>
                </a:solidFill>
              </a:rPr>
              <a:t>náročné</a:t>
            </a:r>
            <a:endParaRPr lang="en-US" sz="1000"/>
          </a:p>
        </p:txBody>
      </p:sp>
      <p:sp>
        <p:nvSpPr>
          <p:cNvPr id="10" name="Kvadrant – Doplňky a testy"/>
          <p:cNvSpPr txBox="1"/>
          <p:nvPr/>
        </p:nvSpPr>
        <p:spPr>
          <a:xfrm>
            <a:off x="1298448" y="5623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err="1">
                <a:solidFill>
                  <a:srgbClr val="7A78C3"/>
                </a:solidFill>
              </a:rPr>
              <a:t>Doplňky</a:t>
            </a:r>
            <a:r>
              <a:rPr lang="en-US" sz="1000" b="1">
                <a:solidFill>
                  <a:srgbClr val="7A78C3"/>
                </a:solidFill>
              </a:rPr>
              <a:t> a testy</a:t>
            </a:r>
            <a:endParaRPr lang="en-US" sz="1000"/>
          </a:p>
        </p:txBody>
      </p:sp>
      <p:sp>
        <p:nvSpPr>
          <p:cNvPr id="11" name="Kvadrant – Zatím neřešit"/>
          <p:cNvSpPr txBox="1"/>
          <p:nvPr/>
        </p:nvSpPr>
        <p:spPr>
          <a:xfrm>
            <a:off x="4736592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7A78C3"/>
                </a:solidFill>
              </a:rPr>
              <a:t>Zatím </a:t>
            </a:r>
            <a:r>
              <a:rPr lang="en-US" sz="1000" b="1" err="1">
                <a:solidFill>
                  <a:srgbClr val="7A78C3"/>
                </a:solidFill>
              </a:rPr>
              <a:t>neřešit</a:t>
            </a:r>
            <a:endParaRPr lang="en-US" sz="1000" err="1"/>
          </a:p>
        </p:txBody>
      </p:sp>
      <p:sp>
        <p:nvSpPr>
          <p:cNvPr id="12" name="Osa Y"/>
          <p:cNvSpPr txBox="1"/>
          <p:nvPr/>
        </p:nvSpPr>
        <p:spPr>
          <a:xfrm rot="16200000"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A4458"/>
                </a:solidFill>
              </a:rPr>
              <a:t>Dopad </a:t>
            </a:r>
            <a:r>
              <a:rPr lang="en-US" sz="900" err="1">
                <a:solidFill>
                  <a:srgbClr val="4A4458"/>
                </a:solidFill>
              </a:rPr>
              <a:t>na</a:t>
            </a:r>
            <a:r>
              <a:rPr lang="en-US" sz="900">
                <a:solidFill>
                  <a:srgbClr val="4A4458"/>
                </a:solidFill>
              </a:rPr>
              <a:t> </a:t>
            </a:r>
            <a:r>
              <a:rPr lang="en-US" sz="900" err="1">
                <a:solidFill>
                  <a:srgbClr val="4A4458"/>
                </a:solidFill>
              </a:rPr>
              <a:t>účast</a:t>
            </a:r>
            <a:r>
              <a:rPr lang="en-US" sz="900">
                <a:solidFill>
                  <a:srgbClr val="4A4458"/>
                </a:solidFill>
              </a:rPr>
              <a:t> →</a:t>
            </a:r>
            <a:endParaRPr lang="en-US" sz="900"/>
          </a:p>
        </p:txBody>
      </p:sp>
      <p:sp>
        <p:nvSpPr>
          <p:cNvPr id="13" name="Osa X"/>
          <p:cNvSpPr txBox="1"/>
          <p:nvPr/>
        </p:nvSpPr>
        <p:spPr>
          <a:xfrm>
            <a:off x="1188720" y="60350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err="1">
                <a:solidFill>
                  <a:srgbClr val="4A4458"/>
                </a:solidFill>
              </a:rPr>
              <a:t>Náročnost</a:t>
            </a:r>
            <a:r>
              <a:rPr lang="en-US" sz="900">
                <a:solidFill>
                  <a:srgbClr val="4A4458"/>
                </a:solidFill>
              </a:rPr>
              <a:t>: IT, </a:t>
            </a:r>
            <a:r>
              <a:rPr lang="en-US" sz="900" err="1">
                <a:solidFill>
                  <a:srgbClr val="4A4458"/>
                </a:solidFill>
              </a:rPr>
              <a:t>partneři</a:t>
            </a:r>
            <a:r>
              <a:rPr lang="en-US" sz="900">
                <a:solidFill>
                  <a:srgbClr val="4A4458"/>
                </a:solidFill>
              </a:rPr>
              <a:t>, </a:t>
            </a:r>
            <a:r>
              <a:rPr lang="en-US" sz="900" err="1">
                <a:solidFill>
                  <a:srgbClr val="4A4458"/>
                </a:solidFill>
              </a:rPr>
              <a:t>úhrady</a:t>
            </a:r>
            <a:r>
              <a:rPr lang="en-US" sz="900">
                <a:solidFill>
                  <a:srgbClr val="4A4458"/>
                </a:solidFill>
              </a:rPr>
              <a:t>, </a:t>
            </a:r>
            <a:r>
              <a:rPr lang="en-US" sz="900" err="1">
                <a:solidFill>
                  <a:srgbClr val="4A4458"/>
                </a:solidFill>
              </a:rPr>
              <a:t>cena</a:t>
            </a:r>
            <a:r>
              <a:rPr lang="en-US" sz="900">
                <a:solidFill>
                  <a:srgbClr val="4A4458"/>
                </a:solidFill>
              </a:rPr>
              <a:t> →</a:t>
            </a:r>
            <a:endParaRPr lang="en-US" sz="900"/>
          </a:p>
        </p:txBody>
      </p:sp>
      <p:sp>
        <p:nvSpPr>
          <p:cNvPr id="14" name="Opatření – Chytřejší zvaní"/>
          <p:cNvSpPr/>
          <p:nvPr/>
        </p:nvSpPr>
        <p:spPr>
          <a:xfrm>
            <a:off x="1600200" y="30175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 txBox="1"/>
          <p:nvPr/>
        </p:nvSpPr>
        <p:spPr>
          <a:xfrm>
            <a:off x="1691640" y="305409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B7A"/>
                </a:solidFill>
              </a:rPr>
              <a:t>Chytřejší </a:t>
            </a:r>
            <a:r>
              <a:rPr lang="en-US" sz="1150" b="1" err="1">
                <a:solidFill>
                  <a:srgbClr val="003B7A"/>
                </a:solidFill>
              </a:rPr>
              <a:t>zvaní</a:t>
            </a:r>
            <a:endParaRPr lang="en-US" sz="1150" err="1"/>
          </a:p>
          <a:p>
            <a:pPr marL="0" indent="0" algn="ctr">
              <a:buNone/>
            </a:pPr>
            <a:r>
              <a:rPr lang="en-US" sz="950" err="1">
                <a:solidFill>
                  <a:srgbClr val="4A4458"/>
                </a:solidFill>
              </a:rPr>
              <a:t>načasování</a:t>
            </a:r>
            <a:r>
              <a:rPr lang="en-US" sz="950">
                <a:solidFill>
                  <a:srgbClr val="4A4458"/>
                </a:solidFill>
              </a:rPr>
              <a:t>, SMS, </a:t>
            </a:r>
            <a:r>
              <a:rPr lang="en-US" sz="950" err="1">
                <a:solidFill>
                  <a:srgbClr val="4A4458"/>
                </a:solidFill>
              </a:rPr>
              <a:t>lepší</a:t>
            </a:r>
            <a:r>
              <a:rPr lang="en-US" sz="950">
                <a:solidFill>
                  <a:srgbClr val="4A4458"/>
                </a:solidFill>
              </a:rPr>
              <a:t> </a:t>
            </a:r>
            <a:r>
              <a:rPr lang="en-US" sz="950" err="1">
                <a:solidFill>
                  <a:srgbClr val="4A4458"/>
                </a:solidFill>
              </a:rPr>
              <a:t>dopis</a:t>
            </a:r>
            <a:endParaRPr lang="en-US" sz="1150" err="1"/>
          </a:p>
        </p:txBody>
      </p:sp>
      <p:sp>
        <p:nvSpPr>
          <p:cNvPr id="16" name="Opatření – Snadné objednání"/>
          <p:cNvSpPr/>
          <p:nvPr/>
        </p:nvSpPr>
        <p:spPr>
          <a:xfrm>
            <a:off x="4681728" y="24871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4773168" y="252374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B7A"/>
                </a:solidFill>
              </a:rPr>
              <a:t>Snadné </a:t>
            </a:r>
            <a:r>
              <a:rPr lang="en-US" sz="1150" b="1" err="1">
                <a:solidFill>
                  <a:srgbClr val="003B7A"/>
                </a:solidFill>
              </a:rPr>
              <a:t>objednání</a:t>
            </a:r>
            <a:endParaRPr lang="en-US" sz="1150" err="1"/>
          </a:p>
          <a:p>
            <a:pPr marL="0" indent="0" algn="ctr">
              <a:buNone/>
            </a:pPr>
            <a:r>
              <a:rPr lang="en-US" sz="950" err="1">
                <a:solidFill>
                  <a:srgbClr val="4A4458"/>
                </a:solidFill>
              </a:rPr>
              <a:t>pevný</a:t>
            </a:r>
            <a:r>
              <a:rPr lang="en-US" sz="950">
                <a:solidFill>
                  <a:srgbClr val="4A4458"/>
                </a:solidFill>
              </a:rPr>
              <a:t> </a:t>
            </a:r>
            <a:r>
              <a:rPr lang="en-US" sz="950" err="1">
                <a:solidFill>
                  <a:srgbClr val="4A4458"/>
                </a:solidFill>
              </a:rPr>
              <a:t>termín</a:t>
            </a:r>
            <a:r>
              <a:rPr lang="en-US" sz="950">
                <a:solidFill>
                  <a:srgbClr val="4A4458"/>
                </a:solidFill>
              </a:rPr>
              <a:t>, </a:t>
            </a:r>
            <a:r>
              <a:rPr lang="en-US" sz="950" err="1">
                <a:solidFill>
                  <a:srgbClr val="4A4458"/>
                </a:solidFill>
              </a:rPr>
              <a:t>víkendy</a:t>
            </a:r>
            <a:endParaRPr lang="en-US" sz="1150" err="1"/>
          </a:p>
        </p:txBody>
      </p:sp>
      <p:sp>
        <p:nvSpPr>
          <p:cNvPr id="916" name="Opatření – Úpravy aplikace"/>
          <p:cNvSpPr/>
          <p:nvPr/>
        </p:nvSpPr>
        <p:spPr>
          <a:xfrm>
            <a:off x="6373368" y="2487168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17" name="Text 15"/>
          <p:cNvSpPr txBox="1"/>
          <p:nvPr/>
        </p:nvSpPr>
        <p:spPr>
          <a:xfrm>
            <a:off x="6464808" y="2523744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err="1">
                <a:solidFill>
                  <a:srgbClr val="003B7A"/>
                </a:solidFill>
              </a:rPr>
              <a:t>Úpravy</a:t>
            </a:r>
            <a:r>
              <a:rPr lang="en-US" sz="1150" b="1">
                <a:solidFill>
                  <a:srgbClr val="003B7A"/>
                </a:solidFill>
              </a:rPr>
              <a:t> </a:t>
            </a:r>
            <a:r>
              <a:rPr lang="en-US" sz="1150" b="1" err="1">
                <a:solidFill>
                  <a:srgbClr val="003B7A"/>
                </a:solidFill>
              </a:rPr>
              <a:t>aplikace</a:t>
            </a:r>
            <a:endParaRPr lang="en-US" sz="1150" err="1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Moje VZP: </a:t>
            </a:r>
            <a:r>
              <a:rPr lang="en-US" sz="950" err="1">
                <a:solidFill>
                  <a:srgbClr val="4A4458"/>
                </a:solidFill>
              </a:rPr>
              <a:t>připomínka</a:t>
            </a:r>
            <a:r>
              <a:rPr lang="en-US" sz="950">
                <a:solidFill>
                  <a:srgbClr val="4A4458"/>
                </a:solidFill>
              </a:rPr>
              <a:t>, </a:t>
            </a:r>
            <a:r>
              <a:rPr lang="en-US" sz="950" err="1">
                <a:solidFill>
                  <a:srgbClr val="4A4458"/>
                </a:solidFill>
              </a:rPr>
              <a:t>objednání</a:t>
            </a:r>
            <a:endParaRPr lang="en-US" sz="1150" err="1"/>
          </a:p>
        </p:txBody>
      </p:sp>
      <p:sp>
        <p:nvSpPr>
          <p:cNvPr id="18" name="Opatření – Lékař jako kanál"/>
          <p:cNvSpPr/>
          <p:nvPr/>
        </p:nvSpPr>
        <p:spPr>
          <a:xfrm>
            <a:off x="5120640" y="3255264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 txBox="1"/>
          <p:nvPr/>
        </p:nvSpPr>
        <p:spPr>
          <a:xfrm>
            <a:off x="5212080" y="3291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B7A"/>
                </a:solidFill>
              </a:rPr>
              <a:t>Lékař </a:t>
            </a:r>
            <a:r>
              <a:rPr lang="en-US" sz="1150" b="1" err="1">
                <a:solidFill>
                  <a:srgbClr val="003B7A"/>
                </a:solidFill>
              </a:rPr>
              <a:t>jako</a:t>
            </a:r>
            <a:r>
              <a:rPr lang="en-US" sz="1150" b="1">
                <a:solidFill>
                  <a:srgbClr val="003B7A"/>
                </a:solidFill>
              </a:rPr>
              <a:t> </a:t>
            </a:r>
            <a:r>
              <a:rPr lang="en-US" sz="1150" b="1" err="1">
                <a:solidFill>
                  <a:srgbClr val="003B7A"/>
                </a:solidFill>
              </a:rPr>
              <a:t>kanál</a:t>
            </a:r>
            <a:endParaRPr lang="en-US" sz="1150" err="1"/>
          </a:p>
          <a:p>
            <a:pPr marL="0" indent="0" algn="ctr">
              <a:buNone/>
            </a:pPr>
            <a:r>
              <a:rPr lang="en-US" sz="950" err="1">
                <a:solidFill>
                  <a:srgbClr val="4A4458"/>
                </a:solidFill>
              </a:rPr>
              <a:t>gynekolog</a:t>
            </a:r>
            <a:r>
              <a:rPr lang="en-US" sz="950">
                <a:solidFill>
                  <a:srgbClr val="4A4458"/>
                </a:solidFill>
              </a:rPr>
              <a:t>, </a:t>
            </a:r>
            <a:r>
              <a:rPr lang="en-US" sz="950" err="1">
                <a:solidFill>
                  <a:srgbClr val="4A4458"/>
                </a:solidFill>
              </a:rPr>
              <a:t>praktik</a:t>
            </a:r>
            <a:r>
              <a:rPr lang="en-US" sz="950">
                <a:solidFill>
                  <a:srgbClr val="4A4458"/>
                </a:solidFill>
              </a:rPr>
              <a:t>, </a:t>
            </a:r>
            <a:r>
              <a:rPr lang="en-US" sz="950" err="1">
                <a:solidFill>
                  <a:srgbClr val="4A4458"/>
                </a:solidFill>
              </a:rPr>
              <a:t>upozornění</a:t>
            </a:r>
            <a:endParaRPr lang="en-US" sz="1150" err="1"/>
          </a:p>
        </p:txBody>
      </p:sp>
      <p:sp>
        <p:nvSpPr>
          <p:cNvPr id="20" name="Opatření – Dostupnost v regionech"/>
          <p:cNvSpPr/>
          <p:nvPr/>
        </p:nvSpPr>
        <p:spPr>
          <a:xfrm>
            <a:off x="5440680" y="437083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3F2F6"/>
          </a:solidFill>
          <a:ln w="12700">
            <a:solidFill>
              <a:srgbClr val="B5B2C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 txBox="1"/>
          <p:nvPr/>
        </p:nvSpPr>
        <p:spPr>
          <a:xfrm>
            <a:off x="5532120" y="44074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err="1">
                <a:solidFill>
                  <a:srgbClr val="4A4458"/>
                </a:solidFill>
              </a:rPr>
              <a:t>Dostupnost</a:t>
            </a:r>
            <a:r>
              <a:rPr lang="en-US" sz="1150" b="1">
                <a:solidFill>
                  <a:srgbClr val="4A4458"/>
                </a:solidFill>
              </a:rPr>
              <a:t> v </a:t>
            </a:r>
            <a:r>
              <a:rPr lang="en-US" sz="1150" b="1" err="1">
                <a:solidFill>
                  <a:srgbClr val="4A4458"/>
                </a:solidFill>
              </a:rPr>
              <a:t>regionech</a:t>
            </a:r>
            <a:endParaRPr lang="en-US" sz="1150" err="1"/>
          </a:p>
          <a:p>
            <a:pPr marL="0" indent="0" algn="ctr">
              <a:buNone/>
            </a:pPr>
            <a:r>
              <a:rPr lang="en-US" sz="950" err="1">
                <a:solidFill>
                  <a:srgbClr val="4A4458"/>
                </a:solidFill>
              </a:rPr>
              <a:t>doprava</a:t>
            </a:r>
            <a:r>
              <a:rPr lang="en-US" sz="950">
                <a:solidFill>
                  <a:srgbClr val="4A4458"/>
                </a:solidFill>
              </a:rPr>
              <a:t>, </a:t>
            </a:r>
            <a:r>
              <a:rPr lang="en-US" sz="950" err="1">
                <a:solidFill>
                  <a:srgbClr val="4A4458"/>
                </a:solidFill>
              </a:rPr>
              <a:t>pojízdný</a:t>
            </a:r>
            <a:r>
              <a:rPr lang="en-US" sz="950">
                <a:solidFill>
                  <a:srgbClr val="4A4458"/>
                </a:solidFill>
              </a:rPr>
              <a:t> </a:t>
            </a:r>
            <a:r>
              <a:rPr lang="en-US" sz="950" err="1">
                <a:solidFill>
                  <a:srgbClr val="4A4458"/>
                </a:solidFill>
              </a:rPr>
              <a:t>mamograf</a:t>
            </a:r>
            <a:endParaRPr lang="en-US" sz="1150" err="1"/>
          </a:p>
        </p:txBody>
      </p:sp>
      <p:sp>
        <p:nvSpPr>
          <p:cNvPr id="22" name="Opatření – Plošné nástroje"/>
          <p:cNvSpPr/>
          <p:nvPr/>
        </p:nvSpPr>
        <p:spPr>
          <a:xfrm>
            <a:off x="4754880" y="5184648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3F2F6"/>
          </a:solidFill>
          <a:ln w="12700">
            <a:solidFill>
              <a:srgbClr val="B5B2C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 txBox="1"/>
          <p:nvPr/>
        </p:nvSpPr>
        <p:spPr>
          <a:xfrm>
            <a:off x="4846320" y="522122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err="1">
                <a:solidFill>
                  <a:srgbClr val="4A4458"/>
                </a:solidFill>
              </a:rPr>
              <a:t>Plošné</a:t>
            </a:r>
            <a:r>
              <a:rPr lang="en-US" sz="1150" b="1">
                <a:solidFill>
                  <a:srgbClr val="4A4458"/>
                </a:solidFill>
              </a:rPr>
              <a:t> </a:t>
            </a:r>
            <a:r>
              <a:rPr lang="en-US" sz="1150" b="1" err="1">
                <a:solidFill>
                  <a:srgbClr val="4A4458"/>
                </a:solidFill>
              </a:rPr>
              <a:t>nástroje</a:t>
            </a:r>
            <a:endParaRPr lang="en-US" sz="1150" err="1"/>
          </a:p>
          <a:p>
            <a:pPr marL="0" indent="0" algn="ctr">
              <a:buNone/>
            </a:pPr>
            <a:r>
              <a:rPr lang="en-US" sz="950" err="1">
                <a:solidFill>
                  <a:srgbClr val="4A4458"/>
                </a:solidFill>
              </a:rPr>
              <a:t>kampaň</a:t>
            </a:r>
            <a:r>
              <a:rPr lang="en-US" sz="950">
                <a:solidFill>
                  <a:srgbClr val="4A4458"/>
                </a:solidFill>
              </a:rPr>
              <a:t>, </a:t>
            </a:r>
            <a:r>
              <a:rPr lang="en-US" sz="950" err="1">
                <a:solidFill>
                  <a:srgbClr val="4A4458"/>
                </a:solidFill>
              </a:rPr>
              <a:t>finanční</a:t>
            </a:r>
            <a:r>
              <a:rPr lang="en-US" sz="950">
                <a:solidFill>
                  <a:srgbClr val="4A4458"/>
                </a:solidFill>
              </a:rPr>
              <a:t> </a:t>
            </a:r>
            <a:r>
              <a:rPr lang="en-US" sz="950" err="1">
                <a:solidFill>
                  <a:srgbClr val="4A4458"/>
                </a:solidFill>
              </a:rPr>
              <a:t>pobídka</a:t>
            </a:r>
            <a:endParaRPr lang="en-US" sz="1150" err="1"/>
          </a:p>
        </p:txBody>
      </p:sp>
      <p:sp>
        <p:nvSpPr>
          <p:cNvPr id="24" name="Postup"/>
          <p:cNvSpPr/>
          <p:nvPr/>
        </p:nvSpPr>
        <p:spPr>
          <a:xfrm>
            <a:off x="8366760" y="2057400"/>
            <a:ext cx="3044952" cy="3931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 txBox="1"/>
          <p:nvPr/>
        </p:nvSpPr>
        <p:spPr>
          <a:xfrm>
            <a:off x="8595360" y="221284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230F3C"/>
                </a:solidFill>
              </a:rPr>
              <a:t>Postup</a:t>
            </a:r>
            <a:r>
              <a:rPr lang="en-US" sz="1300" b="1">
                <a:solidFill>
                  <a:srgbClr val="230F3C"/>
                </a:solidFill>
              </a:rPr>
              <a:t> </a:t>
            </a:r>
            <a:r>
              <a:rPr lang="en-US" sz="1300" b="1" err="1">
                <a:solidFill>
                  <a:srgbClr val="230F3C"/>
                </a:solidFill>
              </a:rPr>
              <a:t>zavedení</a:t>
            </a:r>
            <a:endParaRPr lang="en-US" sz="1300" err="1"/>
          </a:p>
        </p:txBody>
      </p:sp>
      <p:sp>
        <p:nvSpPr>
          <p:cNvPr id="26" name="Text 24"/>
          <p:cNvSpPr txBox="1"/>
          <p:nvPr/>
        </p:nvSpPr>
        <p:spPr>
          <a:xfrm>
            <a:off x="8595360" y="2651760"/>
            <a:ext cx="2587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b="1" err="1">
                <a:solidFill>
                  <a:srgbClr val="003B7A"/>
                </a:solidFill>
              </a:rPr>
              <a:t>Hned</a:t>
            </a:r>
            <a:r>
              <a:rPr lang="en-US" sz="1050" b="1">
                <a:solidFill>
                  <a:srgbClr val="003B7A"/>
                </a:solidFill>
              </a:rPr>
              <a:t>: </a:t>
            </a:r>
            <a:r>
              <a:rPr lang="en-US" sz="1050" err="1">
                <a:solidFill>
                  <a:srgbClr val="4A4458"/>
                </a:solidFill>
              </a:rPr>
              <a:t>chytřejší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zvaní</a:t>
            </a:r>
            <a:r>
              <a:rPr lang="en-US" sz="1050">
                <a:solidFill>
                  <a:srgbClr val="4A4458"/>
                </a:solidFill>
              </a:rPr>
              <a:t> (</a:t>
            </a:r>
            <a:r>
              <a:rPr lang="en-US" sz="1050" err="1">
                <a:solidFill>
                  <a:srgbClr val="4A4458"/>
                </a:solidFill>
              </a:rPr>
              <a:t>klíč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rozesílky</a:t>
            </a:r>
            <a:r>
              <a:rPr lang="en-US" sz="1050">
                <a:solidFill>
                  <a:srgbClr val="4A4458"/>
                </a:solidFill>
              </a:rPr>
              <a:t>, SMS, </a:t>
            </a:r>
            <a:r>
              <a:rPr lang="en-US" sz="1050" err="1">
                <a:solidFill>
                  <a:srgbClr val="4A4458"/>
                </a:solidFill>
              </a:rPr>
              <a:t>nový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dopis</a:t>
            </a:r>
            <a:r>
              <a:rPr lang="en-US" sz="1050">
                <a:solidFill>
                  <a:srgbClr val="4A4458"/>
                </a:solidFill>
              </a:rPr>
              <a:t>)</a:t>
            </a:r>
            <a:endParaRPr lang="en-US" sz="1050"/>
          </a:p>
          <a:p>
            <a:pPr marL="0" indent="0">
              <a:spcAft>
                <a:spcPts val="800"/>
              </a:spcAft>
              <a:buNone/>
            </a:pPr>
            <a:r>
              <a:rPr lang="en-US" sz="1050" b="1">
                <a:solidFill>
                  <a:srgbClr val="003B7A"/>
                </a:solidFill>
              </a:rPr>
              <a:t>Pilot: </a:t>
            </a:r>
            <a:r>
              <a:rPr lang="en-US" sz="1050" err="1">
                <a:solidFill>
                  <a:srgbClr val="4A4458"/>
                </a:solidFill>
              </a:rPr>
              <a:t>snadné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objednání</a:t>
            </a:r>
            <a:r>
              <a:rPr lang="en-US" sz="1050">
                <a:solidFill>
                  <a:srgbClr val="4A4458"/>
                </a:solidFill>
              </a:rPr>
              <a:t> a </a:t>
            </a:r>
            <a:r>
              <a:rPr lang="en-US" sz="1050" err="1">
                <a:solidFill>
                  <a:srgbClr val="4A4458"/>
                </a:solidFill>
              </a:rPr>
              <a:t>lékař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jako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kanál</a:t>
            </a:r>
            <a:r>
              <a:rPr lang="en-US" sz="1050">
                <a:solidFill>
                  <a:srgbClr val="4A4458"/>
                </a:solidFill>
              </a:rPr>
              <a:t> s </a:t>
            </a:r>
            <a:r>
              <a:rPr lang="en-US" sz="1050" err="1">
                <a:solidFill>
                  <a:srgbClr val="4A4458"/>
                </a:solidFill>
              </a:rPr>
              <a:t>partnerskými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centry</a:t>
            </a:r>
            <a:r>
              <a:rPr lang="en-US" sz="1050">
                <a:solidFill>
                  <a:srgbClr val="4A4458"/>
                </a:solidFill>
              </a:rPr>
              <a:t> a </a:t>
            </a:r>
            <a:r>
              <a:rPr lang="en-US" sz="1050" err="1">
                <a:solidFill>
                  <a:srgbClr val="4A4458"/>
                </a:solidFill>
              </a:rPr>
              <a:t>praxemi</a:t>
            </a:r>
            <a:endParaRPr lang="en-US" sz="1050" err="1"/>
          </a:p>
          <a:p>
            <a:pPr marL="0" indent="0">
              <a:spcAft>
                <a:spcPts val="800"/>
              </a:spcAft>
              <a:buNone/>
            </a:pPr>
            <a:r>
              <a:rPr lang="en-US" sz="1050" b="1" err="1">
                <a:solidFill>
                  <a:srgbClr val="4A4458"/>
                </a:solidFill>
              </a:rPr>
              <a:t>Lokálně</a:t>
            </a:r>
            <a:r>
              <a:rPr lang="en-US" sz="1050" b="1">
                <a:solidFill>
                  <a:srgbClr val="4A4458"/>
                </a:solidFill>
              </a:rPr>
              <a:t>: </a:t>
            </a:r>
            <a:r>
              <a:rPr lang="en-US" sz="1050" err="1">
                <a:solidFill>
                  <a:srgbClr val="4A4458"/>
                </a:solidFill>
              </a:rPr>
              <a:t>dostupnost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jen</a:t>
            </a:r>
            <a:r>
              <a:rPr lang="en-US" sz="1050">
                <a:solidFill>
                  <a:srgbClr val="4A4458"/>
                </a:solidFill>
              </a:rPr>
              <a:t> tam, </a:t>
            </a:r>
            <a:r>
              <a:rPr lang="en-US" sz="1050" err="1">
                <a:solidFill>
                  <a:srgbClr val="4A4458"/>
                </a:solidFill>
              </a:rPr>
              <a:t>kde</a:t>
            </a:r>
            <a:r>
              <a:rPr lang="en-US" sz="1050">
                <a:solidFill>
                  <a:srgbClr val="4A4458"/>
                </a:solidFill>
              </a:rPr>
              <a:t> je </a:t>
            </a:r>
            <a:r>
              <a:rPr lang="en-US" sz="1050" err="1">
                <a:solidFill>
                  <a:srgbClr val="4A4458"/>
                </a:solidFill>
              </a:rPr>
              <a:t>problém</a:t>
            </a:r>
            <a:r>
              <a:rPr lang="en-US" sz="1050">
                <a:solidFill>
                  <a:srgbClr val="4A4458"/>
                </a:solidFill>
              </a:rPr>
              <a:t> (65+ v </a:t>
            </a:r>
            <a:r>
              <a:rPr lang="en-US" sz="1050" err="1">
                <a:solidFill>
                  <a:srgbClr val="4A4458"/>
                </a:solidFill>
              </a:rPr>
              <a:t>okresech</a:t>
            </a:r>
            <a:r>
              <a:rPr lang="en-US" sz="1050">
                <a:solidFill>
                  <a:srgbClr val="4A4458"/>
                </a:solidFill>
              </a:rPr>
              <a:t> bez centra)</a:t>
            </a:r>
            <a:endParaRPr lang="en-US" sz="1050"/>
          </a:p>
          <a:p>
            <a:pPr marL="0" indent="0">
              <a:spcAft>
                <a:spcPts val="800"/>
              </a:spcAft>
              <a:buNone/>
            </a:pPr>
            <a:r>
              <a:rPr lang="en-US" sz="1050" b="1">
                <a:solidFill>
                  <a:srgbClr val="4A4458"/>
                </a:solidFill>
              </a:rPr>
              <a:t>Ne: </a:t>
            </a:r>
            <a:r>
              <a:rPr lang="en-US" sz="1050" err="1">
                <a:solidFill>
                  <a:srgbClr val="4A4458"/>
                </a:solidFill>
              </a:rPr>
              <a:t>plošná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kampaň</a:t>
            </a:r>
            <a:r>
              <a:rPr lang="en-US" sz="1050">
                <a:solidFill>
                  <a:srgbClr val="4A4458"/>
                </a:solidFill>
              </a:rPr>
              <a:t> a </a:t>
            </a:r>
            <a:r>
              <a:rPr lang="en-US" sz="1050" err="1">
                <a:solidFill>
                  <a:srgbClr val="4A4458"/>
                </a:solidFill>
              </a:rPr>
              <a:t>pobídka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mají</a:t>
            </a:r>
            <a:r>
              <a:rPr lang="en-US" sz="1050">
                <a:solidFill>
                  <a:srgbClr val="4A4458"/>
                </a:solidFill>
              </a:rPr>
              <a:t> v </a:t>
            </a:r>
            <a:r>
              <a:rPr lang="en-US" sz="1050" err="1">
                <a:solidFill>
                  <a:srgbClr val="4A4458"/>
                </a:solidFill>
              </a:rPr>
              <a:t>literatuře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minimální</a:t>
            </a:r>
            <a:r>
              <a:rPr lang="en-US" sz="1050">
                <a:solidFill>
                  <a:srgbClr val="4A4458"/>
                </a:solidFill>
              </a:rPr>
              <a:t> </a:t>
            </a:r>
            <a:r>
              <a:rPr lang="en-US" sz="1050" err="1">
                <a:solidFill>
                  <a:srgbClr val="4A4458"/>
                </a:solidFill>
              </a:rPr>
              <a:t>účinek</a:t>
            </a:r>
            <a:endParaRPr lang="en-US" sz="1050" err="1"/>
          </a:p>
        </p:txBody>
      </p:sp>
      <p:sp>
        <p:nvSpPr>
          <p:cNvPr id="27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8A8597"/>
                </a:solidFill>
              </a:rPr>
              <a:t>Zdroj</a:t>
            </a:r>
            <a:r>
              <a:rPr lang="en-US" sz="900">
                <a:solidFill>
                  <a:srgbClr val="8A8597"/>
                </a:solidFill>
              </a:rPr>
              <a:t>: </a:t>
            </a:r>
            <a:r>
              <a:rPr lang="en-US" sz="900" err="1">
                <a:solidFill>
                  <a:srgbClr val="8A8597"/>
                </a:solidFill>
              </a:rPr>
              <a:t>náš</a:t>
            </a:r>
            <a:r>
              <a:rPr lang="en-US" sz="900">
                <a:solidFill>
                  <a:srgbClr val="8A8597"/>
                </a:solidFill>
              </a:rPr>
              <a:t> </a:t>
            </a:r>
            <a:r>
              <a:rPr lang="en-US" sz="900" err="1">
                <a:solidFill>
                  <a:srgbClr val="8A8597"/>
                </a:solidFill>
              </a:rPr>
              <a:t>úsudek</a:t>
            </a:r>
            <a:r>
              <a:rPr lang="en-US" sz="900">
                <a:solidFill>
                  <a:srgbClr val="8A8597"/>
                </a:solidFill>
              </a:rPr>
              <a:t> z </a:t>
            </a:r>
            <a:r>
              <a:rPr lang="en-US" sz="900" err="1">
                <a:solidFill>
                  <a:srgbClr val="8A8597"/>
                </a:solidFill>
              </a:rPr>
              <a:t>dat</a:t>
            </a:r>
            <a:r>
              <a:rPr lang="en-US" sz="900">
                <a:solidFill>
                  <a:srgbClr val="8A8597"/>
                </a:solidFill>
              </a:rPr>
              <a:t> VZP a </a:t>
            </a:r>
            <a:r>
              <a:rPr lang="en-US" sz="900" err="1">
                <a:solidFill>
                  <a:srgbClr val="8A8597"/>
                </a:solidFill>
              </a:rPr>
              <a:t>literatury</a:t>
            </a:r>
            <a:r>
              <a:rPr lang="en-US" sz="900">
                <a:solidFill>
                  <a:srgbClr val="8A8597"/>
                </a:solidFill>
              </a:rPr>
              <a:t> (docs/interventions.md)</a:t>
            </a:r>
            <a:endParaRPr lang="en-US" sz="90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CÍLENÁ PODPORA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Hlavní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opatření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zvolené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segmenty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Vybíráme segmenty B–E: dohromady 81 % pozvánek a 77 % žen, které nepřišly. U každého existuje dosažitelný kanál a opatření s doloženým účinkem.</a:t>
            </a:r>
            <a:endParaRPr lang="en-US" sz="1300"/>
          </a:p>
        </p:txBody>
      </p:sp>
      <p:graphicFrame>
        <p:nvGraphicFramePr>
          <p:cNvPr id="11" name="Tabulka podpo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10634472" cy="3328416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Segment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Hlavní opatření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Skupina opatření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Účinek (p. b.)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 první pozvánka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pevný termín už v první pozvánce, SMS připomínka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Snadné objednání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+10 až +19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 vypadlá z rytmu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připomínka s termínem ve 25.–36. měsíci místo po 3–5 letech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Chytřejší zvaní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 gynekolog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seznam žen bez mamografie pro gynekologa, objednání v ordinaci, bonus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Lékař jako kanál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 jiná prevence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praktik jako nový kanál: seznam žen, upozornění při preventivní prohlídce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Lékař jako kanál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 nedávno vyšetřená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nezvat, ověřit výkony těsně před odesláním (≈ 7 600 dopisů ročně)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Chytřejší zvaní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úspora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65+ v okrese bez centra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doprava, pojízdný mamograf, termín v sousedním okrese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Dostupnost v regionech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lokálně +5 až +15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Poznámka"/>
          <p:cNvSpPr/>
          <p:nvPr/>
        </p:nvSpPr>
        <p:spPr>
          <a:xfrm>
            <a:off x="777240" y="5623560"/>
            <a:ext cx="10634472" cy="502920"/>
          </a:xfrm>
          <a:prstGeom prst="roundRect">
            <a:avLst>
              <a:gd name="adj" fmla="val 10909"/>
            </a:avLst>
          </a:prstGeom>
          <a:solidFill>
            <a:srgbClr val="EFEEF8"/>
          </a:solidFill>
          <a:ln w="12700">
            <a:solidFill>
              <a:srgbClr val="EFEEF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 txBox="1"/>
          <p:nvPr/>
        </p:nvSpPr>
        <p:spPr>
          <a:xfrm>
            <a:off x="1005840" y="5623560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D27869"/>
                </a:solidFill>
              </a:rPr>
              <a:t>F a G zatím nevybíráme: </a:t>
            </a:r>
            <a:r>
              <a:rPr lang="en-US" sz="1050">
                <a:solidFill>
                  <a:srgbClr val="4A4458"/>
                </a:solidFill>
              </a:rPr>
              <a:t>nízká účast i nejistý účinek. Rozpětí účinku pochází z literatury a udává přírůstek oproti dnešnímu dopisu; skutečný účinek ověří experiment.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UKÁZKA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Ukázka dopisů pro tři segmenty</a:t>
            </a:r>
            <a:endParaRPr lang="en-US" sz="2400"/>
          </a:p>
        </p:txBody>
      </p:sp>
      <p:sp>
        <p:nvSpPr>
          <p:cNvPr id="4" name="Rámeček dopisu"/>
          <p:cNvSpPr/>
          <p:nvPr/>
        </p:nvSpPr>
        <p:spPr>
          <a:xfrm>
            <a:off x="1197864" y="1572768"/>
            <a:ext cx="2770632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Návrh dopisu: B první pozvánka: co mě ček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9344"/>
            <a:ext cx="2697480" cy="3813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B první pozvánka: co mě čeká</a:t>
            </a:r>
            <a:endParaRPr lang="en-US" sz="1100"/>
          </a:p>
        </p:txBody>
      </p:sp>
      <p:sp>
        <p:nvSpPr>
          <p:cNvPr id="7" name="Rámeček dopisu"/>
          <p:cNvSpPr/>
          <p:nvPr/>
        </p:nvSpPr>
        <p:spPr>
          <a:xfrm>
            <a:off x="4718304" y="1572768"/>
            <a:ext cx="2770632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Návrh dopisu: D, E bez screeningu: vyvrácení mýt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09344"/>
            <a:ext cx="2697480" cy="3813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D, E bez screeningu: vyvrácení mýtů</a:t>
            </a:r>
            <a:endParaRPr lang="en-US" sz="1100"/>
          </a:p>
        </p:txBody>
      </p:sp>
      <p:sp>
        <p:nvSpPr>
          <p:cNvPr id="10" name="Rámeček dopisu"/>
          <p:cNvSpPr/>
          <p:nvPr/>
        </p:nvSpPr>
        <p:spPr>
          <a:xfrm>
            <a:off x="8238744" y="1572768"/>
            <a:ext cx="2770632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1" name="Image 2" descr="Návrh dopisu: C vypadlá z rytmu: pomoc s překážkam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609344"/>
            <a:ext cx="2697480" cy="3813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9244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C vypadlá z rytmu: pomoc s překážkami</a:t>
            </a:r>
            <a:endParaRPr lang="en-US" sz="1100"/>
          </a:p>
        </p:txBody>
      </p:sp>
      <p:sp>
        <p:nvSpPr>
          <p:cNvPr id="13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Návrhy dopisů k revizi; fakta v dopisech ověříme se zdravotním garantem VZP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UKÁZKA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Ukázka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navrhovaných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400" err="1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úprav</a:t>
            </a: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aplikace Moje VZP</a:t>
            </a:r>
            <a:endParaRPr lang="en-US" sz="2400"/>
          </a:p>
        </p:txBody>
      </p:sp>
      <p:sp>
        <p:nvSpPr>
          <p:cNvPr id="4" name="Rámeček ukázky"/>
          <p:cNvSpPr/>
          <p:nvPr/>
        </p:nvSpPr>
        <p:spPr>
          <a:xfrm>
            <a:off x="1197864" y="1572768"/>
            <a:ext cx="2770632" cy="3886200"/>
          </a:xfrm>
          <a:prstGeom prst="rect">
            <a:avLst/>
          </a:prstGeom>
          <a:solidFill>
            <a:srgbClr val="F6F8FC"/>
          </a:solidFill>
          <a:ln w="12700">
            <a:solidFill>
              <a:srgbClr val="3D7CC9"/>
            </a:solidFill>
            <a:prstDash val="dash"/>
          </a:ln>
        </p:spPr>
        <p:txBody>
          <a:bodyPr wrap="square" lIns="91440" tIns="91440" rIns="91440" bIns="91440" rtlCol="0" anchor="ctr"/>
          <a:lstStyle/>
          <a:p>
            <a:pPr algn="ctr"/>
            <a:r>
              <a:rPr lang="cs-CZ" sz="1150" b="1">
                <a:solidFill>
                  <a:srgbClr val="003B7A"/>
                </a:solidFill>
              </a:rPr>
              <a:t>[snímek obrazovky]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105156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[popis úpravy]</a:t>
            </a:r>
            <a:endParaRPr lang="en-US" sz="1100"/>
          </a:p>
        </p:txBody>
      </p:sp>
      <p:sp>
        <p:nvSpPr>
          <p:cNvPr id="7" name="Rámeček ukázky"/>
          <p:cNvSpPr/>
          <p:nvPr/>
        </p:nvSpPr>
        <p:spPr>
          <a:xfrm>
            <a:off x="4718304" y="1572768"/>
            <a:ext cx="2770632" cy="3886200"/>
          </a:xfrm>
          <a:prstGeom prst="rect">
            <a:avLst/>
          </a:prstGeom>
          <a:solidFill>
            <a:srgbClr val="F6F8FC"/>
          </a:solidFill>
          <a:ln w="12700">
            <a:solidFill>
              <a:srgbClr val="3D7CC9"/>
            </a:solidFill>
            <a:prstDash val="dash"/>
          </a:ln>
        </p:spPr>
        <p:txBody>
          <a:bodyPr wrap="square" lIns="91440" tIns="91440" rIns="91440" bIns="91440" rtlCol="0" anchor="ctr"/>
          <a:lstStyle/>
          <a:p>
            <a:pPr algn="ctr"/>
            <a:r>
              <a:rPr lang="cs-CZ" sz="1150" b="1">
                <a:solidFill>
                  <a:srgbClr val="003B7A"/>
                </a:solidFill>
              </a:rPr>
              <a:t>[snímek obrazovky]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457200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[popis úpravy]</a:t>
            </a:r>
            <a:endParaRPr lang="en-US" sz="1100"/>
          </a:p>
        </p:txBody>
      </p:sp>
      <p:sp>
        <p:nvSpPr>
          <p:cNvPr id="10" name="Rámeček ukázky"/>
          <p:cNvSpPr/>
          <p:nvPr/>
        </p:nvSpPr>
        <p:spPr>
          <a:xfrm>
            <a:off x="8238744" y="1572768"/>
            <a:ext cx="2770632" cy="3886200"/>
          </a:xfrm>
          <a:prstGeom prst="rect">
            <a:avLst/>
          </a:prstGeom>
          <a:solidFill>
            <a:srgbClr val="F6F8FC"/>
          </a:solidFill>
          <a:ln w="12700">
            <a:solidFill>
              <a:srgbClr val="3D7CC9"/>
            </a:solidFill>
            <a:prstDash val="dash"/>
          </a:ln>
        </p:spPr>
        <p:txBody>
          <a:bodyPr wrap="square" lIns="91440" tIns="91440" rIns="91440" bIns="91440" rtlCol="0" anchor="ctr"/>
          <a:lstStyle/>
          <a:p>
            <a:pPr algn="ctr"/>
            <a:r>
              <a:rPr lang="cs-CZ" sz="1150" b="1">
                <a:solidFill>
                  <a:srgbClr val="003B7A"/>
                </a:solidFill>
              </a:rPr>
              <a:t>[snímek obrazovky]</a:t>
            </a:r>
          </a:p>
        </p:txBody>
      </p:sp>
      <p:sp>
        <p:nvSpPr>
          <p:cNvPr id="12" name="Text 7"/>
          <p:cNvSpPr txBox="1"/>
          <p:nvPr/>
        </p:nvSpPr>
        <p:spPr>
          <a:xfrm>
            <a:off x="809244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30F3C"/>
                </a:solidFill>
              </a:rPr>
              <a:t>[popis úpravy]</a:t>
            </a:r>
            <a:endParaRPr lang="en-US" sz="1100"/>
          </a:p>
        </p:txBody>
      </p:sp>
      <p:sp>
        <p:nvSpPr>
          <p:cNvPr id="13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Návrhy úprav k revizi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EXPERIMENT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 ověří účinek proti dnešnímu dopisu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Ženy v segmentech B–E náhodně rozdělíme do ramen. Kontrolní skupina dostane dnešní dopis, takže měříme přínos oproti současné praxi.</a:t>
            </a:r>
            <a:endParaRPr lang="en-US" sz="1300"/>
          </a:p>
        </p:txBody>
      </p:sp>
      <p:sp>
        <p:nvSpPr>
          <p:cNvPr id="5" name="Vstup"/>
          <p:cNvSpPr/>
          <p:nvPr/>
        </p:nvSpPr>
        <p:spPr>
          <a:xfrm>
            <a:off x="777240" y="299008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868680" y="3026664"/>
            <a:ext cx="1828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Segmenty B–E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ženy, které VZP zve</a:t>
            </a:r>
            <a:endParaRPr lang="en-US" sz="1150"/>
          </a:p>
        </p:txBody>
      </p:sp>
      <p:sp>
        <p:nvSpPr>
          <p:cNvPr id="7" name="Randomizace"/>
          <p:cNvSpPr/>
          <p:nvPr/>
        </p:nvSpPr>
        <p:spPr>
          <a:xfrm>
            <a:off x="3200400" y="299008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FEEF8"/>
          </a:solidFill>
          <a:ln w="12700">
            <a:solidFill>
              <a:srgbClr val="7A78C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3291840" y="3026664"/>
            <a:ext cx="1645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Náhodné rozdělení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ženy; u lékařů po praxích</a:t>
            </a:r>
            <a:endParaRPr lang="en-US" sz="1150"/>
          </a:p>
        </p:txBody>
      </p:sp>
      <p:sp>
        <p:nvSpPr>
          <p:cNvPr id="9" name="Rameno 0"/>
          <p:cNvSpPr/>
          <p:nvPr/>
        </p:nvSpPr>
        <p:spPr>
          <a:xfrm>
            <a:off x="5486400" y="210312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3F2F6"/>
          </a:solidFill>
          <a:ln w="12700">
            <a:solidFill>
              <a:srgbClr val="B5B2C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 txBox="1"/>
          <p:nvPr/>
        </p:nvSpPr>
        <p:spPr>
          <a:xfrm>
            <a:off x="5577840" y="2139696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Kontrola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dnešní dopis</a:t>
            </a:r>
            <a:endParaRPr lang="en-US" sz="1150"/>
          </a:p>
        </p:txBody>
      </p:sp>
      <p:sp>
        <p:nvSpPr>
          <p:cNvPr id="11" name="Rameno 1"/>
          <p:cNvSpPr/>
          <p:nvPr/>
        </p:nvSpPr>
        <p:spPr>
          <a:xfrm>
            <a:off x="5486400" y="2816352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 txBox="1"/>
          <p:nvPr/>
        </p:nvSpPr>
        <p:spPr>
          <a:xfrm>
            <a:off x="5577840" y="2852928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Rameno 1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nový dopis podle segmentu</a:t>
            </a:r>
            <a:endParaRPr lang="en-US" sz="1150"/>
          </a:p>
        </p:txBody>
      </p:sp>
      <p:sp>
        <p:nvSpPr>
          <p:cNvPr id="13" name="Rameno 2"/>
          <p:cNvSpPr/>
          <p:nvPr/>
        </p:nvSpPr>
        <p:spPr>
          <a:xfrm>
            <a:off x="5486400" y="3529584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 txBox="1"/>
          <p:nvPr/>
        </p:nvSpPr>
        <p:spPr>
          <a:xfrm>
            <a:off x="5577840" y="356616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Rameno 2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pevný termín + SMS</a:t>
            </a:r>
            <a:endParaRPr lang="en-US" sz="1150"/>
          </a:p>
        </p:txBody>
      </p:sp>
      <p:sp>
        <p:nvSpPr>
          <p:cNvPr id="15" name="Rameno 3"/>
          <p:cNvSpPr/>
          <p:nvPr/>
        </p:nvSpPr>
        <p:spPr>
          <a:xfrm>
            <a:off x="5486400" y="4242816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 txBox="1"/>
          <p:nvPr/>
        </p:nvSpPr>
        <p:spPr>
          <a:xfrm>
            <a:off x="5577840" y="427939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Rameno 3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lékař jako kanál</a:t>
            </a:r>
            <a:endParaRPr lang="en-US" sz="1150"/>
          </a:p>
        </p:txBody>
      </p:sp>
      <p:sp>
        <p:nvSpPr>
          <p:cNvPr id="17" name="Výsledek"/>
          <p:cNvSpPr/>
          <p:nvPr/>
        </p:nvSpPr>
        <p:spPr>
          <a:xfrm>
            <a:off x="8549640" y="2990088"/>
            <a:ext cx="2862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 txBox="1"/>
          <p:nvPr/>
        </p:nvSpPr>
        <p:spPr>
          <a:xfrm>
            <a:off x="8641080" y="3026664"/>
            <a:ext cx="26791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30F3C"/>
                </a:solidFill>
              </a:rPr>
              <a:t>Výsledek</a:t>
            </a:r>
            <a:endParaRPr lang="en-US" sz="1150"/>
          </a:p>
          <a:p>
            <a:pPr marL="0" indent="0" algn="ctr">
              <a:buNone/>
            </a:pPr>
            <a:r>
              <a:rPr lang="en-US" sz="950">
                <a:solidFill>
                  <a:srgbClr val="4A4458"/>
                </a:solidFill>
              </a:rPr>
              <a:t>vykázaná mamografie do 6 měsíců, data VZP</a:t>
            </a:r>
            <a:endParaRPr lang="en-US" sz="1150"/>
          </a:p>
        </p:txBody>
      </p:sp>
      <p:sp>
        <p:nvSpPr>
          <p:cNvPr id="19" name="Šipka"/>
          <p:cNvSpPr/>
          <p:nvPr/>
        </p:nvSpPr>
        <p:spPr>
          <a:xfrm>
            <a:off x="2788920" y="3470148"/>
            <a:ext cx="411480" cy="0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0" name="Šipka"/>
          <p:cNvSpPr/>
          <p:nvPr/>
        </p:nvSpPr>
        <p:spPr>
          <a:xfrm flipV="1">
            <a:off x="5029200" y="2400300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Šipka"/>
          <p:cNvSpPr/>
          <p:nvPr/>
        </p:nvSpPr>
        <p:spPr>
          <a:xfrm>
            <a:off x="8092440" y="2400300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2" name="Šipka"/>
          <p:cNvSpPr/>
          <p:nvPr/>
        </p:nvSpPr>
        <p:spPr>
          <a:xfrm flipV="1">
            <a:off x="5029200" y="3113532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3" name="Šipka"/>
          <p:cNvSpPr/>
          <p:nvPr/>
        </p:nvSpPr>
        <p:spPr>
          <a:xfrm>
            <a:off x="8092440" y="3113532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4" name="Šipka"/>
          <p:cNvSpPr/>
          <p:nvPr/>
        </p:nvSpPr>
        <p:spPr>
          <a:xfrm>
            <a:off x="5029200" y="3470148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5" name="Šipka"/>
          <p:cNvSpPr/>
          <p:nvPr/>
        </p:nvSpPr>
        <p:spPr>
          <a:xfrm flipV="1">
            <a:off x="8092440" y="3470148"/>
            <a:ext cx="457200" cy="356616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6" name="Šipka"/>
          <p:cNvSpPr/>
          <p:nvPr/>
        </p:nvSpPr>
        <p:spPr>
          <a:xfrm>
            <a:off x="5029200" y="3470148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7" name="Šipka"/>
          <p:cNvSpPr/>
          <p:nvPr/>
        </p:nvSpPr>
        <p:spPr>
          <a:xfrm flipV="1">
            <a:off x="8092440" y="3470148"/>
            <a:ext cx="457200" cy="1069848"/>
          </a:xfrm>
          <a:prstGeom prst="line">
            <a:avLst/>
          </a:prstGeom>
          <a:noFill/>
          <a:ln w="15875">
            <a:solidFill>
              <a:srgbClr val="7A78C3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8" name="Ukazatel"/>
          <p:cNvSpPr/>
          <p:nvPr/>
        </p:nvSpPr>
        <p:spPr>
          <a:xfrm>
            <a:off x="777240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Ukazatel – číslo"/>
          <p:cNvSpPr txBox="1"/>
          <p:nvPr/>
        </p:nvSpPr>
        <p:spPr>
          <a:xfrm>
            <a:off x="978408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3–9 tis. žen</a:t>
            </a:r>
            <a:endParaRPr lang="en-US" sz="1700"/>
          </a:p>
        </p:txBody>
      </p:sp>
      <p:sp>
        <p:nvSpPr>
          <p:cNvPr id="30" name="Ukazatel – popis"/>
          <p:cNvSpPr txBox="1"/>
          <p:nvPr/>
        </p:nvSpPr>
        <p:spPr>
          <a:xfrm>
            <a:off x="978408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na rameno odhalí rozdíl +2 až +3 p. b.</a:t>
            </a:r>
            <a:endParaRPr lang="en-US" sz="1050"/>
          </a:p>
        </p:txBody>
      </p:sp>
      <p:sp>
        <p:nvSpPr>
          <p:cNvPr id="31" name="Ukazatel"/>
          <p:cNvSpPr/>
          <p:nvPr/>
        </p:nvSpPr>
        <p:spPr>
          <a:xfrm>
            <a:off x="3493008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Ukazatel – číslo"/>
          <p:cNvSpPr txBox="1"/>
          <p:nvPr/>
        </p:nvSpPr>
        <p:spPr>
          <a:xfrm>
            <a:off x="3694176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Předregistrace</a:t>
            </a:r>
            <a:endParaRPr lang="en-US" sz="1700"/>
          </a:p>
        </p:txBody>
      </p:sp>
      <p:sp>
        <p:nvSpPr>
          <p:cNvPr id="33" name="Ukazatel – popis"/>
          <p:cNvSpPr txBox="1"/>
          <p:nvPr/>
        </p:nvSpPr>
        <p:spPr>
          <a:xfrm>
            <a:off x="3694176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hypotézy, sledovaný ukazatel a analýza stanovené předem</a:t>
            </a:r>
            <a:endParaRPr lang="en-US" sz="1050"/>
          </a:p>
        </p:txBody>
      </p:sp>
      <p:sp>
        <p:nvSpPr>
          <p:cNvPr id="34" name="Ukazatel"/>
          <p:cNvSpPr/>
          <p:nvPr/>
        </p:nvSpPr>
        <p:spPr>
          <a:xfrm>
            <a:off x="6208776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Ukazatel – číslo"/>
          <p:cNvSpPr txBox="1"/>
          <p:nvPr/>
        </p:nvSpPr>
        <p:spPr>
          <a:xfrm>
            <a:off x="6409944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Podle přidělení</a:t>
            </a:r>
            <a:endParaRPr lang="en-US" sz="1700"/>
          </a:p>
        </p:txBody>
      </p:sp>
      <p:sp>
        <p:nvSpPr>
          <p:cNvPr id="36" name="Ukazatel – popis"/>
          <p:cNvSpPr txBox="1"/>
          <p:nvPr/>
        </p:nvSpPr>
        <p:spPr>
          <a:xfrm>
            <a:off x="6409944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vyhodnocení všech žen v rameni (ITT)</a:t>
            </a:r>
            <a:endParaRPr lang="en-US" sz="1050"/>
          </a:p>
        </p:txBody>
      </p:sp>
      <p:sp>
        <p:nvSpPr>
          <p:cNvPr id="37" name="Ukazatel"/>
          <p:cNvSpPr/>
          <p:nvPr/>
        </p:nvSpPr>
        <p:spPr>
          <a:xfrm>
            <a:off x="8924544" y="5074920"/>
            <a:ext cx="24871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Ukazatel – číslo"/>
          <p:cNvSpPr txBox="1"/>
          <p:nvPr/>
        </p:nvSpPr>
        <p:spPr>
          <a:xfrm>
            <a:off x="9125712" y="518464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3B7A"/>
                </a:solidFill>
              </a:rPr>
              <a:t>Pilot s VZP</a:t>
            </a:r>
            <a:endParaRPr lang="en-US" sz="1700"/>
          </a:p>
        </p:txBody>
      </p:sp>
      <p:sp>
        <p:nvSpPr>
          <p:cNvPr id="39" name="Ukazatel – popis"/>
          <p:cNvSpPr txBox="1"/>
          <p:nvPr/>
        </p:nvSpPr>
        <p:spPr>
          <a:xfrm>
            <a:off x="9125712" y="5678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v rámci řízeného vstupu inovací</a:t>
            </a:r>
            <a:endParaRPr lang="en-US" sz="105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DOPAD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 může přinést plošné nasazení: odhad finančního modelu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První tři čísla jsou změřená na ženách, které VZP pozvala v roce 2024. Další tři jsou odhad finančního modelu pro 1,5 mil. klientek VZP 45+ za roky 2027–2031; obě populace zatím nepropojujeme.</a:t>
            </a:r>
            <a:endParaRPr lang="en-US" sz="1300"/>
          </a:p>
        </p:txBody>
      </p:sp>
      <p:sp>
        <p:nvSpPr>
          <p:cNvPr id="5" name="Krok 1"/>
          <p:cNvSpPr/>
          <p:nvPr/>
        </p:nvSpPr>
        <p:spPr>
          <a:xfrm>
            <a:off x="777240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256 466</a:t>
            </a:r>
            <a:endParaRPr lang="en-US" sz="180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žen pozvala VZP v roce 2024</a:t>
            </a:r>
            <a:endParaRPr lang="en-US" sz="1000"/>
          </a:p>
        </p:txBody>
      </p:sp>
      <p:sp>
        <p:nvSpPr>
          <p:cNvPr id="8" name="Šipka"/>
          <p:cNvSpPr txBox="1"/>
          <p:nvPr/>
        </p:nvSpPr>
        <p:spPr>
          <a:xfrm>
            <a:off x="2295144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9" name="Krok 2"/>
          <p:cNvSpPr/>
          <p:nvPr/>
        </p:nvSpPr>
        <p:spPr>
          <a:xfrm>
            <a:off x="2600554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 txBox="1"/>
          <p:nvPr/>
        </p:nvSpPr>
        <p:spPr>
          <a:xfrm>
            <a:off x="2691994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207 201</a:t>
            </a:r>
            <a:endParaRPr lang="en-US" sz="1800"/>
          </a:p>
        </p:txBody>
      </p:sp>
      <p:sp>
        <p:nvSpPr>
          <p:cNvPr id="11" name="Text 9"/>
          <p:cNvSpPr txBox="1"/>
          <p:nvPr/>
        </p:nvSpPr>
        <p:spPr>
          <a:xfrm>
            <a:off x="2691994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z nich nepřišlo do 12 měsíců</a:t>
            </a:r>
            <a:endParaRPr lang="en-US" sz="1000"/>
          </a:p>
        </p:txBody>
      </p:sp>
      <p:sp>
        <p:nvSpPr>
          <p:cNvPr id="12" name="Šipka"/>
          <p:cNvSpPr txBox="1"/>
          <p:nvPr/>
        </p:nvSpPr>
        <p:spPr>
          <a:xfrm>
            <a:off x="4118458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13" name="Krok 3"/>
          <p:cNvSpPr/>
          <p:nvPr/>
        </p:nvSpPr>
        <p:spPr>
          <a:xfrm>
            <a:off x="4423867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 txBox="1"/>
          <p:nvPr/>
        </p:nvSpPr>
        <p:spPr>
          <a:xfrm>
            <a:off x="4515307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159 063</a:t>
            </a:r>
            <a:endParaRPr lang="en-US" sz="1800"/>
          </a:p>
        </p:txBody>
      </p:sp>
      <p:sp>
        <p:nvSpPr>
          <p:cNvPr id="15" name="Text 13"/>
          <p:cNvSpPr txBox="1"/>
          <p:nvPr/>
        </p:nvSpPr>
        <p:spPr>
          <a:xfrm>
            <a:off x="4515307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z nich v segmentech B–E</a:t>
            </a:r>
            <a:endParaRPr lang="en-US" sz="1000"/>
          </a:p>
        </p:txBody>
      </p:sp>
      <p:sp>
        <p:nvSpPr>
          <p:cNvPr id="17" name="Krok 4"/>
          <p:cNvSpPr/>
          <p:nvPr/>
        </p:nvSpPr>
        <p:spPr>
          <a:xfrm>
            <a:off x="6247181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 txBox="1"/>
          <p:nvPr/>
        </p:nvSpPr>
        <p:spPr>
          <a:xfrm>
            <a:off x="6338621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3B7A"/>
                </a:solidFill>
              </a:rPr>
              <a:t>≈ 291 tis.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338621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03B7A"/>
                </a:solidFill>
              </a:rPr>
              <a:t>vyšetření navíc za 2027–2031</a:t>
            </a:r>
            <a:endParaRPr lang="en-US" sz="1000"/>
          </a:p>
        </p:txBody>
      </p:sp>
      <p:sp>
        <p:nvSpPr>
          <p:cNvPr id="20" name="Šipka"/>
          <p:cNvSpPr txBox="1"/>
          <p:nvPr/>
        </p:nvSpPr>
        <p:spPr>
          <a:xfrm>
            <a:off x="7765085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21" name="Krok 5"/>
          <p:cNvSpPr/>
          <p:nvPr/>
        </p:nvSpPr>
        <p:spPr>
          <a:xfrm>
            <a:off x="8070494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 txBox="1"/>
          <p:nvPr/>
        </p:nvSpPr>
        <p:spPr>
          <a:xfrm>
            <a:off x="8161934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3B7A"/>
                </a:solidFill>
              </a:rPr>
              <a:t>≈ 1 600</a:t>
            </a:r>
            <a:endParaRPr lang="en-US" sz="1100"/>
          </a:p>
        </p:txBody>
      </p:sp>
      <p:sp>
        <p:nvSpPr>
          <p:cNvPr id="23" name="Text 21"/>
          <p:cNvSpPr txBox="1"/>
          <p:nvPr/>
        </p:nvSpPr>
        <p:spPr>
          <a:xfrm>
            <a:off x="8161934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03B7A"/>
                </a:solidFill>
              </a:rPr>
              <a:t>dříve zachycených nádorů, ≈ 190 odvrácených úmrtí</a:t>
            </a:r>
            <a:endParaRPr lang="en-US" sz="1000"/>
          </a:p>
        </p:txBody>
      </p:sp>
      <p:sp>
        <p:nvSpPr>
          <p:cNvPr id="24" name="Šipka"/>
          <p:cNvSpPr txBox="1"/>
          <p:nvPr/>
        </p:nvSpPr>
        <p:spPr>
          <a:xfrm>
            <a:off x="9588398" y="2788920"/>
            <a:ext cx="305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A78C3"/>
                </a:solidFill>
              </a:rPr>
              <a:t>→</a:t>
            </a:r>
            <a:endParaRPr lang="en-US" sz="1600"/>
          </a:p>
        </p:txBody>
      </p:sp>
      <p:sp>
        <p:nvSpPr>
          <p:cNvPr id="25" name="Krok 6"/>
          <p:cNvSpPr/>
          <p:nvPr/>
        </p:nvSpPr>
        <p:spPr>
          <a:xfrm>
            <a:off x="9893808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3D7CC9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 txBox="1"/>
          <p:nvPr/>
        </p:nvSpPr>
        <p:spPr>
          <a:xfrm>
            <a:off x="9985248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3B7A"/>
                </a:solidFill>
              </a:rPr>
              <a:t>≈ 156 mil. Kč</a:t>
            </a:r>
            <a:endParaRPr lang="en-US" sz="1100"/>
          </a:p>
        </p:txBody>
      </p:sp>
      <p:sp>
        <p:nvSpPr>
          <p:cNvPr id="27" name="Text 25"/>
          <p:cNvSpPr txBox="1"/>
          <p:nvPr/>
        </p:nvSpPr>
        <p:spPr>
          <a:xfrm>
            <a:off x="9985248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03B7A"/>
                </a:solidFill>
              </a:rPr>
              <a:t>čistý přínos za 5 let, z toho 34 mil. Kč za dopisy</a:t>
            </a:r>
            <a:endParaRPr lang="en-US" sz="1000"/>
          </a:p>
        </p:txBody>
      </p:sp>
      <p:sp>
        <p:nvSpPr>
          <p:cNvPr id="28" name="Nejistota"/>
          <p:cNvSpPr/>
          <p:nvPr/>
        </p:nvSpPr>
        <p:spPr>
          <a:xfrm>
            <a:off x="777240" y="4023360"/>
            <a:ext cx="51937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 txBox="1"/>
          <p:nvPr/>
        </p:nvSpPr>
        <p:spPr>
          <a:xfrm>
            <a:off x="1051560" y="4187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0F3C"/>
                </a:solidFill>
              </a:rPr>
              <a:t>Rozhodující nejistota</a:t>
            </a:r>
            <a:endParaRPr lang="en-US" sz="1300"/>
          </a:p>
        </p:txBody>
      </p:sp>
      <p:sp>
        <p:nvSpPr>
          <p:cNvPr id="30" name="Text 28"/>
          <p:cNvSpPr txBox="1"/>
          <p:nvPr/>
        </p:nvSpPr>
        <p:spPr>
          <a:xfrm>
            <a:off x="1051560" y="45720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A4458"/>
                </a:solidFill>
              </a:rPr>
              <a:t>Výsledek stojí na ceně léčby stadia IV, v modelu 3 mil. Kč na pacientku (odhad týmu). Pod ≈ 1,9 mil. Kč vychází první vyšetření navíc finančně zhruba na nulu a přínosem zůstávají zachráněné životy.</a:t>
            </a:r>
            <a:endParaRPr lang="en-US" sz="1150"/>
          </a:p>
        </p:txBody>
      </p:sp>
      <p:sp>
        <p:nvSpPr>
          <p:cNvPr id="31" name="Předpoklady"/>
          <p:cNvSpPr/>
          <p:nvPr/>
        </p:nvSpPr>
        <p:spPr>
          <a:xfrm>
            <a:off x="6217920" y="4023360"/>
            <a:ext cx="51937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 txBox="1"/>
          <p:nvPr/>
        </p:nvSpPr>
        <p:spPr>
          <a:xfrm>
            <a:off x="6492240" y="4187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0F3C"/>
                </a:solidFill>
              </a:rPr>
              <a:t>Na čem výpočet stojí</a:t>
            </a:r>
            <a:endParaRPr lang="en-US" sz="1300"/>
          </a:p>
        </p:txBody>
      </p:sp>
      <p:sp>
        <p:nvSpPr>
          <p:cNvPr id="33" name="Text 31"/>
          <p:cNvSpPr txBox="1"/>
          <p:nvPr/>
        </p:nvSpPr>
        <p:spPr>
          <a:xfrm>
            <a:off x="6492240" y="45720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A4458"/>
                </a:solidFill>
              </a:rPr>
              <a:t>Digitální kaskáda (push, e-mail, SMS, RCS) přivede ročně o 6 p. b. víc z ≈ 614 tis. žen bez prevence (konzervativně 3, optimisticky 10). Model počítá s návratem 80 %, data VZP dávají u žen dříve bez screeningu 60–70 %.</a:t>
            </a:r>
            <a:endParaRPr lang="en-US" sz="1150"/>
          </a:p>
        </p:txBody>
      </p:sp>
      <p:sp>
        <p:nvSpPr>
          <p:cNvPr id="34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2026; finanční model (docs/Financial_model, 16. 10. 2026); audit čísel (docs/AUDIT_CISEL.md)</a:t>
            </a:r>
            <a:endParaRPr lang="en-US" sz="90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554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FFFFFF"/>
                </a:solidFill>
              </a:rPr>
              <a:t>Nabízíme VZP pilot</a:t>
            </a:r>
            <a:endParaRPr lang="en-US" sz="3600"/>
          </a:p>
        </p:txBody>
      </p:sp>
      <p:sp>
        <p:nvSpPr>
          <p:cNvPr id="3" name="Text 1"/>
          <p:cNvSpPr txBox="1"/>
          <p:nvPr/>
        </p:nvSpPr>
        <p:spPr>
          <a:xfrm>
            <a:off x="777240" y="26060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E6E4F7"/>
                </a:solidFill>
              </a:rPr>
              <a:t>Pilot segmentů B–E s randomizací v rámci řízeného vstupu inovací VZP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E6E4F7"/>
                </a:solidFill>
              </a:rPr>
              <a:t>Model, segmenty a návrh experimentu předáme včetně kódu a dokumentace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E6E4F7"/>
                </a:solidFill>
              </a:rPr>
              <a:t>Zkušenosti ze zdravotnictví, z data science i z byznysu; téma nás zajímá</a:t>
            </a:r>
            <a:endParaRPr lang="en-US" sz="1600"/>
          </a:p>
        </p:txBody>
      </p:sp>
      <p:sp>
        <p:nvSpPr>
          <p:cNvPr id="4" name="Text 2"/>
          <p:cNvSpPr txBox="1"/>
          <p:nvPr/>
        </p:nvSpPr>
        <p:spPr>
          <a:xfrm>
            <a:off x="777240" y="49377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Jakub Weiner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DAD8F2"/>
                </a:solidFill>
              </a:rPr>
              <a:t>jakub@weiner.cz · +420 602 307 893 · www.weinerpartners.cz</a:t>
            </a:r>
            <a:endParaRPr lang="en-US"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Přehled zvažovaných intervencí a jejich očekávaného účinku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Účinek je přírůstek oproti dnešnímu dopisu podle literatury; přenos do ČR je náš úsudek a skutečný účinek ověří experiment.</a:t>
            </a:r>
            <a:endParaRPr lang="en-US" sz="1300"/>
          </a:p>
        </p:txBody>
      </p:sp>
      <p:graphicFrame>
        <p:nvGraphicFramePr>
          <p:cNvPr id="11" name="Tabulka podpo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382219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Skupina opatření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Intervence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 koho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Účinek (p. b.)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Chytřejší zvaní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nezvat nedávno vyšetřené, ověřit výkony před odesláním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úspora 7 600 dopisů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dřívější připomínka s termínem ve 25.–36. měsíci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nový dopis: vyvrácení mýtů, přerušení zvyku, „bez žádanky“, podpis lékaře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zvané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 až +4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SMS připomínka s odkazem na objednání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ženy s mobilním číslem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+5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zprávy upravené AI pro minisegmenty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varianty dopisu a SMS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až +2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Snadné objednání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pevný termín místo otevřené pozvánky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B, C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+10 až +19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víkendové a večerní termíny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pracující ženy (B, C)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neměřeno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elektronická žádanka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zvané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bez odhadu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Lékař jako kanál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seznamy žen bez mamografie a zpětná vazba lékařům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D, 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+2 až +6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upozornění pro lékaře v EZ kartě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E, F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+1 až +5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bonus lékařům za mamografický screening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gynekologové, praktici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až +2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Úpravy aplikace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push v Moje VZP a úpravy aplikace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uživatelky aplikace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push 0 až +1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Dostupnost v regionech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doprava a pojízdný mamograf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65+ v okresech bez centra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lokálně +5 až +15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Plošné nástroje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mediální kampaň, influenceři, pacientské organizace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ženy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≈ 0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finanční pobídka ženám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 ženy, případně F, 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až +1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Zatím nezařazeno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telefonická navigace: objednat a vyřešit překážku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F, 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+5 až +12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balíček prevence (více screeningů najednou)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−2 až +3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 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ověření pobytu v ČR, komunitní práce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bez odhadu</a:t>
                      </a:r>
                      <a:endParaRPr lang="en-US" sz="90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18288" marB="18288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  <p:sp>
        <p:nvSpPr>
          <p:cNvPr id="990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docs/PREZENTACE.md, kap. 7–11; docs/interventions.md; naše analýza</a:t>
            </a:r>
            <a:endParaRPr lang="en-US" sz="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Praktik vs. gynekolog</a:t>
            </a:r>
            <a:endParaRPr lang="en-US" sz="3600"/>
          </a:p>
        </p:txBody>
      </p:sp>
      <p:sp>
        <p:nvSpPr>
          <p:cNvPr id="3" name="Text 1"/>
          <p:cNvSpPr txBox="1"/>
          <p:nvPr/>
        </p:nvSpPr>
        <p:spPr>
          <a:xfrm>
            <a:off x="812902" y="1627632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Účast do 12 měsíců po pozvánce, %</a:t>
            </a:r>
            <a:endParaRPr lang="en-US" sz="1200"/>
          </a:p>
        </p:txBody>
      </p:sp>
      <p:graphicFrame>
        <p:nvGraphicFramePr>
          <p:cNvPr id="4" name="Graf účasti"/>
          <p:cNvGraphicFramePr/>
          <p:nvPr/>
        </p:nvGraphicFramePr>
        <p:xfrm>
          <a:off x="721462" y="1874520"/>
          <a:ext cx="6437376" cy="4169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anel efekt"/>
          <p:cNvSpPr/>
          <p:nvPr/>
        </p:nvSpPr>
        <p:spPr>
          <a:xfrm>
            <a:off x="7571232" y="1627632"/>
            <a:ext cx="3813048" cy="441655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6" name="Text 3"/>
          <p:cNvSpPr txBox="1"/>
          <p:nvPr/>
        </p:nvSpPr>
        <p:spPr>
          <a:xfrm>
            <a:off x="7872984" y="192938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Kdyby praktik doporučoval jako gynekolog</a:t>
            </a:r>
            <a:endParaRPr lang="en-US" sz="1800"/>
          </a:p>
        </p:txBody>
      </p:sp>
      <p:sp>
        <p:nvSpPr>
          <p:cNvPr id="7" name="Text 4"/>
          <p:cNvSpPr txBox="1"/>
          <p:nvPr/>
        </p:nvSpPr>
        <p:spPr>
          <a:xfrm>
            <a:off x="7872984" y="257860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Ženy jen u praktika: </a:t>
            </a:r>
            <a:r>
              <a:rPr lang="en-US" sz="1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10,6 % → 25,7 %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7872984" y="2971800"/>
            <a:ext cx="3209544" cy="0"/>
          </a:xfrm>
          <a:prstGeom prst="line">
            <a:avLst/>
          </a:prstGeom>
          <a:noFill/>
          <a:ln w="19050">
            <a:solidFill>
              <a:srgbClr val="E5928A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9" name="Text 6"/>
          <p:cNvSpPr txBox="1"/>
          <p:nvPr/>
        </p:nvSpPr>
        <p:spPr>
          <a:xfrm>
            <a:off x="7872984" y="30906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>
                <a:solidFill>
                  <a:srgbClr val="F3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61,2 %  →  </a:t>
            </a:r>
            <a:r>
              <a:rPr lang="en-US" sz="32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64,3 %</a:t>
            </a:r>
            <a:endParaRPr lang="en-US" sz="2400"/>
          </a:p>
        </p:txBody>
      </p:sp>
      <p:sp>
        <p:nvSpPr>
          <p:cNvPr id="10" name="Text 7"/>
          <p:cNvSpPr txBox="1"/>
          <p:nvPr/>
        </p:nvSpPr>
        <p:spPr>
          <a:xfrm>
            <a:off x="7872984" y="370332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celková docházka žen 45–74 let (+3,1 p. b.)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7872984" y="4096512"/>
            <a:ext cx="3209544" cy="0"/>
          </a:xfrm>
          <a:prstGeom prst="line">
            <a:avLst/>
          </a:prstGeom>
          <a:noFill/>
          <a:ln w="19050">
            <a:solidFill>
              <a:srgbClr val="E5928A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12" name="Text 9"/>
          <p:cNvSpPr txBox="1"/>
          <p:nvPr/>
        </p:nvSpPr>
        <p:spPr>
          <a:xfrm>
            <a:off x="7872984" y="420624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+33 776</a:t>
            </a:r>
            <a:endParaRPr 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7872984" y="477316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žen navíc na mamografu ročně</a:t>
            </a:r>
            <a:endParaRPr lang="en-US" sz="1400"/>
          </a:p>
        </p:txBody>
      </p:sp>
      <p:sp>
        <p:nvSpPr>
          <p:cNvPr id="14" name="Zdroj"/>
          <p:cNvSpPr txBox="1"/>
          <p:nvPr/>
        </p:nvSpPr>
        <p:spPr>
          <a:xfrm>
            <a:off x="812902" y="624535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Zdroj: zvané klientky VZP 2020–2024 (Rakathon 2026), ČSÚ a ÚZIS 2024 · horní odhad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11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Kolik karcinomů odhalíme včas navíc</a:t>
            </a:r>
            <a:endParaRPr lang="en-US" sz="3600"/>
          </a:p>
        </p:txBody>
      </p:sp>
      <p:sp>
        <p:nvSpPr>
          <p:cNvPr id="3" name="Text 1"/>
          <p:cNvSpPr txBox="1"/>
          <p:nvPr/>
        </p:nvSpPr>
        <p:spPr>
          <a:xfrm>
            <a:off x="812902" y="1627632"/>
            <a:ext cx="6601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Podíl nových případů karcinomu prsu podle věku, %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3354294" y="1938528"/>
            <a:ext cx="26325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45–74: 66,8 % případů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400014" y="2212848"/>
            <a:ext cx="2541118" cy="0"/>
          </a:xfrm>
          <a:prstGeom prst="line">
            <a:avLst/>
          </a:prstGeom>
          <a:noFill/>
          <a:ln w="19050">
            <a:solidFill>
              <a:srgbClr val="C23B22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graphicFrame>
        <p:nvGraphicFramePr>
          <p:cNvPr id="6" name="Graf incidence"/>
          <p:cNvGraphicFramePr/>
          <p:nvPr/>
        </p:nvGraphicFramePr>
        <p:xfrm>
          <a:off x="721462" y="1874520"/>
          <a:ext cx="6693408" cy="4169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Panel karcinomy"/>
          <p:cNvSpPr/>
          <p:nvPr/>
        </p:nvSpPr>
        <p:spPr>
          <a:xfrm>
            <a:off x="7827264" y="1627632"/>
            <a:ext cx="3557016" cy="441655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8" name="Text 5"/>
          <p:cNvSpPr txBox="1"/>
          <p:nvPr/>
        </p:nvSpPr>
        <p:spPr>
          <a:xfrm>
            <a:off x="8129016" y="188366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ROK NAVÍC</a:t>
            </a:r>
            <a:endParaRPr lang="en-US" sz="1200"/>
          </a:p>
        </p:txBody>
      </p:sp>
      <p:sp>
        <p:nvSpPr>
          <p:cNvPr id="9" name="Text 6"/>
          <p:cNvSpPr txBox="1"/>
          <p:nvPr/>
        </p:nvSpPr>
        <p:spPr>
          <a:xfrm>
            <a:off x="8129016" y="215798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+33 776</a:t>
            </a:r>
            <a:endParaRPr lang="en-US" sz="3200"/>
          </a:p>
        </p:txBody>
      </p:sp>
      <p:sp>
        <p:nvSpPr>
          <p:cNvPr id="10" name="Text 7"/>
          <p:cNvSpPr txBox="1"/>
          <p:nvPr/>
        </p:nvSpPr>
        <p:spPr>
          <a:xfrm>
            <a:off x="9866376" y="2157984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vyšetření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mamografu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8129016" y="2761488"/>
            <a:ext cx="2953512" cy="0"/>
          </a:xfrm>
          <a:prstGeom prst="line">
            <a:avLst/>
          </a:prstGeom>
          <a:noFill/>
          <a:ln w="19050">
            <a:solidFill>
              <a:srgbClr val="7FA3BF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12" name="Text 9"/>
          <p:cNvSpPr txBox="1"/>
          <p:nvPr/>
        </p:nvSpPr>
        <p:spPr>
          <a:xfrm>
            <a:off x="8129016" y="2834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4800"/>
          </a:p>
        </p:txBody>
      </p:sp>
      <p:sp>
        <p:nvSpPr>
          <p:cNvPr id="13" name="Text 10"/>
          <p:cNvSpPr txBox="1"/>
          <p:nvPr/>
        </p:nvSpPr>
        <p:spPr>
          <a:xfrm>
            <a:off x="9363456" y="283464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karcinomů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odhalených včas</a:t>
            </a:r>
            <a:endParaRPr lang="en-US" sz="1400"/>
          </a:p>
        </p:txBody>
      </p:sp>
      <p:graphicFrame>
        <p:nvGraphicFramePr>
          <p:cNvPr id="14" name="Tabulka karcinomy"/>
          <p:cNvGraphicFramePr>
            <a:graphicFrameLocks noGrp="1"/>
          </p:cNvGraphicFramePr>
          <p:nvPr/>
        </p:nvGraphicFramePr>
        <p:xfrm>
          <a:off x="8129016" y="3639312"/>
          <a:ext cx="2944368" cy="19019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Věk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Vyšetření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Karcinomy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45–49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6 815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4 202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55–59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4 961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5 119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65–69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6 161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70–74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6 519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Celkem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5D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33 776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8129016" y="566928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Konzervativně: 10 660 vyšetření, 60 karcinomů</a:t>
            </a:r>
            <a:endParaRPr lang="en-US" sz="1200"/>
          </a:p>
        </p:txBody>
      </p:sp>
      <p:sp>
        <p:nvSpPr>
          <p:cNvPr id="16" name="Zdroj"/>
          <p:cNvSpPr txBox="1"/>
          <p:nvPr/>
        </p:nvSpPr>
        <p:spPr>
          <a:xfrm>
            <a:off x="812902" y="624535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Zdroj: SVOD 2020–2024 (C50), ÚZIS – Evaluační zpráva 2022, výpočet z dat VZP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60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Doprava: okresy bez mamografu</a:t>
            </a:r>
            <a:endParaRPr lang="en-US" sz="3600"/>
          </a:p>
        </p:txBody>
      </p:sp>
      <p:sp>
        <p:nvSpPr>
          <p:cNvPr id="3" name="Text 1"/>
          <p:cNvSpPr txBox="1"/>
          <p:nvPr/>
        </p:nvSpPr>
        <p:spPr>
          <a:xfrm>
            <a:off x="812902" y="1627632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Dvouleté pokrytí mamografem, %; pod věkem rozdíl v p. b. (* statisticky průkazný)</a:t>
            </a:r>
            <a:endParaRPr lang="en-US" sz="1200"/>
          </a:p>
        </p:txBody>
      </p:sp>
      <p:sp>
        <p:nvSpPr>
          <p:cNvPr id="4" name="Mimo cílovou skupinu"/>
          <p:cNvSpPr/>
          <p:nvPr/>
        </p:nvSpPr>
        <p:spPr>
          <a:xfrm>
            <a:off x="5077419" y="2329160"/>
            <a:ext cx="1952671" cy="2964485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5" name="Text 3"/>
          <p:cNvSpPr txBox="1"/>
          <p:nvPr/>
        </p:nvSpPr>
        <p:spPr>
          <a:xfrm>
            <a:off x="5077419" y="2356592"/>
            <a:ext cx="19526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cílovou skupinu</a:t>
            </a:r>
            <a:endParaRPr lang="en-US" sz="1200"/>
          </a:p>
        </p:txBody>
      </p:sp>
      <p:graphicFrame>
        <p:nvGraphicFramePr>
          <p:cNvPr id="6" name="Graf pokrytí"/>
          <p:cNvGraphicFramePr/>
          <p:nvPr/>
        </p:nvGraphicFramePr>
        <p:xfrm>
          <a:off x="721462" y="1874520"/>
          <a:ext cx="6437376" cy="4169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Panel doprava"/>
          <p:cNvSpPr/>
          <p:nvPr/>
        </p:nvSpPr>
        <p:spPr>
          <a:xfrm>
            <a:off x="7571232" y="1627632"/>
            <a:ext cx="3813048" cy="441655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8" name="Text 5"/>
          <p:cNvSpPr txBox="1"/>
          <p:nvPr/>
        </p:nvSpPr>
        <p:spPr>
          <a:xfrm>
            <a:off x="7872984" y="192938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Kdyby doprava nebyla překážkou</a:t>
            </a:r>
            <a:endParaRPr lang="en-US" sz="1800"/>
          </a:p>
        </p:txBody>
      </p:sp>
      <p:graphicFrame>
        <p:nvGraphicFramePr>
          <p:cNvPr id="9" name="Tabulka pokrytí"/>
          <p:cNvGraphicFramePr>
            <a:graphicFrameLocks noGrp="1"/>
          </p:cNvGraphicFramePr>
          <p:nvPr/>
        </p:nvGraphicFramePr>
        <p:xfrm>
          <a:off x="7872984" y="2606040"/>
          <a:ext cx="3209544" cy="10972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592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3C6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Pokrytí ČR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592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3C6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Mamografie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592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Ženy 45–74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592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61,2 % → 61,5 %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592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+3 212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592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F3C6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Ženy 75+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3C6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34,8 % → 35,9 %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>
                          <a:solidFill>
                            <a:srgbClr val="F3C6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+3 498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Celkem 45+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55,4 % → 55,8 %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+6 710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872984" y="3822192"/>
            <a:ext cx="3209544" cy="0"/>
          </a:xfrm>
          <a:prstGeom prst="line">
            <a:avLst/>
          </a:prstGeom>
          <a:noFill/>
          <a:ln w="19050">
            <a:solidFill>
              <a:srgbClr val="E5928A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11" name="Text 7"/>
          <p:cNvSpPr txBox="1"/>
          <p:nvPr/>
        </p:nvSpPr>
        <p:spPr>
          <a:xfrm>
            <a:off x="7872984" y="3931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+6 710</a:t>
            </a:r>
            <a:endParaRPr lang="en-US" sz="3200"/>
          </a:p>
        </p:txBody>
      </p:sp>
      <p:sp>
        <p:nvSpPr>
          <p:cNvPr id="12" name="Text 8"/>
          <p:cNvSpPr txBox="1"/>
          <p:nvPr/>
        </p:nvSpPr>
        <p:spPr>
          <a:xfrm>
            <a:off x="7872984" y="449884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mamografií navíc ročně, z toho 3 212 u žen 45–74</a:t>
            </a:r>
            <a:endParaRPr lang="en-US" sz="1400"/>
          </a:p>
        </p:txBody>
      </p:sp>
      <p:sp>
        <p:nvSpPr>
          <p:cNvPr id="13" name="Text 9"/>
          <p:cNvSpPr txBox="1"/>
          <p:nvPr/>
        </p:nvSpPr>
        <p:spPr>
          <a:xfrm>
            <a:off x="7872984" y="50749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F3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okresech bez pracoviště (477 743 žen 45–74): 60,9 % → 62,2 %. Efekt průkazný od 65 let.</a:t>
            </a:r>
            <a:endParaRPr lang="en-US" sz="1200"/>
          </a:p>
        </p:txBody>
      </p:sp>
      <p:sp>
        <p:nvSpPr>
          <p:cNvPr id="14" name="Zdroj"/>
          <p:cNvSpPr txBox="1"/>
          <p:nvPr/>
        </p:nvSpPr>
        <p:spPr>
          <a:xfrm>
            <a:off x="812902" y="624535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Zdroj: ČSÚ a ÚZIS 2024, srovnání s okresy téhož kraje s mamografickým pracovištěm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060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Kolik karcinomů přinese doprava</a:t>
            </a:r>
            <a:endParaRPr lang="en-US" sz="3600"/>
          </a:p>
        </p:txBody>
      </p:sp>
      <p:sp>
        <p:nvSpPr>
          <p:cNvPr id="3" name="Text 1"/>
          <p:cNvSpPr txBox="1"/>
          <p:nvPr/>
        </p:nvSpPr>
        <p:spPr>
          <a:xfrm>
            <a:off x="812902" y="1627632"/>
            <a:ext cx="6601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Karcinomy odhalené navíc za rok podle věku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1190000" y="1938528"/>
            <a:ext cx="4060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C2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45–74: 22 karcinomů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1263152" y="2212848"/>
            <a:ext cx="3914364" cy="0"/>
          </a:xfrm>
          <a:prstGeom prst="line">
            <a:avLst/>
          </a:prstGeom>
          <a:noFill/>
          <a:ln w="19050">
            <a:solidFill>
              <a:srgbClr val="C23B22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6" name="Text 4"/>
          <p:cNvSpPr txBox="1"/>
          <p:nvPr/>
        </p:nvSpPr>
        <p:spPr>
          <a:xfrm>
            <a:off x="5250668" y="1938528"/>
            <a:ext cx="2030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75+: dalších 43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323820" y="2212848"/>
            <a:ext cx="1884030" cy="0"/>
          </a:xfrm>
          <a:prstGeom prst="line">
            <a:avLst/>
          </a:prstGeom>
          <a:noFill/>
          <a:ln w="19050">
            <a:solidFill>
              <a:srgbClr val="5E5E5E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graphicFrame>
        <p:nvGraphicFramePr>
          <p:cNvPr id="8" name="Graf karcinomů"/>
          <p:cNvGraphicFramePr/>
          <p:nvPr/>
        </p:nvGraphicFramePr>
        <p:xfrm>
          <a:off x="721462" y="1874520"/>
          <a:ext cx="6693408" cy="4169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anel karcinomy doprava"/>
          <p:cNvSpPr/>
          <p:nvPr/>
        </p:nvSpPr>
        <p:spPr>
          <a:xfrm>
            <a:off x="7827264" y="1627632"/>
            <a:ext cx="3557016" cy="441655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Z"/>
          </a:p>
        </p:txBody>
      </p:sp>
      <p:sp>
        <p:nvSpPr>
          <p:cNvPr id="10" name="Text 7"/>
          <p:cNvSpPr txBox="1"/>
          <p:nvPr/>
        </p:nvSpPr>
        <p:spPr>
          <a:xfrm>
            <a:off x="8129016" y="188366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ROK NAVÍC</a:t>
            </a:r>
            <a:endParaRPr lang="en-US" sz="1200"/>
          </a:p>
        </p:txBody>
      </p:sp>
      <p:sp>
        <p:nvSpPr>
          <p:cNvPr id="11" name="Text 8"/>
          <p:cNvSpPr txBox="1"/>
          <p:nvPr/>
        </p:nvSpPr>
        <p:spPr>
          <a:xfrm>
            <a:off x="8129016" y="21762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Ženy 45–74</a:t>
            </a:r>
            <a:endParaRPr lang="en-US" sz="1200"/>
          </a:p>
        </p:txBody>
      </p:sp>
      <p:sp>
        <p:nvSpPr>
          <p:cNvPr id="12" name="Text 9"/>
          <p:cNvSpPr txBox="1"/>
          <p:nvPr/>
        </p:nvSpPr>
        <p:spPr>
          <a:xfrm>
            <a:off x="9637776" y="21762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Včetně žen 75+</a:t>
            </a:r>
            <a:endParaRPr lang="en-US" sz="1200"/>
          </a:p>
        </p:txBody>
      </p:sp>
      <p:sp>
        <p:nvSpPr>
          <p:cNvPr id="13" name="Text 10"/>
          <p:cNvSpPr txBox="1"/>
          <p:nvPr/>
        </p:nvSpPr>
        <p:spPr>
          <a:xfrm>
            <a:off x="8129016" y="24048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+3 212</a:t>
            </a:r>
            <a:endParaRPr lang="en-US" sz="2800"/>
          </a:p>
        </p:txBody>
      </p:sp>
      <p:sp>
        <p:nvSpPr>
          <p:cNvPr id="14" name="Text 11"/>
          <p:cNvSpPr txBox="1"/>
          <p:nvPr/>
        </p:nvSpPr>
        <p:spPr>
          <a:xfrm>
            <a:off x="9637776" y="24048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+6 710</a:t>
            </a:r>
            <a:endParaRPr lang="en-US" sz="2800"/>
          </a:p>
        </p:txBody>
      </p:sp>
      <p:sp>
        <p:nvSpPr>
          <p:cNvPr id="15" name="Text 12"/>
          <p:cNvSpPr txBox="1"/>
          <p:nvPr/>
        </p:nvSpPr>
        <p:spPr>
          <a:xfrm>
            <a:off x="8129016" y="285292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mamografií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8129016" y="31546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000"/>
          </a:p>
        </p:txBody>
      </p:sp>
      <p:sp>
        <p:nvSpPr>
          <p:cNvPr id="17" name="Text 14"/>
          <p:cNvSpPr txBox="1"/>
          <p:nvPr/>
        </p:nvSpPr>
        <p:spPr>
          <a:xfrm>
            <a:off x="9637776" y="31546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4000"/>
          </a:p>
        </p:txBody>
      </p:sp>
      <p:sp>
        <p:nvSpPr>
          <p:cNvPr id="18" name="Text 15"/>
          <p:cNvSpPr txBox="1"/>
          <p:nvPr/>
        </p:nvSpPr>
        <p:spPr>
          <a:xfrm>
            <a:off x="8129016" y="374904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karcinomů odhalených včas</a:t>
            </a:r>
            <a:endParaRPr lang="en-US" sz="1200"/>
          </a:p>
        </p:txBody>
      </p:sp>
      <p:graphicFrame>
        <p:nvGraphicFramePr>
          <p:cNvPr id="19" name="Tabulka doprava"/>
          <p:cNvGraphicFramePr>
            <a:graphicFrameLocks noGrp="1"/>
          </p:cNvGraphicFramePr>
          <p:nvPr/>
        </p:nvGraphicFramePr>
        <p:xfrm>
          <a:off x="8129016" y="4114800"/>
          <a:ext cx="2944368" cy="1188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Věk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Mamografie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Karcinomy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1 196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7FA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65–69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70–74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1 152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DFD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75+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3 498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DCE7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8129016" y="544068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srovnání: praktik přinese 192</a:t>
            </a:r>
            <a:endParaRPr lang="en-US" sz="1200"/>
          </a:p>
        </p:txBody>
      </p:sp>
      <p:sp>
        <p:nvSpPr>
          <p:cNvPr id="21" name="Zdroj"/>
          <p:cNvSpPr txBox="1"/>
          <p:nvPr/>
        </p:nvSpPr>
        <p:spPr>
          <a:xfrm>
            <a:off x="812902" y="624535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Zdroj: ČSÚ a ÚZIS 2024, ÚZIS – Evaluační zpráva 2022, výpočet z dat VZP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011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APLIKACE PRO LÉKAŘE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Lékař se jen zapojí, oslovení běží jeho jménem automaticky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4458"/>
                </a:solidFill>
              </a:rPr>
              <a:t>Administrace napojená na Moje VZP ve stejném vizuálu. Lékař vidí, koho program oslovil, kdo přišel a kolik mu VZP za zapojení zaplatí.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29107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Zdroj: návrh administrace pro lékaře (prompt pro vývoj, 16. 10. 2026); čísla v ukázce jsou ilustrační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03B7A"/>
          </a:solidFill>
          <a:ln w="9525">
            <a:solidFill>
              <a:srgbClr val="003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08483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0F3C"/>
                </a:solidFill>
              </a:rPr>
              <a:t>Zapojí se jedním přepínačem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2395727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4458"/>
                </a:solidFill>
              </a:rPr>
              <a:t>souhlas se zasíláním zpráv jeho jménem, společný provoz s VZP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003B7A"/>
          </a:solidFill>
          <a:ln w="9525">
            <a:solidFill>
              <a:srgbClr val="003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090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0F3C"/>
                </a:solidFill>
              </a:rPr>
              <a:t>VZP oslovuje jeho pacientky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40156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4458"/>
                </a:solidFill>
              </a:rPr>
              <a:t>kaskáda push, e-mail a RCS podle dat VZP, bez práce v ordinaci</a:t>
            </a:r>
          </a:p>
        </p:txBody>
      </p:sp>
      <p:sp>
        <p:nvSpPr>
          <p:cNvPr id="36" name="Oval 3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03B7A"/>
          </a:solidFill>
          <a:ln w="9525">
            <a:solidFill>
              <a:srgbClr val="003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096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0F3C"/>
                </a:solidFill>
              </a:rPr>
              <a:t>Vidí výsledky a platby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40740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4458"/>
                </a:solidFill>
              </a:rPr>
              <a:t>osloveno, žádanky, vyšetřeno, konverze a příjem od VZP za rok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120640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12064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30F3C"/>
                </a:solidFill>
              </a:rPr>
              <a:t>Proč to lékaře zajímá: </a:t>
            </a:r>
            <a:r>
              <a:rPr sz="1050" b="0">
                <a:solidFill>
                  <a:srgbClr val="4A4458"/>
                </a:solidFill>
              </a:rPr>
              <a:t>gynekolog dnes za účast pacientek na mamografu nedostává nic (slajd 6), praktik na mamograf neposílá.</a:t>
            </a:r>
          </a:p>
        </p:txBody>
      </p:sp>
      <p:sp>
        <p:nvSpPr>
          <p:cNvPr id="42" name="Ukázka aplikace"/>
          <p:cNvSpPr/>
          <p:nvPr/>
        </p:nvSpPr>
        <p:spPr>
          <a:xfrm>
            <a:off x="6583680" y="2057400"/>
            <a:ext cx="4828032" cy="374903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12280" y="21945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230F3C"/>
                </a:solidFill>
              </a:rPr>
              <a:t>Přehled · MUDr. Jana Ukázková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2606040"/>
            <a:ext cx="43708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12280" y="2606040"/>
            <a:ext cx="73152" cy="1874519"/>
          </a:xfrm>
          <a:prstGeom prst="rect">
            <a:avLst/>
          </a:prstGeom>
          <a:solidFill>
            <a:srgbClr val="4B8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086600" y="2743200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E9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86600" y="274320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3557A8"/>
                </a:solidFill>
              </a:rPr>
              <a:t>Zapojeno od 1. 3. 2027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310896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2F2F"/>
                </a:solidFill>
              </a:rPr>
              <a:t>Mamograf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35204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3B7A"/>
                </a:solidFill>
              </a:rPr>
              <a:t>412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90448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96969"/>
                </a:solidFill>
              </a:rPr>
              <a:t>osloveno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5204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3B7A"/>
                </a:solidFill>
              </a:rPr>
              <a:t>128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90448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96969"/>
                </a:solidFill>
              </a:rPr>
              <a:t>vyšetřeno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59" y="35204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3B7A"/>
                </a:solidFill>
              </a:rPr>
              <a:t>31 %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59" y="390448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96969"/>
                </a:solidFill>
              </a:rPr>
              <a:t>konverze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12280" y="4617720"/>
            <a:ext cx="437083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12280" y="4617720"/>
            <a:ext cx="73152" cy="1005840"/>
          </a:xfrm>
          <a:prstGeom prst="rect">
            <a:avLst/>
          </a:prstGeom>
          <a:solidFill>
            <a:srgbClr val="B0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086600" y="4736592"/>
            <a:ext cx="1188720" cy="256032"/>
          </a:xfrm>
          <a:prstGeom prst="roundRect">
            <a:avLst>
              <a:gd name="adj" fmla="val 20000"/>
            </a:avLst>
          </a:prstGeom>
          <a:solidFill>
            <a:srgbClr val="F7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86600" y="473659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A8331F"/>
                </a:solidFill>
              </a:rPr>
              <a:t>Co nejdříve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50749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2F2F"/>
                </a:solidFill>
              </a:rPr>
              <a:t>Příjem od VZP za rok: </a:t>
            </a:r>
            <a:r>
              <a:rPr sz="1100" b="0">
                <a:solidFill>
                  <a:srgbClr val="696969"/>
                </a:solidFill>
              </a:rPr>
              <a:t>sazba VZP – doplnit</a:t>
            </a:r>
          </a:p>
        </p:txBody>
      </p:sp>
    </p:spTree>
    <p:extLst>
      <p:ext uri="{BB962C8B-B14F-4D97-AF65-F5344CB8AC3E}">
        <p14:creationId xmlns:p14="http://schemas.microsoft.com/office/powerpoint/2010/main" val="37878210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KASKÁDA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Digitální kaskáda přivede 44–71 tisíc vyšetření navíc ročně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4458"/>
                </a:solidFill>
              </a:rPr>
              <a:t>Odhad pro ≈ 614 tis. klientek VZP 45+ bez splněné prevence a 443 tis. žen, které chodí pravidelně. Od roku 2029 se na druhé kolo vracejí ženy aktivované v roce 2027.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29107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Zdroj: finanční model (16. 10. 2026); VZP 2025–2026; datový audit mamografického screeningu 2023; naše analýza</a:t>
            </a:r>
          </a:p>
        </p:txBody>
      </p:sp>
      <p:graphicFrame>
        <p:nvGraphicFramePr>
          <p:cNvPr id="28" name="Graf vyšetření navíc"/>
          <p:cNvGraphicFramePr>
            <a:graphicFrameLocks noGrp="1"/>
          </p:cNvGraphicFramePr>
          <p:nvPr/>
        </p:nvGraphicFramePr>
        <p:xfrm>
          <a:off x="777240" y="2057400"/>
          <a:ext cx="681228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Panel kaskáda"/>
          <p:cNvSpPr/>
          <p:nvPr/>
        </p:nvSpPr>
        <p:spPr>
          <a:xfrm>
            <a:off x="7863840" y="2057400"/>
            <a:ext cx="3547872" cy="3977639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9525">
            <a:solidFill>
              <a:srgbClr val="003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226771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ZA 2027–2031, ZÁKLADNÍ SCÉNÁŘ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560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≈ 291 tis.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0906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vyšetření navíc (152–452 tis.)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38160" y="3520440"/>
            <a:ext cx="2999232" cy="0"/>
          </a:xfrm>
          <a:prstGeom prst="line">
            <a:avLst/>
          </a:prstGeom>
          <a:ln>
            <a:solidFill>
              <a:srgbClr val="7FA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38160" y="36576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≈ 100 Kč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0690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náklad komunikace na jedno vyšetření navíc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0" y="4617720"/>
            <a:ext cx="2999232" cy="0"/>
          </a:xfrm>
          <a:prstGeom prst="line">
            <a:avLst/>
          </a:prstGeom>
          <a:ln>
            <a:solidFill>
              <a:srgbClr val="7FA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0" y="4754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3,36 Kč vs. 40 Kč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1663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jedna vlna kaskády na ženu vs. jeden dopis; kaskáda osloví 3,5× víc žen za 38 % ceny dopisů</a:t>
            </a:r>
          </a:p>
        </p:txBody>
      </p:sp>
    </p:spTree>
    <p:extLst>
      <p:ext uri="{BB962C8B-B14F-4D97-AF65-F5344CB8AC3E}">
        <p14:creationId xmlns:p14="http://schemas.microsoft.com/office/powerpoint/2010/main" val="5367330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FINANČNÍ VYJÁDŘENÍ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Včasné oslovení ušetří na léčbě víc, než stojí screening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4458"/>
                </a:solidFill>
              </a:rPr>
              <a:t>Dříve zachycený nádor ušetří v průměru 407 tis. Kč (léčba 119 tis. místo 526 tis. Kč). Od úspory odečítáme mamograf, doplňující vyšetření, příspěvek 1 000 Kč a overdiagnózu.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29107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Zdroj: finanční model (16. 10. 2026); datový audit screeningu 2023; náklady léčby podle stadia: odhad týmu</a:t>
            </a:r>
          </a:p>
        </p:txBody>
      </p:sp>
      <p:graphicFrame>
        <p:nvGraphicFramePr>
          <p:cNvPr id="28" name="Graf úspor"/>
          <p:cNvGraphicFramePr>
            <a:graphicFrameLocks noGrp="1"/>
          </p:cNvGraphicFramePr>
          <p:nvPr/>
        </p:nvGraphicFramePr>
        <p:xfrm>
          <a:off x="777240" y="2057400"/>
          <a:ext cx="681228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7863840" y="2057400"/>
            <a:ext cx="3547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21762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3B7A"/>
                </a:solidFill>
              </a:rPr>
              <a:t>1 605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5603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4458"/>
                </a:solidFill>
              </a:rPr>
              <a:t>nádorů zachycených dříve, ve stadiu 0–I místo II–IV (840–2 485)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127248"/>
            <a:ext cx="3547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3B7A"/>
                </a:solidFill>
              </a:rPr>
              <a:t>≈ 189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63016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4458"/>
                </a:solidFill>
              </a:rPr>
              <a:t>odvrácených úmrtí do 5 let od diagnózy (99–292)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197096"/>
            <a:ext cx="3547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92440" y="43159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03B7A"/>
                </a:solidFill>
              </a:rPr>
              <a:t>+654 mil. Kč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700016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A4458"/>
                </a:solidFill>
              </a:rPr>
              <a:t>ušetřená léčba za 2027–2031, po nákladech na screening čistě +144 mil. Kč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5266944"/>
            <a:ext cx="3547872" cy="786384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5358383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30F3C"/>
                </a:solidFill>
              </a:rPr>
              <a:t>Rozhodující nejistota: </a:t>
            </a:r>
            <a:r>
              <a:rPr sz="1000" b="0">
                <a:solidFill>
                  <a:srgbClr val="4A4458"/>
                </a:solidFill>
              </a:rPr>
              <a:t>cena léčby IV. stadia. Pod ≈ 1,9 mil. Kč vychází první vyšetření navíc finančně na nulu.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PŘEHLED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Program ušetří VZP za pět let čistě 86–237 milionů Kč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4458"/>
                </a:solidFill>
              </a:rPr>
              <a:t>Součet všech položek modelu za 2027–2031. Kladná čísla jsou úspora, záporná náklad; PPC počítáme za jeden rok experimentu.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29107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Zdroj: finanční model (16. 10. 2026); VZP 2025–2026; datový audit mamografického screeningu 2023; naše analýza</a:t>
            </a:r>
          </a:p>
        </p:txBody>
      </p:sp>
      <p:graphicFrame>
        <p:nvGraphicFramePr>
          <p:cNvPr id="28" name="Tabulka přehled"/>
          <p:cNvGraphicFramePr>
            <a:graphicFrameLocks noGrp="1"/>
          </p:cNvGraphicFramePr>
          <p:nvPr/>
        </p:nvGraphicFramePr>
        <p:xfrm>
          <a:off x="777240" y="2057400"/>
          <a:ext cx="10634472" cy="36210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99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Položka (2027–2031)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Konzervativní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Základní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Optimistický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Ušetřená léčba díky dřívějšímu záchytu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+342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+654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+1 012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Screening, recall, příspěvek 1 000 Kč, overdiagnóza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−267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−510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−790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Digitální kaskáda (push, e-mail, SMS, RCS)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−22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−21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−20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Úspora za dopisy, které kaskáda nahradí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+33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+34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+35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3B7A"/>
                          </a:solidFill>
                        </a:rPr>
                        <a:t>Čistý přínos programu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3B7A"/>
                          </a:solidFill>
                        </a:rPr>
                        <a:t>+86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3B7A"/>
                          </a:solidFill>
                        </a:rPr>
                        <a:t>+156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3B7A"/>
                          </a:solidFill>
                        </a:rPr>
                        <a:t>+237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PPC experiment (1 rok, 5 mil. Kč)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−3,6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−1,6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+1,9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3B7A"/>
                          </a:solidFill>
                        </a:rPr>
                        <a:t>Čistý přínos včetně PPC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3B7A"/>
                          </a:solidFill>
                        </a:rPr>
                        <a:t>+82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3B7A"/>
                          </a:solidFill>
                        </a:rPr>
                        <a:t>+154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3B7A"/>
                          </a:solidFill>
                        </a:rPr>
                        <a:t>+239 mil. Kč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Vyšetření navíc (kaskáda + PPC)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154 000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296 000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462 000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Nádory zachycené dříve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≈ 853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≈ 1 637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≈ 2 548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A4458"/>
                          </a:solidFill>
                        </a:rPr>
                        <a:t>Odvrácená úmrtí do 5 let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≈ 100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4458"/>
                          </a:solidFill>
                        </a:rPr>
                        <a:t>≈ 193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4A4458"/>
                          </a:solidFill>
                        </a:rPr>
                        <a:t>≈ 299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5366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AUTOMATIZACE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Kaskáda oslovení běží sama, zastaví ji žádanka nebo mamograf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4458"/>
                </a:solidFill>
              </a:rPr>
              <a:t>Spouští ji data VZP, zprávy odcházejí jménem registrujícího lékaře. Kanál bez kontaktu se přeskočí.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29107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Zdroj: návrh automatizace (16. 10. 2026); úhrada screeningu 1× za 2 roky od 45 let (VZP, 24. 6. 2026)</a:t>
            </a:r>
          </a:p>
        </p:txBody>
      </p:sp>
      <p:sp>
        <p:nvSpPr>
          <p:cNvPr id="28" name="Spouštěč"/>
          <p:cNvSpPr/>
          <p:nvPr/>
        </p:nvSpPr>
        <p:spPr>
          <a:xfrm>
            <a:off x="777240" y="2103120"/>
            <a:ext cx="1783080" cy="114300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9525">
            <a:solidFill>
              <a:srgbClr val="003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2212848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Spouštěč</a:t>
            </a:r>
          </a:p>
          <a:p>
            <a:pPr algn="l"/>
            <a:r>
              <a:rPr sz="950" b="0">
                <a:solidFill>
                  <a:srgbClr val="FFFFFF"/>
                </a:solidFill>
              </a:rPr>
              <a:t>žena 45+, 700 dní od posledního mamografu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06040" y="2674620"/>
            <a:ext cx="274320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Kaskáda A"/>
          <p:cNvSpPr/>
          <p:nvPr/>
        </p:nvSpPr>
        <p:spPr>
          <a:xfrm>
            <a:off x="2926080" y="2103120"/>
            <a:ext cx="5440680" cy="114300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90672" y="217627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30F3C"/>
                </a:solidFill>
              </a:rPr>
              <a:t>Kaskáda A: pozvánka na mamograf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0672" y="2514600"/>
            <a:ext cx="114300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36391" y="255117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3B7A"/>
                </a:solidFill>
              </a:rPr>
              <a:t>Den 0</a:t>
            </a:r>
          </a:p>
          <a:p>
            <a:pPr algn="ctr"/>
            <a:r>
              <a:rPr sz="900" b="0">
                <a:solidFill>
                  <a:srgbClr val="4A4458"/>
                </a:solidFill>
              </a:rPr>
              <a:t>Push v Moje VZP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51960" y="2816352"/>
            <a:ext cx="137160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98264" y="2514600"/>
            <a:ext cx="114300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43983" y="255117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3B7A"/>
                </a:solidFill>
              </a:rPr>
              <a:t>Den 14</a:t>
            </a:r>
          </a:p>
          <a:p>
            <a:pPr algn="ctr"/>
            <a:r>
              <a:rPr sz="900" b="0">
                <a:solidFill>
                  <a:srgbClr val="4A4458"/>
                </a:solidFill>
              </a:rPr>
              <a:t>E-mail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59552" y="2816352"/>
            <a:ext cx="137160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705855" y="2514600"/>
            <a:ext cx="114300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51575" y="255117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3B7A"/>
                </a:solidFill>
              </a:rPr>
              <a:t>Den 30</a:t>
            </a:r>
          </a:p>
          <a:p>
            <a:pPr algn="ctr"/>
            <a:r>
              <a:rPr sz="900" b="0">
                <a:solidFill>
                  <a:srgbClr val="4A4458"/>
                </a:solidFill>
              </a:rPr>
              <a:t>E-mail připomínka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67144" y="2816352"/>
            <a:ext cx="137159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013447" y="2514600"/>
            <a:ext cx="114300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59167" y="255117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3B7A"/>
                </a:solidFill>
              </a:rPr>
              <a:t>Den 60</a:t>
            </a:r>
          </a:p>
          <a:p>
            <a:pPr algn="ctr"/>
            <a:r>
              <a:rPr sz="900" b="0">
                <a:solidFill>
                  <a:srgbClr val="4A4458"/>
                </a:solidFill>
              </a:rPr>
              <a:t>RCS zpráva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0" y="2674620"/>
            <a:ext cx="274320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zhodnutí žádanka"/>
          <p:cNvSpPr/>
          <p:nvPr/>
        </p:nvSpPr>
        <p:spPr>
          <a:xfrm>
            <a:off x="8732520" y="2103120"/>
            <a:ext cx="2679192" cy="114300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7A7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1160" y="2423160"/>
            <a:ext cx="1581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30F3C"/>
                </a:solidFill>
              </a:rPr>
              <a:t>Lékař vykázal žádanku?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072116" y="3246120"/>
            <a:ext cx="0" cy="59436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149840" y="340156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ano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3375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ne: za 6 měsíců znovu kaskáda A</a:t>
            </a:r>
          </a:p>
        </p:txBody>
      </p:sp>
      <p:sp>
        <p:nvSpPr>
          <p:cNvPr id="50" name="Pauza"/>
          <p:cNvSpPr/>
          <p:nvPr/>
        </p:nvSpPr>
        <p:spPr>
          <a:xfrm>
            <a:off x="8915400" y="3840480"/>
            <a:ext cx="2313432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06840" y="3840480"/>
            <a:ext cx="21305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30F3C"/>
                </a:solidFill>
              </a:rPr>
              <a:t>Pauza 6 měsíců</a:t>
            </a:r>
          </a:p>
          <a:p>
            <a:pPr algn="ctr"/>
            <a:r>
              <a:rPr sz="900" b="0">
                <a:solidFill>
                  <a:srgbClr val="4A4458"/>
                </a:solidFill>
              </a:rPr>
              <a:t>žádanka platí 1 rok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8092440" y="4229100"/>
            <a:ext cx="822960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zhodnutí mamograf"/>
          <p:cNvSpPr/>
          <p:nvPr/>
        </p:nvSpPr>
        <p:spPr>
          <a:xfrm>
            <a:off x="5440680" y="3703320"/>
            <a:ext cx="2651760" cy="105156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7A7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89320" y="3977639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30F3C"/>
                </a:solidFill>
              </a:rPr>
              <a:t>Mamograf vykázán?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4846320" y="4229100"/>
            <a:ext cx="594360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983480" y="395935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ne</a:t>
            </a:r>
          </a:p>
        </p:txBody>
      </p:sp>
      <p:sp>
        <p:nvSpPr>
          <p:cNvPr id="57" name="Kaskáda B"/>
          <p:cNvSpPr/>
          <p:nvPr/>
        </p:nvSpPr>
        <p:spPr>
          <a:xfrm>
            <a:off x="777240" y="3840480"/>
            <a:ext cx="4023360" cy="7772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" y="3840480"/>
            <a:ext cx="37490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30F3C"/>
                </a:solidFill>
              </a:rPr>
              <a:t>Kaskáda B: využijte žádanku</a:t>
            </a:r>
          </a:p>
          <a:p>
            <a:pPr algn="l"/>
            <a:r>
              <a:rPr sz="900" b="0">
                <a:solidFill>
                  <a:srgbClr val="4A4458"/>
                </a:solidFill>
              </a:rPr>
              <a:t>stejné kanály a rozestupy; pak znovu pauza a kontrola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66560" y="4754880"/>
            <a:ext cx="0" cy="32004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839712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ano</a:t>
            </a:r>
          </a:p>
        </p:txBody>
      </p:sp>
      <p:sp>
        <p:nvSpPr>
          <p:cNvPr id="61" name="Hotovo"/>
          <p:cNvSpPr/>
          <p:nvPr/>
        </p:nvSpPr>
        <p:spPr>
          <a:xfrm>
            <a:off x="5074920" y="5074920"/>
            <a:ext cx="3383280" cy="658368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9525">
            <a:solidFill>
              <a:srgbClr val="003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6360" y="5074920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Připsat lékaři do statistiky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další spouštěč za 700 dní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498348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30F3C"/>
                </a:solidFill>
              </a:rPr>
              <a:t>Pravidla: </a:t>
            </a:r>
            <a:r>
              <a:rPr sz="950" b="0">
                <a:solidFill>
                  <a:srgbClr val="4A4458"/>
                </a:solidFill>
              </a:rPr>
              <a:t>jen Po–Pá 9–18 h mimo svátky · vykázaný mamograf kaskádu kdykoli ukončí · 5 % žen jako kontrolní skupina · nevyužitá žádanka po roce vrací ženu do kaskády A</a:t>
            </a:r>
          </a:p>
        </p:txBody>
      </p:sp>
    </p:spTree>
    <p:extLst>
      <p:ext uri="{BB962C8B-B14F-4D97-AF65-F5344CB8AC3E}">
        <p14:creationId xmlns:p14="http://schemas.microsoft.com/office/powerpoint/2010/main" val="22210038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PPC EXPERIMENT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Kampaň s influencery jen jako test, rozpočet se uvolňuje po fázích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A4458"/>
                </a:solidFill>
              </a:rPr>
              <a:t>Literatura dává plošným kampaním malý účinek (slajd 9). Proto 5 mil. Kč ročně nasadíme jako geo test na 77 okresech a dál pokračujeme jen při prokázaném dopadu.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29107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597"/>
                </a:solidFill>
              </a:rPr>
              <a:t>Zdroj: návrh PPC experimentu (16. 10. 2026); ceny tvůrců jsou odhad k ověření nabídkami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103120"/>
            <a:ext cx="245059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2212848"/>
            <a:ext cx="21214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A78C3"/>
                </a:solidFill>
              </a:rPr>
              <a:t>Fáze 0 · měsíc 1–2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246888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0F3C"/>
                </a:solidFill>
              </a:rPr>
              <a:t>Příprava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278892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0F3C"/>
                </a:solidFill>
              </a:rPr>
              <a:t>0,3 mil. Kč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3127248"/>
            <a:ext cx="2121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4458"/>
                </a:solidFill>
              </a:rPr>
              <a:t>měření v Moje VZP, rozdělení okresů, výběr 6–8 tvůrců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46120" y="2994660"/>
            <a:ext cx="256032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502152" y="2103120"/>
            <a:ext cx="245059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66744" y="2212848"/>
            <a:ext cx="21214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A78C3"/>
                </a:solidFill>
              </a:rPr>
              <a:t>Fáze 1 · měsíc 3–5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66744" y="246888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0F3C"/>
                </a:solidFill>
              </a:rPr>
              <a:t>Geo test intenzity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66744" y="278892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0F3C"/>
                </a:solidFill>
              </a:rPr>
              <a:t>1,5 mil. Kč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66744" y="3127248"/>
            <a:ext cx="2121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4458"/>
                </a:solidFill>
              </a:rPr>
              <a:t>kontrola / nízká / vysoká intenzita, ženy 45–74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71031" y="2994660"/>
            <a:ext cx="256033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227064" y="2103120"/>
            <a:ext cx="245059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91656" y="2212848"/>
            <a:ext cx="21214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A78C3"/>
                </a:solidFill>
              </a:rPr>
              <a:t>Fáze 2 · měsíc 6–8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246888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0F3C"/>
                </a:solidFill>
              </a:rPr>
              <a:t>Počet tvůrců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278892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0F3C"/>
                </a:solidFill>
              </a:rPr>
              <a:t>1,2 mil. Kč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3127248"/>
            <a:ext cx="2121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4458"/>
                </a:solidFill>
              </a:rPr>
              <a:t>2 vs. 6 tvůrců, persona „pošli to mámě“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695944" y="2994660"/>
            <a:ext cx="256032" cy="0"/>
          </a:xfrm>
          <a:prstGeom prst="line">
            <a:avLst/>
          </a:prstGeom>
          <a:ln w="19050">
            <a:solidFill>
              <a:srgbClr val="7A78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951976" y="2103120"/>
            <a:ext cx="2450592" cy="1783080"/>
          </a:xfrm>
          <a:prstGeom prst="roundRect">
            <a:avLst>
              <a:gd name="adj" fmla="val 5000"/>
            </a:avLst>
          </a:prstGeom>
          <a:solidFill>
            <a:srgbClr val="003B7A"/>
          </a:solidFill>
          <a:ln w="9525">
            <a:solidFill>
              <a:srgbClr val="003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16568" y="2212848"/>
            <a:ext cx="21214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</a:rPr>
              <a:t>Fáze 3 · měsíc 9–12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6568" y="246888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Škálování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6568" y="2788920"/>
            <a:ext cx="2121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2,0 mil. Kč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6568" y="3127248"/>
            <a:ext cx="21214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celá ČR, 20 % okresů jako kontrola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3931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03B7A"/>
                </a:solidFill>
              </a:rPr>
              <a:t>Brána před fází 3: jedno vyšetření navíc stojí méně než ≈ 690 Kč, jinak zbytek rozpočtu jde do kaskády</a:t>
            </a:r>
          </a:p>
        </p:txBody>
      </p:sp>
      <p:graphicFrame>
        <p:nvGraphicFramePr>
          <p:cNvPr id="52" name="Tabulka PPC"/>
          <p:cNvGraphicFramePr>
            <a:graphicFrameLocks noGrp="1"/>
          </p:cNvGraphicFramePr>
          <p:nvPr/>
        </p:nvGraphicFramePr>
        <p:xfrm>
          <a:off x="777240" y="4343400"/>
          <a:ext cx="10634472" cy="1280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Scénář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Náklad na vyšetření navíc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Vyšetření navíc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Nádory dříve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Finančně za rok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4458"/>
                          </a:solidFill>
                        </a:rPr>
                        <a:t>Konzervativní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2 500 Kč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2 000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≈ 13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−3,6 mil. Kč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A4458"/>
                          </a:solidFill>
                        </a:rPr>
                        <a:t>Základní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4458"/>
                          </a:solidFill>
                        </a:rPr>
                        <a:t>1 000 Kč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4458"/>
                          </a:solidFill>
                        </a:rPr>
                        <a:t>5 000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4458"/>
                          </a:solidFill>
                        </a:rPr>
                        <a:t>≈ 32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4458"/>
                          </a:solidFill>
                        </a:rPr>
                        <a:t>−1,6 mil. Kč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4458"/>
                          </a:solidFill>
                        </a:rPr>
                        <a:t>Optimistický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500 Kč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10 000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≈ 63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4458"/>
                          </a:solidFill>
                        </a:rPr>
                        <a:t>+1,9 mil. Kč</a:t>
                      </a:r>
                    </a:p>
                  </a:txBody>
                  <a:tcPr marL="109728" marR="10972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C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531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Návrat po mamografii podle segmentu</a:t>
            </a:r>
            <a:endParaRPr lang="en-US" sz="2400"/>
          </a:p>
        </p:txBody>
      </p:sp>
      <p:sp>
        <p:nvSpPr>
          <p:cNvPr id="4" name="Úvod"/>
          <p:cNvSpPr txBox="1"/>
          <p:nvPr/>
        </p:nvSpPr>
        <p:spPr>
          <a:xfrm>
            <a:off x="777240" y="148132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458"/>
                </a:solidFill>
              </a:rPr>
              <a:t>Sledujeme ženy, které přišly po pozvánce z 1. pololetí 2020, do konce roku 2024. Návrat znamená spíše „do zhruba 3 let“, protože VZP znovu zve až po 36 a více měsících.</a:t>
            </a:r>
            <a:endParaRPr lang="en-US" sz="1300"/>
          </a:p>
        </p:txBody>
      </p:sp>
      <p:graphicFrame>
        <p:nvGraphicFramePr>
          <p:cNvPr id="17" name="Tabulka návrat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6949440" cy="34381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Skupina (segment pozvánky, po které přišla)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Žen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Návrat: dolní – horní mez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všechny, které přišly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24 267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73–80 %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 první pozvánka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12 066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86–89 %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 vypadlá z rytmu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3 968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64–74 %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D–G dříve bez screeningu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8 175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60–70 %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 toho D gynekolog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4 717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67–75 %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 toho E jiná prevence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2 819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51–64 %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 toho F, G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639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46–61 %</a:t>
                      </a:r>
                      <a:endParaRPr lang="en-US" sz="105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Ukazatel"/>
          <p:cNvSpPr/>
          <p:nvPr/>
        </p:nvSpPr>
        <p:spPr>
          <a:xfrm>
            <a:off x="8001000" y="2240280"/>
            <a:ext cx="341071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Ukazatel – číslo"/>
          <p:cNvSpPr txBox="1"/>
          <p:nvPr/>
        </p:nvSpPr>
        <p:spPr>
          <a:xfrm>
            <a:off x="8202168" y="23500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D27869"/>
                </a:solidFill>
              </a:rPr>
              <a:t>60–70 %</a:t>
            </a:r>
            <a:endParaRPr lang="en-US" sz="2400"/>
          </a:p>
        </p:txBody>
      </p:sp>
      <p:sp>
        <p:nvSpPr>
          <p:cNvPr id="8" name="Ukazatel – popis"/>
          <p:cNvSpPr txBox="1"/>
          <p:nvPr/>
        </p:nvSpPr>
        <p:spPr>
          <a:xfrm>
            <a:off x="8202168" y="2843784"/>
            <a:ext cx="30083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458"/>
                </a:solidFill>
              </a:rPr>
              <a:t>návrat u žen dříve bez screeningu (D–G); u žen po první pozvánce 86–89 %</a:t>
            </a:r>
            <a:endParaRPr lang="en-US" sz="1050"/>
          </a:p>
        </p:txBody>
      </p:sp>
      <p:sp>
        <p:nvSpPr>
          <p:cNvPr id="9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2026; docs/AUDIT_CISEL.md, kap. 5.3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Otázky pro VZP a data, která by pilot potřeboval</a:t>
            </a:r>
            <a:endParaRPr lang="en-US" sz="2400"/>
          </a:p>
        </p:txBody>
      </p:sp>
      <p:sp>
        <p:nvSpPr>
          <p:cNvPr id="4" name="Otázky – Data"/>
          <p:cNvSpPr/>
          <p:nvPr/>
        </p:nvSpPr>
        <p:spPr>
          <a:xfrm>
            <a:off x="777240" y="1691640"/>
            <a:ext cx="338328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105156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B7A"/>
                </a:solidFill>
              </a:rPr>
              <a:t>Data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1051560" y="2331720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typ a znění dopisu (přirozený experiment)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kategorie plátce jako zástupný ukazatel socioekonomické situace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okres bydliště místo územního pracoviště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pseudonym registrujícího praktika a gynekologa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dostupné kanály: Moje VZP, telefon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pozvánky po 7/2026 (reforma bez žádanky)</a:t>
            </a:r>
            <a:endParaRPr lang="en-US" sz="1150"/>
          </a:p>
        </p:txBody>
      </p:sp>
      <p:sp>
        <p:nvSpPr>
          <p:cNvPr id="7" name="Otázky – Ekonomika"/>
          <p:cNvSpPr/>
          <p:nvPr/>
        </p:nvSpPr>
        <p:spPr>
          <a:xfrm>
            <a:off x="4402836" y="1691640"/>
            <a:ext cx="338328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4677156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B7A"/>
                </a:solidFill>
              </a:rPr>
              <a:t>Ekonomika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4677156" y="2331720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náklady léčby karcinomu prsu podle stadia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úhrada výkonu 89223 a doplňujících vyšetření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náklady kanálů a rozpočet na kampaň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kapacita a objednací lhůty mamocenter</a:t>
            </a:r>
            <a:endParaRPr lang="en-US" sz="1150"/>
          </a:p>
        </p:txBody>
      </p:sp>
      <p:sp>
        <p:nvSpPr>
          <p:cNvPr id="10" name="Otázky – Systém"/>
          <p:cNvSpPr/>
          <p:nvPr/>
        </p:nvSpPr>
        <p:spPr>
          <a:xfrm>
            <a:off x="8028432" y="1691640"/>
            <a:ext cx="338328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8302752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B7A"/>
                </a:solidFill>
              </a:rPr>
              <a:t>Systém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8302752" y="2331720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úhradový mechanismus praktiků a možnost bonusu za mamografický screening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jak VZP zve dnes: otevřená pozvánka, kanály, frekvence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4A4458"/>
                </a:solidFill>
              </a:rPr>
              <a:t>počet aktivních uživatelů aplikace Moje VZP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Citovaná literatura a dokumenty</a:t>
            </a:r>
            <a:endParaRPr lang="en-US" sz="2400"/>
          </a:p>
        </p:txBody>
      </p:sp>
      <p:graphicFrame>
        <p:nvGraphicFramePr>
          <p:cNvPr id="11" name="Tabulka podpory"/>
          <p:cNvGraphicFramePr>
            <a:graphicFrameLocks noGrp="1"/>
          </p:cNvGraphicFramePr>
          <p:nvPr/>
        </p:nvGraphicFramePr>
        <p:xfrm>
          <a:off x="777240" y="1463040"/>
          <a:ext cx="10634472" cy="38313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Citace na slajdu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Úplná citace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Allgood a kol., 2016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Allgood PC, Maxwell AJ, Hudson S et al. A randomised trial of the effect of postal reminders on attendance for breast screening. British Journal of Cancer, 2016.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Allgood a kol., 2017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Allgood PC, Maroni R, Hudson S et al. Effect of second timed appointments for non-attenders of breast cancer screening in England: a randomised controlled trial. The Lancet Oncology, 2017.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Brouwers a kol., 2011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Brouwers MC, De Vito C, Bahirathan L et al. What implementation interventions increase cancer screening rates? A systematic review. Implementation Science, 2011.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Community Guide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Community Preventive Services Task Force. Cancer Screening: Mass Media Targeting Clients – Breast Cancer. The Community Guide (thecommunityguide.org).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Ferrari a kol., 2026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Ferrari A, Goossens M, Van Bos L et al. Improving participation in breast cancer screening through a tailored reminder letter: a randomized controlled trial tackling socioeconomic inequities. International Journal for Equity in Health, 2026 (v tisku).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Hewitson a kol., 2011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Hewitson P, Ward AM, Heneghan C et al. Primary care endorsement letter and a patient leaflet to improve participation in colorectal cancer screening: results of a factorial randomised trial. British Journal of Cancer, 2011.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Kerrison a kol., 2015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Kerrison RS, Shukla H, Cunningham D et al. Text-message reminders increase uptake of routine breast screening appointments: a randomised controlled trial in a hard-to-reach population. British Journal of Cancer, 2015.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Lee a kol., 2026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Lee SC, Lucky SS, Zhu J et al. Pragmatic Interventions to Boost Surveillance Mammogram Uptake Among an Overdue Population: A Randomized Clinical Trial. JAMA Internal Medicine, 2026.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 a kol., 2026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 SJ, Brentnall AR, Cookson J et al. The effect of different combinations of open invitations and timed appointments on breast screening attendance: service evaluation of invitation strategies in the NHS Breast Screening Programme. British Journal of Cancer, 2026.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Merrick a kol., 2015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Merrick EL, Hodgkin D, Horgan CM et al. Testing novel patient financial incentives to increase breast cancer screening. The American Journal of Managed Care, 2015.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metodika VZP 2026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VZP ČR. Metodika pro PZS – úhrady ambulantní gynekologie 2026, verze 1.6, platná k 27. 1. 2026.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Pohl a kol., 2025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Pohl AL, Aderonmu AA, Grab JD et al. Transportation Insecurity, Social Support, and Adherence to Cancer Screening. JAMA Network Open, 2025.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Ricci-Cabello a kol., 2023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Ricci-Cabello I, Carvallo-Castañeda D, Vásquez-Mejía A et al. Characteristics and impact of interventions to support healthcare providers’ compliance with guideline recommendations for breast cancer: a systematic literature review. Implementation Science, 2023.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Rossi a kol., 2024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Rossi J, Mullen LA, Oluyemi ET et al. Patient Utilization of Weekend and Evening Appointments for Screening Mammography: An 8-Year Observational Cohort Study. Journal of the American College of Radiology, 2024.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Ziegler a kol., 2026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230F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Ziegler AM, Harold P, Tumiel-Berhalter LM. Implementing mobile mammography in primary care: a community-based Reach, Effectiveness, Adoption, Implementation, and Maintenance (RE-AIM) evaluation. Translational Behavioral Medicine, 2026.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  <p:sp>
        <p:nvSpPr>
          <p:cNvPr id="990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PAPERS.md; papers/</a:t>
            </a:r>
            <a:endParaRPr lang="en-US" sz="9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7A78C3"/>
                </a:solidFill>
              </a:rPr>
              <a:t>PŘÍLOHA</a:t>
            </a:r>
            <a:endParaRPr lang="en-US" sz="9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VZP a jejich omezení</a:t>
            </a:r>
            <a:endParaRPr lang="en-US" sz="2400"/>
          </a:p>
        </p:txBody>
      </p:sp>
      <p:sp>
        <p:nvSpPr>
          <p:cNvPr id="4" name="Řádek – Co data jsou"/>
          <p:cNvSpPr/>
          <p:nvPr/>
        </p:nvSpPr>
        <p:spPr>
          <a:xfrm>
            <a:off x="777240" y="169164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105156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Co data jsou</a:t>
            </a:r>
            <a:endParaRPr lang="en-US" sz="1200"/>
          </a:p>
        </p:txBody>
      </p:sp>
      <p:sp>
        <p:nvSpPr>
          <p:cNvPr id="6" name="Text 4"/>
          <p:cNvSpPr txBox="1"/>
          <p:nvPr/>
        </p:nvSpPr>
        <p:spPr>
          <a:xfrm>
            <a:off x="3337560" y="169164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1 344 556 adresných pozvánek VZP (dopisy 3, 4, 7 a 8) z let 2020–2024 pro 508 527 žen nepřetržitě pojištěných 2015–2025.</a:t>
            </a:r>
            <a:endParaRPr lang="en-US" sz="1100"/>
          </a:p>
        </p:txBody>
      </p:sp>
      <p:sp>
        <p:nvSpPr>
          <p:cNvPr id="7" name="Řádek – Koho obsahují"/>
          <p:cNvSpPr/>
          <p:nvPr/>
        </p:nvSpPr>
        <p:spPr>
          <a:xfrm>
            <a:off x="777240" y="256032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105156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Koho obsahují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3337560" y="256032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jen ženy, které VZP zvala, tedy ženy mimo doporučený interval; ženy 40–74 let, bez 75+ a bez nově pojištěných.</a:t>
            </a:r>
            <a:endParaRPr lang="en-US" sz="1100"/>
          </a:p>
        </p:txBody>
      </p:sp>
      <p:sp>
        <p:nvSpPr>
          <p:cNvPr id="10" name="Řádek – Co měříme"/>
          <p:cNvSpPr/>
          <p:nvPr/>
        </p:nvSpPr>
        <p:spPr>
          <a:xfrm>
            <a:off x="777240" y="342900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105156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Co měříme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3337560" y="342900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účast do 3, 6 a 12 měsíců od pozvánky; výkony zahrnují i doplňující snímky a ultrazvuk.</a:t>
            </a:r>
            <a:endParaRPr lang="en-US" sz="1100"/>
          </a:p>
        </p:txBody>
      </p:sp>
      <p:sp>
        <p:nvSpPr>
          <p:cNvPr id="13" name="Řádek – Region"/>
          <p:cNvSpPr/>
          <p:nvPr/>
        </p:nvSpPr>
        <p:spPr>
          <a:xfrm>
            <a:off x="777240" y="429768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 txBox="1"/>
          <p:nvPr/>
        </p:nvSpPr>
        <p:spPr>
          <a:xfrm>
            <a:off x="1051560" y="4297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Region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3337560" y="429768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územní pracoviště VZP, ne okres; okresní ukazatele lze napojit jen přibližně.</a:t>
            </a:r>
            <a:endParaRPr lang="en-US" sz="1100"/>
          </a:p>
        </p:txBody>
      </p:sp>
      <p:sp>
        <p:nvSpPr>
          <p:cNvPr id="16" name="Řádek – Co chybí"/>
          <p:cNvSpPr/>
          <p:nvPr/>
        </p:nvSpPr>
        <p:spPr>
          <a:xfrm>
            <a:off x="777240" y="5166360"/>
            <a:ext cx="106344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EDC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1051560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B7A"/>
                </a:solidFill>
              </a:rPr>
              <a:t>Co chybí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3337560" y="516636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4458"/>
                </a:solidFill>
              </a:rPr>
              <a:t>kategorie plátce, okres bydliště, registrující lékař, typ a znění dopisu, kanály, pozvánky po 7/2026.</a:t>
            </a:r>
            <a:endParaRPr lang="en-US" sz="1100"/>
          </a:p>
        </p:txBody>
      </p:sp>
      <p:sp>
        <p:nvSpPr>
          <p:cNvPr id="19" name="Zdroj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597"/>
                </a:solidFill>
              </a:rPr>
              <a:t>Zdroj: data VZP pro Rakathon 2026 a rozhraní dat; docs/RAKATHON_MODEL.md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mo graf VZP">
  <a:themeElements>
    <a:clrScheme name="Mamo graf VZP">
      <a:dk1>
        <a:srgbClr val="230F3C"/>
      </a:dk1>
      <a:lt1>
        <a:srgbClr val="FFFFFF"/>
      </a:lt1>
      <a:dk2>
        <a:srgbClr val="4A4458"/>
      </a:dk2>
      <a:lt2>
        <a:srgbClr val="F7F6FB"/>
      </a:lt2>
      <a:accent1>
        <a:srgbClr val="003B7A"/>
      </a:accent1>
      <a:accent2>
        <a:srgbClr val="3D7CC9"/>
      </a:accent2>
      <a:accent3>
        <a:srgbClr val="A9C6EA"/>
      </a:accent3>
      <a:accent4>
        <a:srgbClr val="D27869"/>
      </a:accent4>
      <a:accent5>
        <a:srgbClr val="7A78C3"/>
      </a:accent5>
      <a:accent6>
        <a:srgbClr val="7DA0D7"/>
      </a:accent6>
      <a:hlink>
        <a:srgbClr val="3D7CC9"/>
      </a:hlink>
      <a:folHlink>
        <a:srgbClr val="7A78C3"/>
      </a:folHlink>
    </a:clrScheme>
    <a:fontScheme name="Mamo graf VZP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57</Slides>
  <Notes>52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Mamo graf VZP</vt:lpstr>
      <vt:lpstr>PowerPoint Presentation</vt:lpstr>
      <vt:lpstr>Kdo za návrhem stojí</vt:lpstr>
      <vt:lpstr>Naše odpovědi na zadání VZP</vt:lpstr>
      <vt:lpstr>Architektura systému</vt:lpstr>
      <vt:lpstr>Aplikace VZP: přímý kanál a zpětná vazba</vt:lpstr>
      <vt:lpstr>Model pravděpodobnosti účasti: vysvětlitelný (EBM)</vt:lpstr>
      <vt:lpstr>Model upliftu: bayesovský, s modelem účasti jako priorem</vt:lpstr>
      <vt:lpstr>Postup zavedení</vt:lpstr>
      <vt:lpstr>Otázka a data</vt:lpstr>
      <vt:lpstr>Segmentační model: 11 segmentů jako rozhodovací strom</vt:lpstr>
      <vt:lpstr>Kde jsou ženy? (2024: 207 tisíc nepřišlo)</vt:lpstr>
      <vt:lpstr>Uvnitř segmentů: kde má smysl individuální cílení</vt:lpstr>
      <vt:lpstr>Hlavní tok: pět největších segmentů</vt:lpstr>
      <vt:lpstr>Hlavní zjištění (1/2)</vt:lpstr>
      <vt:lpstr>Hlavní zjištění (2/2)</vt:lpstr>
      <vt:lpstr>Návrhy experimentů (1/2)</vt:lpstr>
      <vt:lpstr>Návrhy experimentů (2/2)</vt:lpstr>
      <vt:lpstr>Návrhy experimentů v aplikaci VZP</vt:lpstr>
      <vt:lpstr>Starší ženy chodí po pozvánce méně, výskyt přitom roste</vt:lpstr>
      <vt:lpstr>Kdo nepřijde, předpovíme vysvětlitelným modelem</vt:lpstr>
      <vt:lpstr>S věkem mizí gynekologická prevence; praktik na mamograf neposílá</vt:lpstr>
      <vt:lpstr>Po každé další pozvánce přijde méně žen</vt:lpstr>
      <vt:lpstr>Většinu žen, které nepřišly, lze oslovit jinak než dopisem</vt:lpstr>
      <vt:lpstr>Šest skupin opatření a podklady, ze kterých vycházejí</vt:lpstr>
      <vt:lpstr>Šest skupin opatření podle náročnosti a dopadu</vt:lpstr>
      <vt:lpstr>Hlavní opatření pro zvolené segmenty</vt:lpstr>
      <vt:lpstr>Ukázka dopisů pro tři segmenty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Data VZP a jejich omezení</vt:lpstr>
      <vt:lpstr>Návrat po mamografii podle segmentu</vt:lpstr>
      <vt:lpstr>Otázky pro VZP a data, která by pilot potřeboval</vt:lpstr>
      <vt:lpstr>Většinu žen, které nepřišly, lze oslovit jinak než dopisem</vt:lpstr>
      <vt:lpstr>Šest skupin opatření podle náročnosti a dopadu</vt:lpstr>
      <vt:lpstr>Hlavní opatření pro zvolené segmenty</vt:lpstr>
      <vt:lpstr>Ukázka dopisů pro tři segmenty</vt:lpstr>
      <vt:lpstr>Ukázka navrhovaných úprav aplikace Moje VZP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Praktik vs. gynekolog</vt:lpstr>
      <vt:lpstr>Kolik karcinomů odhalíme včas navíc</vt:lpstr>
      <vt:lpstr>Doprava: okresy bez mamografu</vt:lpstr>
      <vt:lpstr>Kolik karcinomů přinese doprava</vt:lpstr>
      <vt:lpstr>Lékař se jen zapojí, oslovení běží jeho jménem automaticky</vt:lpstr>
      <vt:lpstr>Digitální kaskáda přivede 44–71 tisíc vyšetření navíc ročně</vt:lpstr>
      <vt:lpstr>Včasné oslovení ušetří na léčbě víc, než stojí screening</vt:lpstr>
      <vt:lpstr>Program ušetří VZP za pět let čistě 86–237 milionů Kč</vt:lpstr>
      <vt:lpstr>Kaskáda oslovení běží sama, zastaví ji žádanka nebo mamograf</vt:lpstr>
      <vt:lpstr>Kampaň s influencery jen jako test, rozpočet se uvolňuje po fázích</vt:lpstr>
      <vt:lpstr>Návrat po mamografii podle segmentu</vt:lpstr>
      <vt:lpstr>Otázky pro VZP a data, která by pilot potřeboval</vt:lpstr>
      <vt:lpstr>Citovaná literatura a dokumenty</vt:lpstr>
      <vt:lpstr>Data VZP a jejich omezení</vt:lpstr>
    </vt:vector>
  </TitlesOfParts>
  <Company>Weiner &amp;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Mámo, graf! Od pozvánky k mamografu</dc:title>
  <dc:subject>PptxGenJS Presentation</dc:subject>
  <dc:creator>Weiner &amp;amp; Partners</dc:creator>
  <cp:revision>30</cp:revision>
  <dcterms:created xsi:type="dcterms:W3CDTF">2026-10-17T00:00:54Z</dcterms:created>
  <dcterms:modified xsi:type="dcterms:W3CDTF">2026-10-17T10:51:04Z</dcterms:modified>
</cp:coreProperties>
</file>
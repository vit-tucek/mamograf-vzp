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 jsme udělali: analyzovali jsme 1,34 mil. pozvánek VZP z let 2020–2024 pro 508 tisíc žen a okresní data ČR. Model CatBoost předpoví účast s AUC 0,84 na roce 2024, jedenáct segmentů z jednoduchých pravidel 0,81 a jsou stabilní v čase. Příčiny: s věkem mizí gynekologická prevence, praktik na mamograf neposílá a každý další stejný dopis přináší méně.
Co dál: pilot s randomizací v segmentech B–E, předrezervovaný termín se SMS, lékař jako kanál, rezervace a dotazník bariér v Moje VZP, model upliftu a monitoring ekonomiky a zdravotních výsledků.
Co to přinese: předrezervovaný termín v segmentech B a C (66 tisíc žen, +10 až +19 p. b.) a lékař jako kanál v D a E (140 tisíc žen, +2 až +6 p. b.) dávají 9,4–21 tisíc mamografií navíc ročně; skupiny se nepřekrývají, takže se sčítají. Podle modelu posunu stadia (3,8 QALY na 1 000 mamografií ve věku 45–74, asi 1 odvrácené úmrtí na 1 950 mamografií, 990 Kč na mamografii včetně léčby) je to 36–80 QALY a 5–11 odvrácených úmrtí ročně, asi 0,26 mil. Kč za QALY proti prahu SÚKL 1,2 mil. Kč. Čistý peněžní přínos v hodnotě zdraví je 34–75 mil. Kč ročně (při reálném prahu 0,78 mil. Kč 19–42 mil.). Finanční model digitální kaskády počítá s +6 p. b. u žen bez prevence a dává čistou úsporu 86–237 mil. Kč za 2027–2031; to je horní scénář, který musí ověřit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ni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Mámo, graf! · Rakathon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Mámo, graf! · Rakathon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 jsme udělali, co dál a co to přinese VZP</a:t>
            </a:r>
            <a:endParaRPr lang="en-US" sz="3000" dirty="0"/>
          </a:p>
        </p:txBody>
      </p:sp>
      <p:sp>
        <p:nvSpPr>
          <p:cNvPr id="3" name="udelali"/>
          <p:cNvSpPr/>
          <p:nvPr/>
        </p:nvSpPr>
        <p:spPr>
          <a:xfrm>
            <a:off x="548640" y="1234440"/>
            <a:ext cx="3515258" cy="4434840"/>
          </a:xfrm>
          <a:prstGeom prst="roundRect">
            <a:avLst>
              <a:gd name="adj" fmla="val 2081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cislo_1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cislo_1_text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nadpis_1"/>
          <p:cNvSpPr txBox="1"/>
          <p:nvPr/>
        </p:nvSpPr>
        <p:spPr>
          <a:xfrm>
            <a:off x="1417320" y="1463040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 jsme udělali</a:t>
            </a:r>
            <a:endParaRPr lang="en-US" sz="1800" dirty="0"/>
          </a:p>
        </p:txBody>
      </p:sp>
      <p:sp>
        <p:nvSpPr>
          <p:cNvPr id="7" name="udelali_text"/>
          <p:cNvSpPr txBox="1"/>
          <p:nvPr/>
        </p:nvSpPr>
        <p:spPr>
          <a:xfrm>
            <a:off x="777240" y="2148840"/>
            <a:ext cx="305805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1,34 mil. pozvánek</a:t>
            </a:r>
            <a:r>
              <a:rPr lang="en-US" sz="1300" dirty="0">
                <a:solidFill>
                  <a:schemeClr val="bg1"/>
                </a:solidFill>
              </a:rPr>
              <a:t> VZP 2020–2024 (508 tis. žen) a okresní data ČR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Model účasti</a:t>
            </a:r>
            <a:r>
              <a:rPr lang="en-US" sz="1300" dirty="0">
                <a:solidFill>
                  <a:schemeClr val="bg1"/>
                </a:solidFill>
              </a:rPr>
              <a:t> (CatBoost, AUC 0,84 na roce 2024) a jeho vysvětlení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11 akčních segmentů</a:t>
            </a:r>
            <a:r>
              <a:rPr lang="en-US" sz="1300" dirty="0">
                <a:solidFill>
                  <a:schemeClr val="bg1"/>
                </a:solidFill>
              </a:rPr>
              <a:t> z jednoduchých pravidel, stabilních v čase (AUC 0,81)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Příčiny:</a:t>
            </a:r>
            <a:r>
              <a:rPr lang="en-US" sz="1300" dirty="0">
                <a:solidFill>
                  <a:schemeClr val="bg1"/>
                </a:solidFill>
              </a:rPr>
              <a:t> s věkem mizí gynekolog, praktik na mamograf neposílá, další dopis přináší málo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Intervence z literatury</a:t>
            </a:r>
            <a:r>
              <a:rPr lang="en-US" sz="1300" dirty="0">
                <a:solidFill>
                  <a:schemeClr val="bg1"/>
                </a:solidFill>
              </a:rPr>
              <a:t> a návrhy experimentů s výpočtem velikosti, včetně aplikace Moje VZP</a:t>
            </a:r>
            <a:endParaRPr lang="en-US" sz="1300" dirty="0"/>
          </a:p>
        </p:txBody>
      </p:sp>
      <p:sp>
        <p:nvSpPr>
          <p:cNvPr id="8" name="dal"/>
          <p:cNvSpPr/>
          <p:nvPr/>
        </p:nvSpPr>
        <p:spPr>
          <a:xfrm>
            <a:off x="4338218" y="1234440"/>
            <a:ext cx="3515258" cy="4434840"/>
          </a:xfrm>
          <a:prstGeom prst="roundRect">
            <a:avLst>
              <a:gd name="adj" fmla="val 2081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cislo_2"/>
          <p:cNvSpPr/>
          <p:nvPr/>
        </p:nvSpPr>
        <p:spPr>
          <a:xfrm>
            <a:off x="4566818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cislo_2_text"/>
          <p:cNvSpPr txBox="1"/>
          <p:nvPr/>
        </p:nvSpPr>
        <p:spPr>
          <a:xfrm>
            <a:off x="456681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nadpis_2"/>
          <p:cNvSpPr txBox="1"/>
          <p:nvPr/>
        </p:nvSpPr>
        <p:spPr>
          <a:xfrm>
            <a:off x="5206898" y="1463040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 můžeme dál</a:t>
            </a:r>
            <a:endParaRPr lang="en-US" sz="1800" dirty="0"/>
          </a:p>
        </p:txBody>
      </p:sp>
      <p:sp>
        <p:nvSpPr>
          <p:cNvPr id="12" name="dal_text"/>
          <p:cNvSpPr txBox="1"/>
          <p:nvPr/>
        </p:nvSpPr>
        <p:spPr>
          <a:xfrm>
            <a:off x="4566818" y="2148840"/>
            <a:ext cx="305805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Pilot s randomizací</a:t>
            </a:r>
            <a:r>
              <a:rPr lang="en-US" sz="1300" dirty="0">
                <a:solidFill>
                  <a:schemeClr val="bg1"/>
                </a:solidFill>
              </a:rPr>
              <a:t> v segmentech B–E v rámci řízeného vstupu inovací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Předrezervovaný termín + SMS</a:t>
            </a:r>
            <a:r>
              <a:rPr lang="en-US" sz="1300" dirty="0">
                <a:solidFill>
                  <a:schemeClr val="bg1"/>
                </a:solidFill>
              </a:rPr>
              <a:t> pro první pozvánky a vypadlé ženy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Lékař jako kanál:</a:t>
            </a:r>
            <a:r>
              <a:rPr lang="en-US" sz="1300" dirty="0">
                <a:solidFill>
                  <a:schemeClr val="bg1"/>
                </a:solidFill>
              </a:rPr>
              <a:t> seznamy žen bez mamografie pro gynekology a praktiky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Moje VZP:</a:t>
            </a:r>
            <a:r>
              <a:rPr lang="en-US" sz="1300" dirty="0">
                <a:solidFill>
                  <a:schemeClr val="bg1"/>
                </a:solidFill>
              </a:rPr>
              <a:t> rezervace jedním klepnutím, dotazník bariér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Model upliftu</a:t>
            </a:r>
            <a:r>
              <a:rPr lang="en-US" sz="1300" dirty="0">
                <a:solidFill>
                  <a:schemeClr val="bg1"/>
                </a:solidFill>
              </a:rPr>
              <a:t> a cílení podle zdravotní hodnoty, monitoring ekonomiky a QALY</a:t>
            </a:r>
            <a:endParaRPr lang="en-US" sz="1300" dirty="0"/>
          </a:p>
        </p:txBody>
      </p:sp>
      <p:sp>
        <p:nvSpPr>
          <p:cNvPr id="13" name="prinos"/>
          <p:cNvSpPr/>
          <p:nvPr/>
        </p:nvSpPr>
        <p:spPr>
          <a:xfrm>
            <a:off x="8127797" y="1234440"/>
            <a:ext cx="3515258" cy="4434840"/>
          </a:xfrm>
          <a:prstGeom prst="roundRect">
            <a:avLst>
              <a:gd name="adj" fmla="val 2081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4" name="cislo_3"/>
          <p:cNvSpPr/>
          <p:nvPr/>
        </p:nvSpPr>
        <p:spPr>
          <a:xfrm>
            <a:off x="8356397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cislo_3_text"/>
          <p:cNvSpPr txBox="1"/>
          <p:nvPr/>
        </p:nvSpPr>
        <p:spPr>
          <a:xfrm>
            <a:off x="8356397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nadpis_3"/>
          <p:cNvSpPr txBox="1"/>
          <p:nvPr/>
        </p:nvSpPr>
        <p:spPr>
          <a:xfrm>
            <a:off x="8996477" y="1463040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 to přinese VZP</a:t>
            </a:r>
            <a:endParaRPr lang="en-US" sz="1800" dirty="0"/>
          </a:p>
        </p:txBody>
      </p:sp>
      <p:sp>
        <p:nvSpPr>
          <p:cNvPr id="17" name="prinos_1"/>
          <p:cNvSpPr txBox="1"/>
          <p:nvPr/>
        </p:nvSpPr>
        <p:spPr>
          <a:xfrm>
            <a:off x="8356397" y="2103120"/>
            <a:ext cx="3058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9–21 tis.</a:t>
            </a:r>
            <a:endParaRPr lang="en-US" sz="2400" dirty="0"/>
          </a:p>
        </p:txBody>
      </p:sp>
      <p:sp>
        <p:nvSpPr>
          <p:cNvPr id="18" name="prinos_1_popis"/>
          <p:cNvSpPr txBox="1"/>
          <p:nvPr/>
        </p:nvSpPr>
        <p:spPr>
          <a:xfrm>
            <a:off x="8356397" y="2523744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mamografií navíc ročně z cílených opatření v B–E</a:t>
            </a:r>
            <a:endParaRPr lang="en-US" sz="1150" dirty="0"/>
          </a:p>
        </p:txBody>
      </p:sp>
      <p:sp>
        <p:nvSpPr>
          <p:cNvPr id="19" name="prinos_2"/>
          <p:cNvSpPr txBox="1"/>
          <p:nvPr/>
        </p:nvSpPr>
        <p:spPr>
          <a:xfrm>
            <a:off x="8356397" y="2944368"/>
            <a:ext cx="3058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36–80 QALY</a:t>
            </a:r>
            <a:endParaRPr lang="en-US" sz="2400" dirty="0"/>
          </a:p>
        </p:txBody>
      </p:sp>
      <p:sp>
        <p:nvSpPr>
          <p:cNvPr id="20" name="prinos_2_popis"/>
          <p:cNvSpPr txBox="1"/>
          <p:nvPr/>
        </p:nvSpPr>
        <p:spPr>
          <a:xfrm>
            <a:off x="8356397" y="33649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 5–11 odvrácených úmrtí ročně</a:t>
            </a:r>
            <a:endParaRPr lang="en-US" sz="1150" dirty="0"/>
          </a:p>
        </p:txBody>
      </p:sp>
      <p:sp>
        <p:nvSpPr>
          <p:cNvPr id="21" name="prinos_3"/>
          <p:cNvSpPr txBox="1"/>
          <p:nvPr/>
        </p:nvSpPr>
        <p:spPr>
          <a:xfrm>
            <a:off x="8356397" y="3785616"/>
            <a:ext cx="3058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 mil. Kč</a:t>
            </a:r>
            <a:endParaRPr lang="en-US" sz="2400" dirty="0"/>
          </a:p>
        </p:txBody>
      </p:sp>
      <p:sp>
        <p:nvSpPr>
          <p:cNvPr id="22" name="prinos_3_popis"/>
          <p:cNvSpPr txBox="1"/>
          <p:nvPr/>
        </p:nvSpPr>
        <p:spPr>
          <a:xfrm>
            <a:off x="8356397" y="42062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za QALY (práh SÚKL 1,2 mil.): vysoce nákladově efektivní</a:t>
            </a:r>
            <a:endParaRPr lang="en-US" sz="1150" dirty="0"/>
          </a:p>
        </p:txBody>
      </p:sp>
      <p:sp>
        <p:nvSpPr>
          <p:cNvPr id="23" name="prinos_4"/>
          <p:cNvSpPr txBox="1"/>
          <p:nvPr/>
        </p:nvSpPr>
        <p:spPr>
          <a:xfrm>
            <a:off x="8356397" y="4626864"/>
            <a:ext cx="3058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34–75 mil. Kč</a:t>
            </a:r>
            <a:endParaRPr lang="en-US" sz="2400" dirty="0"/>
          </a:p>
        </p:txBody>
      </p:sp>
      <p:sp>
        <p:nvSpPr>
          <p:cNvPr id="24" name="prinos_4_popis"/>
          <p:cNvSpPr txBox="1"/>
          <p:nvPr/>
        </p:nvSpPr>
        <p:spPr>
          <a:xfrm>
            <a:off x="8356397" y="504748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ročně čistý přínos v hodnotě zdraví; navíc 7 600 zbytečných dopisů méně</a:t>
            </a:r>
            <a:endParaRPr lang="en-US" sz="1150" dirty="0"/>
          </a:p>
        </p:txBody>
      </p:sp>
      <p:sp>
        <p:nvSpPr>
          <p:cNvPr id="25" name="vyzva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Nabízíme VZP pilot:</a:t>
            </a:r>
            <a:r>
              <a:rPr lang="en-US" sz="1600" dirty="0">
                <a:solidFill>
                  <a:schemeClr val="bg1"/>
                </a:solidFill>
              </a:rPr>
              <a:t> model, segmenty a návrh experimentu předáme i s kódem a dokumentací.</a:t>
            </a:r>
            <a:endParaRPr lang="en-US" sz="1600" dirty="0"/>
          </a:p>
        </p:txBody>
      </p:sp>
      <p:sp>
        <p:nvSpPr>
          <p:cNvPr id="26" name="zdroj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Odhady: účinky z literatury × segmenty 2024; QALY a náklady z modelu posunu stadia (45–74 let). Horní scénář finančního modelu digitální kaskády: 86–237 mil. Kč čistě za 2027–2031. Obojí ověří pilot.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mograf">
      <a:dk1>
        <a:srgbClr val="262626"/>
      </a:dk1>
      <a:lt1>
        <a:srgbClr val="FFFFFF"/>
      </a:lt1>
      <a:dk2>
        <a:srgbClr val="5B2A45"/>
      </a:dk2>
      <a:lt2>
        <a:srgbClr val="F7EEF2"/>
      </a:lt2>
      <a:accent1>
        <a:srgbClr val="5B2A45"/>
      </a:accent1>
      <a:accent2>
        <a:srgbClr val="2A9D8F"/>
      </a:accent2>
      <a:accent3>
        <a:srgbClr val="E9C9D3"/>
      </a:accent3>
      <a:accent4>
        <a:srgbClr val="3D4F5C"/>
      </a:accent4>
      <a:accent5>
        <a:srgbClr val="B5838D"/>
      </a:accent5>
      <a:accent6>
        <a:srgbClr val="8DBDB5"/>
      </a:accent6>
      <a:hlink>
        <a:srgbClr val="2A9D8F"/>
      </a:hlink>
      <a:folHlink>
        <a:srgbClr val="5B2A45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Mámo, graf!: co jsme udělali a co přineseme VZP</dc:title>
  <dc:subject>PptxGenJS Presentation</dc:subject>
  <dc:creator>PptxGenJS</dc:creator>
  <cp:lastModifiedBy>PptxGenJS</cp:lastModifiedBy>
  <cp:revision>1</cp:revision>
  <dcterms:created xsi:type="dcterms:W3CDTF">2026-10-17T12:12:22Z</dcterms:created>
  <dcterms:modified xsi:type="dcterms:W3CDTF">2026-10-17T12:12:22Z</dcterms:modified>
</cp:coreProperties>
</file>
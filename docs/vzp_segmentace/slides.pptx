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4e7fe594-8fe0-f1ae-919e-b54289a9b8ba}">
          <p14:sldIdLst>
            <p14:sldId id="256"/>
            <p14:sldId id="257"/>
          </p14:sldIdLst>
        </p14:section>
        <p14:section name="Segmentační model" id="{6db8f365-81d3-9988-b9d3-bb9b74bda135}">
          <p14:sldIdLst>
            <p14:sldId id="258"/>
            <p14:sldId id="259"/>
            <p14:sldId id="260"/>
          </p14:sldIdLst>
        </p14:section>
        <p14:section name="Kde jsou nepřišlé ženy" id="{a8009501-2031-0830-e8ef-f072987a75e5}">
          <p14:sldIdLst>
            <p14:sldId id="261"/>
            <p14:sldId id="262"/>
          </p14:sldIdLst>
        </p14:section>
        <p14:section name="Přechody mezi segmenty" id="{ef13d78f-4125-baf1-23ed-cbf2afaffa9d}">
          <p14:sldIdLst>
            <p14:sldId id="263"/>
            <p14:sldId id="264"/>
            <p14:sldId id="265"/>
          </p14:sldIdLst>
        </p14:section>
        <p14:section name="Zjištění" id="{bfb1eebc-fce7-2dce-c1ee-f3bbe321a7d4}">
          <p14:sldIdLst>
            <p14:sldId id="266"/>
            <p14:sldId id="267"/>
          </p14:sldIdLst>
        </p14:section>
        <p14:section name="Experimenty" id="{d7561783-dcad-52cc-513d-2f24a0c2aa8d}">
          <p14:sldIdLst>
            <p14:sldId id="268"/>
            <p14:sldId id="269"/>
            <p14:sldId id="270"/>
          </p14:sldIdLst>
        </p14:section>
        <p14:section name="Omezení" id="{7ce15ee8-d1e8-00e7-8881-9ad7274e179a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ni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Data VZP 2020–2024 · segmentace pozvaných žen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mavy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Data VZP 2020–2024 · segmentace pozvaných žen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Od pozvánky k mamografu: segmenty pozvaných žen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Data VZP 2020–2024 · 1 344 556 pozvánek · 508 527 žen</a:t>
            </a:r>
            <a:endParaRPr lang="en-US" sz="1800" dirty="0"/>
          </a:p>
          <a:p>
            <a:pPr algn="l"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chemeClr val="accent3"/>
                </a:solidFill>
              </a:rPr>
              <a:t>Segmentační model s 11 pravidly, jeho ověření na roce 2024, přechody mezi segmenty a návrhy experimentů.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Zdroj: notebooks/vzp_segmentation_final.ipynb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Otázka a data</a:t>
            </a:r>
            <a:endParaRPr lang="en-US" sz="3000" dirty="0"/>
          </a:p>
        </p:txBody>
      </p:sp>
      <p:sp>
        <p:nvSpPr>
          <p:cNvPr id="3" name="stat_0"/>
          <p:cNvSpPr txBox="1"/>
          <p:nvPr/>
        </p:nvSpPr>
        <p:spPr>
          <a:xfrm>
            <a:off x="548640" y="123444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1 344 556</a:t>
            </a:r>
            <a:endParaRPr lang="en-US" sz="4000" dirty="0"/>
          </a:p>
        </p:txBody>
      </p:sp>
      <p:sp>
        <p:nvSpPr>
          <p:cNvPr id="4" name="stat_0_popis"/>
          <p:cNvSpPr txBox="1"/>
          <p:nvPr/>
        </p:nvSpPr>
        <p:spPr>
          <a:xfrm>
            <a:off x="548640" y="196596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pozvánek 2020–2024</a:t>
            </a:r>
            <a:endParaRPr lang="en-US" sz="1300" dirty="0"/>
          </a:p>
        </p:txBody>
      </p:sp>
      <p:sp>
        <p:nvSpPr>
          <p:cNvPr id="5" name="stat_1"/>
          <p:cNvSpPr txBox="1"/>
          <p:nvPr/>
        </p:nvSpPr>
        <p:spPr>
          <a:xfrm>
            <a:off x="4246778" y="123444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508 527</a:t>
            </a:r>
            <a:endParaRPr lang="en-US" sz="4000" dirty="0"/>
          </a:p>
        </p:txBody>
      </p:sp>
      <p:sp>
        <p:nvSpPr>
          <p:cNvPr id="6" name="stat_1_popis"/>
          <p:cNvSpPr txBox="1"/>
          <p:nvPr/>
        </p:nvSpPr>
        <p:spPr>
          <a:xfrm>
            <a:off x="4246778" y="196596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žen nepřetržitě pojištěných</a:t>
            </a:r>
            <a:endParaRPr lang="en-US" sz="1300" dirty="0"/>
          </a:p>
        </p:txBody>
      </p:sp>
      <p:sp>
        <p:nvSpPr>
          <p:cNvPr id="7" name="stat_2"/>
          <p:cNvSpPr txBox="1"/>
          <p:nvPr/>
        </p:nvSpPr>
        <p:spPr>
          <a:xfrm>
            <a:off x="7944917" y="123444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256 466</a:t>
            </a:r>
            <a:endParaRPr lang="en-US" sz="4000" dirty="0"/>
          </a:p>
        </p:txBody>
      </p:sp>
      <p:sp>
        <p:nvSpPr>
          <p:cNvPr id="8" name="stat_2_popis"/>
          <p:cNvSpPr txBox="1"/>
          <p:nvPr/>
        </p:nvSpPr>
        <p:spPr>
          <a:xfrm>
            <a:off x="7944917" y="196596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žen v testovacím roce 2024</a:t>
            </a:r>
            <a:endParaRPr lang="en-US" sz="1300" dirty="0"/>
          </a:p>
        </p:txBody>
      </p:sp>
      <p:sp>
        <p:nvSpPr>
          <p:cNvPr id="9" name="karta_otazka"/>
          <p:cNvSpPr/>
          <p:nvPr/>
        </p:nvSpPr>
        <p:spPr>
          <a:xfrm>
            <a:off x="548640" y="269748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0" name="karta_otazka_text"/>
          <p:cNvSpPr txBox="1"/>
          <p:nvPr/>
        </p:nvSpPr>
        <p:spPr>
          <a:xfrm>
            <a:off x="731520" y="2834640"/>
            <a:ext cx="504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Otázka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Kdo po adresné pozvánce přijde na mamograf a kdo ne?</a:t>
            </a:r>
            <a:r>
              <a:rPr lang="en-US" sz="1400" dirty="0">
                <a:solidFill>
                  <a:schemeClr val="tx1"/>
                </a:solidFill>
              </a:rPr>
              <a:t> Kde jsou ženy, které nechodí, a jak je oslovit?</a:t>
            </a:r>
            <a:endParaRPr lang="en-US" sz="1600" dirty="0"/>
          </a:p>
        </p:txBody>
      </p:sp>
      <p:sp>
        <p:nvSpPr>
          <p:cNvPr id="11" name="karta_data"/>
          <p:cNvSpPr/>
          <p:nvPr/>
        </p:nvSpPr>
        <p:spPr>
          <a:xfrm>
            <a:off x="6233008" y="269748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2" name="karta_data_text"/>
          <p:cNvSpPr txBox="1"/>
          <p:nvPr/>
        </p:nvSpPr>
        <p:spPr>
          <a:xfrm>
            <a:off x="6415888" y="2834640"/>
            <a:ext cx="504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Pozvánky VZP 2020–2024 pro ženy nepřetržitě pojištěné 2015–2025. Účast = mamografie do 3, 6 a 12 měsíců po pozvánce.</a:t>
            </a:r>
            <a:endParaRPr lang="en-US" sz="1600" dirty="0"/>
          </a:p>
        </p:txBody>
      </p:sp>
      <p:sp>
        <p:nvSpPr>
          <p:cNvPr id="13" name="karta_model"/>
          <p:cNvSpPr/>
          <p:nvPr/>
        </p:nvSpPr>
        <p:spPr>
          <a:xfrm>
            <a:off x="548640" y="452628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4" name="karta_model_text"/>
          <p:cNvSpPr txBox="1"/>
          <p:nvPr/>
        </p:nvSpPr>
        <p:spPr>
          <a:xfrm>
            <a:off x="731520" y="4663440"/>
            <a:ext cx="504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Segmentační model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11 srozumitelných pravidel</a:t>
            </a:r>
            <a:r>
              <a:rPr lang="en-US" sz="1400" dirty="0">
                <a:solidFill>
                  <a:schemeClr val="tx1"/>
                </a:solidFill>
              </a:rPr>
              <a:t> nad sloupci VZP. Pozvánka patří do prvního segmentu, jehož pravidlo platí.</a:t>
            </a:r>
            <a:endParaRPr lang="en-US" sz="1600" dirty="0"/>
          </a:p>
        </p:txBody>
      </p:sp>
      <p:sp>
        <p:nvSpPr>
          <p:cNvPr id="15" name="karta_overeni"/>
          <p:cNvSpPr/>
          <p:nvPr/>
        </p:nvSpPr>
        <p:spPr>
          <a:xfrm>
            <a:off x="6233008" y="452628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6" name="karta_overeni_text"/>
          <p:cNvSpPr txBox="1"/>
          <p:nvPr/>
        </p:nvSpPr>
        <p:spPr>
          <a:xfrm>
            <a:off x="6415888" y="4663440"/>
            <a:ext cx="504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Poctivé ověření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„naučený“ na letech 2020–2023 (účast segmentu) a </a:t>
            </a:r>
            <a:r>
              <a:rPr lang="en-US" sz="1400" b="1" dirty="0">
                <a:solidFill>
                  <a:schemeClr val="tx1"/>
                </a:solidFill>
              </a:rPr>
              <a:t>otestovaný na roce 2024</a:t>
            </a:r>
            <a:r>
              <a:rPr lang="en-US" sz="1400" dirty="0">
                <a:solidFill>
                  <a:schemeClr val="tx1"/>
                </a:solidFill>
              </a:rPr>
              <a:t> (256 466 žen).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Segmentační model: 11 segmentů jako rozhodovací strom</a:t>
            </a:r>
            <a:endParaRPr lang="en-US" sz="3000" dirty="0"/>
          </a:p>
        </p:txBody>
      </p:sp>
      <p:pic>
        <p:nvPicPr>
          <p:cNvPr id="3" name="strom_segmentu.png" descr="C:\Users\vittu\src\mamograf-vzp\docs\vzp_segmentace\strom_segmen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637273" cy="5120640"/>
          </a:xfrm>
          <a:prstGeom prst="rect">
            <a:avLst/>
          </a:prstGeom>
        </p:spPr>
      </p:pic>
      <p:sp>
        <p:nvSpPr>
          <p:cNvPr id="4" name="karta_rozmery"/>
          <p:cNvSpPr/>
          <p:nvPr/>
        </p:nvSpPr>
        <p:spPr>
          <a:xfrm>
            <a:off x="6551673" y="1234440"/>
            <a:ext cx="5091382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karta_rozmery_text"/>
          <p:cNvSpPr txBox="1"/>
          <p:nvPr/>
        </p:nvSpPr>
        <p:spPr>
          <a:xfrm>
            <a:off x="6734553" y="1371600"/>
            <a:ext cx="47256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Tři rozměry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Historie screeningu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b="1" dirty="0">
                <a:solidFill>
                  <a:schemeClr val="tx1"/>
                </a:solidFill>
              </a:rPr>
              <a:t>kontakt se zdravotnictvím a prevencí</a:t>
            </a:r>
            <a:r>
              <a:rPr lang="en-US" sz="1400" dirty="0">
                <a:solidFill>
                  <a:schemeClr val="tx1"/>
                </a:solidFill>
              </a:rPr>
              <a:t> a </a:t>
            </a:r>
            <a:r>
              <a:rPr lang="en-US" sz="1400" b="1" dirty="0">
                <a:solidFill>
                  <a:schemeClr val="tx1"/>
                </a:solidFill>
              </a:rPr>
              <a:t>počet nevyslyšených pozvánek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stat_25x"/>
          <p:cNvSpPr txBox="1"/>
          <p:nvPr/>
        </p:nvSpPr>
        <p:spPr>
          <a:xfrm>
            <a:off x="6551673" y="3337560"/>
            <a:ext cx="50913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25×</a:t>
            </a:r>
            <a:endParaRPr lang="en-US" sz="6000" dirty="0"/>
          </a:p>
        </p:txBody>
      </p:sp>
      <p:sp>
        <p:nvSpPr>
          <p:cNvPr id="7" name="stat_25x_popis"/>
          <p:cNvSpPr txBox="1"/>
          <p:nvPr/>
        </p:nvSpPr>
        <p:spPr>
          <a:xfrm>
            <a:off x="6551673" y="4343400"/>
            <a:ext cx="50913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Tolikrát se liší účast mezi listy stromu (2–60 %).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Model z let 2020–2023 platí i v roce 2024</a:t>
            </a:r>
            <a:endParaRPr lang="en-US" sz="3000" dirty="0"/>
          </a:p>
        </p:txBody>
      </p:sp>
      <p:pic>
        <p:nvPicPr>
          <p:cNvPr id="3" name="segmenty_predikce_2024.png" descr="C:\Users\vittu\src\mamograf-vzp\docs\vzp_segmentace\segmenty_predikce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8975790" cy="3429000"/>
          </a:xfrm>
          <a:prstGeom prst="rect">
            <a:avLst/>
          </a:prstGeom>
        </p:spPr>
      </p:pic>
      <p:graphicFrame>
        <p:nvGraphicFramePr>
          <p:cNvPr id="5" name="tabulka_auro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51206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2024, do 12 měsíců</a:t>
                      </a:r>
                      <a:endParaRPr lang="en-US" sz="13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AUROC</a:t>
                      </a:r>
                      <a:endParaRPr lang="en-US" sz="13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log-loss</a:t>
                      </a:r>
                      <a:endParaRPr lang="en-US" sz="13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 segmentů (účast 2020–2023)</a:t>
                      </a:r>
                      <a:endParaRPr lang="en-US" sz="13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0,807</a:t>
                      </a:r>
                      <a:endParaRPr lang="en-US" sz="13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0,387</a:t>
                      </a:r>
                      <a:endParaRPr lang="en-US" sz="13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plný model hazardu (19 sloupců)</a:t>
                      </a:r>
                      <a:endParaRPr lang="en-US" sz="13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0,837</a:t>
                      </a:r>
                      <a:endParaRPr lang="en-US" sz="13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0,362</a:t>
                      </a:r>
                      <a:endParaRPr lang="en-US" sz="13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komentar"/>
          <p:cNvSpPr txBox="1"/>
          <p:nvPr/>
        </p:nvSpPr>
        <p:spPr>
          <a:xfrm>
            <a:off x="6035040" y="4892040"/>
            <a:ext cx="56080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Segmenty nesou </a:t>
            </a:r>
            <a:r>
              <a:rPr lang="en-US" sz="1500" b="1" dirty="0">
                <a:solidFill>
                  <a:schemeClr val="tx1"/>
                </a:solidFill>
              </a:rPr>
              <a:t>asi 90 % rozlišovací síly</a:t>
            </a:r>
            <a:r>
              <a:rPr lang="en-US" sz="1500" dirty="0">
                <a:solidFill>
                  <a:schemeClr val="tx1"/>
                </a:solidFill>
              </a:rPr>
              <a:t> plného modelu.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 8 z 11 segmentů sedí předpověď do ±1,3 p. b. Účast roste u 1. pozvánky s málo kontakty (+5,1 p. b.) a u vypadlých 3–4 roky (+4,6 p. b.).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Výkon segmentačního modelu podrobněji</a:t>
            </a:r>
            <a:endParaRPr lang="en-US" sz="3000" dirty="0"/>
          </a:p>
        </p:txBody>
      </p:sp>
      <p:pic>
        <p:nvPicPr>
          <p:cNvPr id="3" name="segmenty_vykon.png" descr="C:\Users\vittu\src\mamograf-vzp\docs\vzp_segmentace\segmenty_vyk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990120" cy="5120640"/>
          </a:xfrm>
          <a:prstGeom prst="rect">
            <a:avLst/>
          </a:prstGeom>
        </p:spPr>
      </p:pic>
      <p:graphicFrame>
        <p:nvGraphicFramePr>
          <p:cNvPr id="6" name="tabulka_vyk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800" y="1234440"/>
          <a:ext cx="4784255" cy="914400"/>
        </p:xfrm>
        <a:graphic>
          <a:graphicData uri="http://schemas.openxmlformats.org/drawingml/2006/table">
            <a:tbl>
              <a:tblPr/>
              <a:tblGrid>
                <a:gridCol w="2406815"/>
                <a:gridCol w="128016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2024, do 12 měsíců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11 segmentů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 hazardu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AUROC (95% interval)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0,807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(±0,002)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0,837 (±0,002)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AUPRC (bez modelu 0,192)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0,469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0,578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zlepšení Brier score proti „bez modelu“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22 %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28 %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kalibrační sklon (ideál 1)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0,99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0,98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kalibrace v celku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−1,4 p. b.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−0,6 p. b.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přišlé v horních 20 % (lift)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53 % (2,6×)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58 % (2,9×)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nepřišlé mezi 30 % s nejnižší předpovědí (bez modelu 81 %)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96 %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97 %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komentar_vykon"/>
          <p:cNvSpPr txBox="1"/>
          <p:nvPr/>
        </p:nvSpPr>
        <p:spPr>
          <a:xfrm>
            <a:off x="6858800" y="4069080"/>
            <a:ext cx="47842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Segmenty </a:t>
            </a:r>
            <a:r>
              <a:rPr lang="en-US" sz="1400" b="1" dirty="0">
                <a:solidFill>
                  <a:schemeClr val="tx1"/>
                </a:solidFill>
              </a:rPr>
              <a:t>podceňují účast o 1,4 p. b.</a:t>
            </a:r>
            <a:r>
              <a:rPr lang="en-US" sz="1400" dirty="0">
                <a:solidFill>
                  <a:schemeClr val="tx1"/>
                </a:solidFill>
              </a:rPr>
              <a:t>, protože účast mezi lety roste; rozpětí předpovědí sedí (sklon 0,99).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 </a:t>
            </a:r>
            <a:r>
              <a:rPr lang="en-US" sz="1400" b="1" dirty="0">
                <a:solidFill>
                  <a:schemeClr val="tx1"/>
                </a:solidFill>
              </a:rPr>
              <a:t>kampaň na nepřišlé segmenty stačí</a:t>
            </a:r>
            <a:r>
              <a:rPr lang="en-US" sz="1400" dirty="0">
                <a:solidFill>
                  <a:schemeClr val="tx1"/>
                </a:solidFill>
              </a:rPr>
              <a:t>: model hazardu je lepší hlavně u žen, které přijdou samy.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Kde jsou ženy, které nepřišly (2024: 207 tisíc)</a:t>
            </a:r>
            <a:endParaRPr lang="en-US" sz="3000" dirty="0"/>
          </a:p>
        </p:txBody>
      </p:sp>
      <p:pic>
        <p:nvPicPr>
          <p:cNvPr id="3" name="segmenty_mapa.png" descr="C:\Users\vittu\src\mamograf-vzp\docs\vzp_segmentace\segmenty_m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675120" cy="4121914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7589520" y="1234440"/>
            <a:ext cx="4053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56 %</a:t>
            </a:r>
            <a:r>
              <a:rPr lang="en-US" sz="1500" dirty="0">
                <a:solidFill>
                  <a:schemeClr val="tx1"/>
                </a:solidFill>
              </a:rPr>
              <a:t> nepřišlých je ve čtyřech segmentech s účastí 3–10 %. Největší je „jiná prevence, opakovaně nereaguje“: 56,8 tis. žen.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59 %</a:t>
            </a:r>
            <a:r>
              <a:rPr lang="en-US" sz="1500" dirty="0">
                <a:solidFill>
                  <a:schemeClr val="tx1"/>
                </a:solidFill>
              </a:rPr>
              <a:t> nepřišlých chodí ke gynekologovi nebo na jinou prevenci, takže je lze oslovit přes lékaře.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Nejslibnější střed: </a:t>
            </a:r>
            <a:r>
              <a:rPr lang="en-US" sz="1500" b="1" dirty="0">
                <a:solidFill>
                  <a:schemeClr val="tx1"/>
                </a:solidFill>
              </a:rPr>
              <a:t>gynekolog, zvaná málokrát</a:t>
            </a:r>
            <a:r>
              <a:rPr lang="en-US" sz="1500" dirty="0">
                <a:solidFill>
                  <a:schemeClr val="tx1"/>
                </a:solidFill>
              </a:rPr>
              <a:t> (22,7 tis. nepřišlých, účast 27 %) a </a:t>
            </a:r>
            <a:r>
              <a:rPr lang="en-US" sz="1500" b="1" dirty="0">
                <a:solidFill>
                  <a:schemeClr val="tx1"/>
                </a:solidFill>
              </a:rPr>
              <a:t>jiná prevence, zvaná málokrát</a:t>
            </a:r>
            <a:r>
              <a:rPr lang="en-US" sz="1500" dirty="0">
                <a:solidFill>
                  <a:schemeClr val="tx1"/>
                </a:solidFill>
              </a:rPr>
              <a:t> (25,7 tis., 13 %).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Uvnitř segmentů: kde má smysl individuální cílení</a:t>
            </a:r>
            <a:endParaRPr lang="en-US" sz="3000" dirty="0"/>
          </a:p>
        </p:txBody>
      </p:sp>
      <p:pic>
        <p:nvPicPr>
          <p:cNvPr id="3" name="segmenty_rozptyl.png" descr="C:\Users\vittu\src\mamograf-vzp\docs\vzp_segmentace\segmenty_rozpty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9114717" cy="3566160"/>
          </a:xfrm>
          <a:prstGeom prst="rect">
            <a:avLst/>
          </a:prstGeom>
        </p:spPr>
      </p:pic>
      <p:sp>
        <p:nvSpPr>
          <p:cNvPr id="4" name="karta_siroky"/>
          <p:cNvSpPr/>
          <p:nvPr/>
        </p:nvSpPr>
        <p:spPr>
          <a:xfrm>
            <a:off x="548640" y="502920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5" name="karta_siroky_text"/>
          <p:cNvSpPr txBox="1"/>
          <p:nvPr/>
        </p:nvSpPr>
        <p:spPr>
          <a:xfrm>
            <a:off x="731520" y="5166360"/>
            <a:ext cx="504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Široký rozptyl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První pozvánky, vypadlé a ženy u gynekologa. Tam má smysl </a:t>
            </a:r>
            <a:r>
              <a:rPr lang="en-US" sz="1400" b="1" dirty="0">
                <a:solidFill>
                  <a:schemeClr val="tx1"/>
                </a:solidFill>
              </a:rPr>
              <a:t>cílit podle modelu</a:t>
            </a:r>
            <a:r>
              <a:rPr lang="en-US" sz="1400" dirty="0">
                <a:solidFill>
                  <a:schemeClr val="tx1"/>
                </a:solidFill>
              </a:rPr>
              <a:t> (AUROC uvnitř 0,63–0,79).</a:t>
            </a:r>
            <a:endParaRPr lang="en-US" sz="1600" dirty="0"/>
          </a:p>
        </p:txBody>
      </p:sp>
      <p:sp>
        <p:nvSpPr>
          <p:cNvPr id="6" name="karta_uzky"/>
          <p:cNvSpPr/>
          <p:nvPr/>
        </p:nvSpPr>
        <p:spPr>
          <a:xfrm>
            <a:off x="6233008" y="502920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7" name="karta_uzky_text"/>
          <p:cNvSpPr txBox="1"/>
          <p:nvPr/>
        </p:nvSpPr>
        <p:spPr>
          <a:xfrm>
            <a:off x="6415888" y="5166360"/>
            <a:ext cx="504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Úzký a nízký rozptyl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Nereagující, odpojené a ženy bez prevence. </a:t>
            </a:r>
            <a:r>
              <a:rPr lang="en-US" sz="1400" b="1" dirty="0">
                <a:solidFill>
                  <a:schemeClr val="tx1"/>
                </a:solidFill>
              </a:rPr>
              <a:t>90 % z nich má predikci pod 15 %</a:t>
            </a:r>
            <a:r>
              <a:rPr lang="en-US" sz="1400" dirty="0">
                <a:solidFill>
                  <a:schemeClr val="tx1"/>
                </a:solidFill>
              </a:rPr>
              <a:t>, podskupina, která by chodila, v nich není.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Přechodová matice: co následuje po pozvánce</a:t>
            </a:r>
            <a:endParaRPr lang="en-US" sz="3000" dirty="0"/>
          </a:p>
        </p:txBody>
      </p:sp>
      <p:pic>
        <p:nvPicPr>
          <p:cNvPr id="3" name="prechodova_matice.png" descr="C:\Users\vittu\src\mamograf-vzp\docs\vzp_segmentace\prechodova_ma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8778240" cy="5049510"/>
          </a:xfrm>
          <a:prstGeom prst="rect">
            <a:avLst/>
          </a:prstGeom>
        </p:spPr>
      </p:pic>
      <p:sp>
        <p:nvSpPr>
          <p:cNvPr id="4" name="karta_jak_cist"/>
          <p:cNvSpPr/>
          <p:nvPr/>
        </p:nvSpPr>
        <p:spPr>
          <a:xfrm>
            <a:off x="9646920" y="1234440"/>
            <a:ext cx="1996135" cy="2743200"/>
          </a:xfrm>
          <a:prstGeom prst="roundRect">
            <a:avLst>
              <a:gd name="adj" fmla="val 3665"/>
            </a:avLst>
          </a:prstGeom>
          <a:solidFill>
            <a:schemeClr val="bg2"/>
          </a:solidFill>
          <a:ln/>
        </p:spPr>
      </p:sp>
      <p:sp>
        <p:nvSpPr>
          <p:cNvPr id="5" name="karta_jak_cist_text"/>
          <p:cNvSpPr txBox="1"/>
          <p:nvPr/>
        </p:nvSpPr>
        <p:spPr>
          <a:xfrm>
            <a:off x="9829800" y="1371600"/>
            <a:ext cx="163037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Jak číst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Pozvánky 2020–2023. </a:t>
            </a:r>
            <a:r>
              <a:rPr lang="en-US" sz="1400" b="1" dirty="0">
                <a:solidFill>
                  <a:schemeClr val="tx1"/>
                </a:solidFill>
              </a:rPr>
              <a:t>Řádek</a:t>
            </a:r>
            <a:r>
              <a:rPr lang="en-US" sz="1400" dirty="0">
                <a:solidFill>
                  <a:schemeClr val="tx1"/>
                </a:solidFill>
              </a:rPr>
              <a:t> = segment, </a:t>
            </a:r>
            <a:r>
              <a:rPr lang="en-US" sz="1400" b="1" dirty="0">
                <a:solidFill>
                  <a:schemeClr val="tx1"/>
                </a:solidFill>
              </a:rPr>
              <a:t>sloupce</a:t>
            </a:r>
            <a:r>
              <a:rPr lang="en-US" sz="1400" dirty="0">
                <a:solidFill>
                  <a:schemeClr val="tx1"/>
                </a:solidFill>
              </a:rPr>
              <a:t> = přišla / segment další pozvánky / bez další pozvánky.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Přechody jako graf</a:t>
            </a:r>
            <a:endParaRPr lang="en-US" sz="3000" dirty="0"/>
          </a:p>
        </p:txBody>
      </p:sp>
      <p:pic>
        <p:nvPicPr>
          <p:cNvPr id="3" name="graf_prechodu.png" descr="C:\Users\vittu\src\mamograf-vzp\docs\vzp_segmentace\graf_prechod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680960" cy="5158230"/>
          </a:xfrm>
          <a:prstGeom prst="rect">
            <a:avLst/>
          </a:prstGeom>
        </p:spPr>
      </p:pic>
      <p:sp>
        <p:nvSpPr>
          <p:cNvPr id="4" name="karta_horni"/>
          <p:cNvSpPr/>
          <p:nvPr/>
        </p:nvSpPr>
        <p:spPr>
          <a:xfrm>
            <a:off x="8549640" y="1234440"/>
            <a:ext cx="3093415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karta_horni_text"/>
          <p:cNvSpPr txBox="1"/>
          <p:nvPr/>
        </p:nvSpPr>
        <p:spPr>
          <a:xfrm>
            <a:off x="8732520" y="1371600"/>
            <a:ext cx="2727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Horní patro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1. pozvánka, vypadlé: </a:t>
            </a:r>
            <a:r>
              <a:rPr lang="en-US" sz="1400" b="1" dirty="0">
                <a:solidFill>
                  <a:schemeClr val="tx1"/>
                </a:solidFill>
              </a:rPr>
              <a:t>přijde 25–57 %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karta_stredni"/>
          <p:cNvSpPr/>
          <p:nvPr/>
        </p:nvSpPr>
        <p:spPr>
          <a:xfrm>
            <a:off x="8549640" y="3017520"/>
            <a:ext cx="3093415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karta_stredni_text"/>
          <p:cNvSpPr txBox="1"/>
          <p:nvPr/>
        </p:nvSpPr>
        <p:spPr>
          <a:xfrm>
            <a:off x="8732520" y="3154680"/>
            <a:ext cx="2727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Střední patro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„Zvaná málokrát“: polovina zůstává, </a:t>
            </a:r>
            <a:r>
              <a:rPr lang="en-US" sz="1400" b="1" dirty="0">
                <a:solidFill>
                  <a:schemeClr val="tx1"/>
                </a:solidFill>
              </a:rPr>
              <a:t>12–26 % přijde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karta_dolni"/>
          <p:cNvSpPr/>
          <p:nvPr/>
        </p:nvSpPr>
        <p:spPr>
          <a:xfrm>
            <a:off x="8549640" y="4800600"/>
            <a:ext cx="3093415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9" name="karta_dolni_text"/>
          <p:cNvSpPr txBox="1"/>
          <p:nvPr/>
        </p:nvSpPr>
        <p:spPr>
          <a:xfrm>
            <a:off x="8732520" y="4937760"/>
            <a:ext cx="2727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Dolní patro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Nereagující, odpojené, bez prevence: uzavřený okruh, zůstává 49–74 %, </a:t>
            </a:r>
            <a:r>
              <a:rPr lang="en-US" sz="1400" b="1" dirty="0">
                <a:solidFill>
                  <a:schemeClr val="tx1"/>
                </a:solidFill>
              </a:rPr>
              <a:t>přijde 3–9 %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Hlavní tok: pět největších segmentů</a:t>
            </a:r>
            <a:endParaRPr lang="en-US" sz="3000" dirty="0"/>
          </a:p>
        </p:txBody>
      </p:sp>
      <p:pic>
        <p:nvPicPr>
          <p:cNvPr id="3" name="graf_prechodu_top5.png" descr="C:\Users\vittu\src\mamograf-vzp\docs\vzp_segmentace\graf_prechodu_to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677642" cy="5166360"/>
          </a:xfrm>
          <a:prstGeom prst="rect">
            <a:avLst/>
          </a:prstGeom>
        </p:spPr>
      </p:pic>
      <p:sp>
        <p:nvSpPr>
          <p:cNvPr id="4" name="karta_tok"/>
          <p:cNvSpPr/>
          <p:nvPr/>
        </p:nvSpPr>
        <p:spPr>
          <a:xfrm>
            <a:off x="8546322" y="1234440"/>
            <a:ext cx="3096733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karta_tok_text"/>
          <p:cNvSpPr txBox="1"/>
          <p:nvPr/>
        </p:nvSpPr>
        <p:spPr>
          <a:xfrm>
            <a:off x="8729202" y="1417320"/>
            <a:ext cx="273097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pozvánka</a:t>
            </a:r>
            <a:r>
              <a:rPr lang="en-US" sz="1600" dirty="0">
                <a:solidFill>
                  <a:schemeClr val="tx1"/>
                </a:solidFill>
              </a:rPr>
              <a:t> (57 % přijde) → </a:t>
            </a:r>
            <a:r>
              <a:rPr lang="en-US" sz="1600" b="1" dirty="0">
                <a:solidFill>
                  <a:schemeClr val="tx1"/>
                </a:solidFill>
              </a:rPr>
              <a:t>gynekolog / jiná prevence, zvaná málokrát</a:t>
            </a:r>
            <a:r>
              <a:rPr lang="en-US" sz="1600" dirty="0">
                <a:solidFill>
                  <a:schemeClr val="tx1"/>
                </a:solidFill>
              </a:rPr>
              <a:t> (26 % / 12 %) → </a:t>
            </a:r>
            <a:r>
              <a:rPr lang="en-US" sz="1600" b="1" dirty="0">
                <a:solidFill>
                  <a:schemeClr val="tx1"/>
                </a:solidFill>
              </a:rPr>
              <a:t>jiná prevence, nereaguje</a:t>
            </a:r>
            <a:r>
              <a:rPr lang="en-US" sz="1600" dirty="0">
                <a:solidFill>
                  <a:schemeClr val="tx1"/>
                </a:solidFill>
              </a:rPr>
              <a:t> (4 %, 74 % zůstává).</a:t>
            </a:r>
            <a:endParaRPr lang="en-US" sz="1600" dirty="0"/>
          </a:p>
        </p:txBody>
      </p:sp>
      <p:sp>
        <p:nvSpPr>
          <p:cNvPr id="6" name="pointa"/>
          <p:cNvSpPr txBox="1"/>
          <p:nvPr/>
        </p:nvSpPr>
        <p:spPr>
          <a:xfrm>
            <a:off x="8546322" y="3886200"/>
            <a:ext cx="309673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Zpětná hrana z „nereaguje“ chybí: co se nezíská brzy, už se skoro nezíská.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Hlavní zjištění (1/2)</a:t>
            </a:r>
            <a:endParaRPr lang="en-US" sz="3000" dirty="0"/>
          </a:p>
        </p:txBody>
      </p:sp>
      <p:sp>
        <p:nvSpPr>
          <p:cNvPr id="3" name="zjisteni_1"/>
          <p:cNvSpPr/>
          <p:nvPr/>
        </p:nvSpPr>
        <p:spPr>
          <a:xfrm>
            <a:off x="548640" y="123444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4" name="cislo_1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zjisteni_1_text"/>
          <p:cNvSpPr txBox="1"/>
          <p:nvPr/>
        </p:nvSpPr>
        <p:spPr>
          <a:xfrm>
            <a:off x="1554480" y="141732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11 pravidel stačí.</a:t>
            </a:r>
            <a:r>
              <a:rPr lang="en-US" sz="1800" dirty="0">
                <a:solidFill>
                  <a:schemeClr val="tx1"/>
                </a:solidFill>
              </a:rPr>
              <a:t> AUROC 0,807 na roce 2024 proti 0,837 plného modelu. Segmenty jsou stabilní v čase.</a:t>
            </a:r>
            <a:endParaRPr lang="en-US" sz="1800" dirty="0"/>
          </a:p>
        </p:txBody>
      </p:sp>
      <p:sp>
        <p:nvSpPr>
          <p:cNvPr id="7" name="zjisteni_2"/>
          <p:cNvSpPr/>
          <p:nvPr/>
        </p:nvSpPr>
        <p:spPr>
          <a:xfrm>
            <a:off x="6233008" y="123444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8" name="cislo_2"/>
          <p:cNvSpPr/>
          <p:nvPr/>
        </p:nvSpPr>
        <p:spPr>
          <a:xfrm>
            <a:off x="6461608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6160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zjisteni_2_text"/>
          <p:cNvSpPr txBox="1"/>
          <p:nvPr/>
        </p:nvSpPr>
        <p:spPr>
          <a:xfrm>
            <a:off x="7238848" y="141732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Účast se liší 25×:</a:t>
            </a:r>
            <a:r>
              <a:rPr lang="en-US" sz="1800" dirty="0">
                <a:solidFill>
                  <a:schemeClr val="tx1"/>
                </a:solidFill>
              </a:rPr>
              <a:t> 60 % u první pozvánky v kontaktu se zdravotnictvím, 2–5 % u zkřížených dopisů, odpojených a opakovaně nereagujících.</a:t>
            </a:r>
            <a:endParaRPr lang="en-US" sz="1800" dirty="0"/>
          </a:p>
        </p:txBody>
      </p:sp>
      <p:sp>
        <p:nvSpPr>
          <p:cNvPr id="11" name="zjisteni_3"/>
          <p:cNvSpPr/>
          <p:nvPr/>
        </p:nvSpPr>
        <p:spPr>
          <a:xfrm>
            <a:off x="548640" y="384048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2" name="cislo_3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zjisteni_3_text"/>
          <p:cNvSpPr txBox="1"/>
          <p:nvPr/>
        </p:nvSpPr>
        <p:spPr>
          <a:xfrm>
            <a:off x="1554480" y="402336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59 % nepřišlých chodí ke gynekologovi nebo na jinou prevenci.</a:t>
            </a:r>
            <a:r>
              <a:rPr lang="en-US" sz="1800" dirty="0">
                <a:solidFill>
                  <a:schemeClr val="tx1"/>
                </a:solidFill>
              </a:rPr>
              <a:t> Jsou dosažitelné jinou cestou než dopisem.</a:t>
            </a:r>
            <a:endParaRPr lang="en-US" sz="1800" dirty="0"/>
          </a:p>
        </p:txBody>
      </p:sp>
      <p:sp>
        <p:nvSpPr>
          <p:cNvPr id="15" name="zjisteni_4"/>
          <p:cNvSpPr/>
          <p:nvPr/>
        </p:nvSpPr>
        <p:spPr>
          <a:xfrm>
            <a:off x="6233008" y="384048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6" name="cislo_4"/>
          <p:cNvSpPr/>
          <p:nvPr/>
        </p:nvSpPr>
        <p:spPr>
          <a:xfrm>
            <a:off x="6461608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6160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zjisteni_4_text"/>
          <p:cNvSpPr txBox="1"/>
          <p:nvPr/>
        </p:nvSpPr>
        <p:spPr>
          <a:xfrm>
            <a:off x="7238848" y="402336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Zkřížené dopisy:</a:t>
            </a:r>
            <a:r>
              <a:rPr lang="en-US" sz="1800" dirty="0">
                <a:solidFill>
                  <a:schemeClr val="tx1"/>
                </a:solidFill>
              </a:rPr>
              <a:t> 7 600 dopisů ročně (3 %) jde ženám, které screening měly 0–1 měsíc předem.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Hlavní zjištění (2/2)</a:t>
            </a:r>
            <a:endParaRPr lang="en-US" sz="3000" dirty="0"/>
          </a:p>
        </p:txBody>
      </p:sp>
      <p:sp>
        <p:nvSpPr>
          <p:cNvPr id="3" name="zjisteni_5"/>
          <p:cNvSpPr/>
          <p:nvPr/>
        </p:nvSpPr>
        <p:spPr>
          <a:xfrm>
            <a:off x="548640" y="123444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4" name="cislo_5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zjisteni_5_text"/>
          <p:cNvSpPr txBox="1"/>
          <p:nvPr/>
        </p:nvSpPr>
        <p:spPr>
          <a:xfrm>
            <a:off x="1554480" y="141732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Segmenty bez screeningu jsou „lepkavé“.</a:t>
            </a:r>
            <a:r>
              <a:rPr lang="en-US" sz="1800" dirty="0">
                <a:solidFill>
                  <a:schemeClr val="tx1"/>
                </a:solidFill>
              </a:rPr>
              <a:t> Ve stejném segmentu zůstává 56–83 % žen. Každý rok sestoupí 9–15 % „zvaných málokrát“ do „opakovaně nereaguje“.</a:t>
            </a:r>
            <a:endParaRPr lang="en-US" sz="1800" dirty="0"/>
          </a:p>
        </p:txBody>
      </p:sp>
      <p:sp>
        <p:nvSpPr>
          <p:cNvPr id="7" name="zjisteni_6"/>
          <p:cNvSpPr/>
          <p:nvPr/>
        </p:nvSpPr>
        <p:spPr>
          <a:xfrm>
            <a:off x="6233008" y="123444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8" name="cislo_6"/>
          <p:cNvSpPr/>
          <p:nvPr/>
        </p:nvSpPr>
        <p:spPr>
          <a:xfrm>
            <a:off x="6461608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6160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0" name="zjisteni_6_text"/>
          <p:cNvSpPr txBox="1"/>
          <p:nvPr/>
        </p:nvSpPr>
        <p:spPr>
          <a:xfrm>
            <a:off x="7238848" y="141732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První pozvánka je rozcestí.</a:t>
            </a:r>
            <a:r>
              <a:rPr lang="en-US" sz="1800" dirty="0">
                <a:solidFill>
                  <a:schemeClr val="tx1"/>
                </a:solidFill>
              </a:rPr>
              <a:t> Přijde 57 % žen v kontaktu se zdravotnictvím, ale jen 31–36 % žen s málo kontakty. Z nich je 13 % příští rok odpojených.</a:t>
            </a:r>
            <a:endParaRPr lang="en-US" sz="1800" dirty="0"/>
          </a:p>
        </p:txBody>
      </p:sp>
      <p:sp>
        <p:nvSpPr>
          <p:cNvPr id="11" name="zjisteni_7"/>
          <p:cNvSpPr/>
          <p:nvPr/>
        </p:nvSpPr>
        <p:spPr>
          <a:xfrm>
            <a:off x="548640" y="384048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2" name="cislo_7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4" name="zjisteni_7_text"/>
          <p:cNvSpPr txBox="1"/>
          <p:nvPr/>
        </p:nvSpPr>
        <p:spPr>
          <a:xfrm>
            <a:off x="1554480" y="402336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 uvnitř segmentu pomůže jen tam, kde je rozptyl:</a:t>
            </a:r>
            <a:r>
              <a:rPr lang="en-US" sz="1800" dirty="0">
                <a:solidFill>
                  <a:schemeClr val="tx1"/>
                </a:solidFill>
              </a:rPr>
              <a:t> u první pozvánky, vypadlých a žen u gynekologa.</a:t>
            </a:r>
            <a:endParaRPr lang="en-US" sz="1800" dirty="0"/>
          </a:p>
        </p:txBody>
      </p:sp>
      <p:sp>
        <p:nvSpPr>
          <p:cNvPr id="15" name="zjisteni_8"/>
          <p:cNvSpPr/>
          <p:nvPr/>
        </p:nvSpPr>
        <p:spPr>
          <a:xfrm>
            <a:off x="6233008" y="384048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6" name="cislo_8"/>
          <p:cNvSpPr/>
          <p:nvPr/>
        </p:nvSpPr>
        <p:spPr>
          <a:xfrm>
            <a:off x="6461608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6160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18" name="zjisteni_8_text"/>
          <p:cNvSpPr txBox="1"/>
          <p:nvPr/>
        </p:nvSpPr>
        <p:spPr>
          <a:xfrm>
            <a:off x="7238848" y="402336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Intervenovat co nejdřív v toku:</a:t>
            </a:r>
            <a:r>
              <a:rPr lang="en-US" sz="1800" dirty="0">
                <a:solidFill>
                  <a:schemeClr val="tx1"/>
                </a:solidFill>
              </a:rPr>
              <a:t> první pozvánka a „zvaná málokrát“, dokud žena nesestoupí.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Návrhy experimentů (1/2)</a:t>
            </a:r>
            <a:endParaRPr lang="en-US" sz="3000" dirty="0"/>
          </a:p>
        </p:txBody>
      </p:sp>
      <p:graphicFrame>
        <p:nvGraphicFramePr>
          <p:cNvPr id="14" name="tabulka_experimenty_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4937760"/>
                <a:gridCol w="1097280"/>
                <a:gridCol w="131033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Segment (2024)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Intervence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Účast 12M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MDE*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Dopis se minul (7 600)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Ověřit screening těsně před odesláním, dopis odložit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procesní změna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 pozvánka, málo kontaktů (7 100)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SMS / telefonát navíc k dopisu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36 %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3,2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 pozvánka, v kontaktu (30 300)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Lepší dopis: informace, sociální norma, předvyplněný termín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1,6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Gynekolog, zvaná málokrát (31 100)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Seznam pacientek gynekologovi, žádanka při prohlídce (klastrová RCT)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27 %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1,4 p. b.**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poznamka"/>
          <p:cNvSpPr txBox="1"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* nejmenší zjistitelný rozdíl při rozdělení ročníku segmentu napůl (α = 0,05, síla 80 %) · ** bez design efektu klastrů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Návrhy experimentů (2/2)</a:t>
            </a:r>
            <a:endParaRPr lang="en-US" sz="3000" dirty="0"/>
          </a:p>
        </p:txBody>
      </p:sp>
      <p:graphicFrame>
        <p:nvGraphicFramePr>
          <p:cNvPr id="15" name="tabulka_experimenty_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4937760"/>
                <a:gridCol w="1097280"/>
                <a:gridCol w="131033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Segment (2024)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Intervence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Účast 12M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MDE*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Gynekolog, opakovaně nereaguje (19 900)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Objednání přímo v ordinaci místo dopisu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1,2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Jiná prevence, opakovaně nereaguje (59 900)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ramena: dopis / praktik /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bez dopisu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(non-inferiorita)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Vypadlá 3–4 roky (16 200)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Připomínka s konkrétním termínem (implementation intention)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2,2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karta_vystupy"/>
          <p:cNvSpPr/>
          <p:nvPr/>
        </p:nvSpPr>
        <p:spPr>
          <a:xfrm>
            <a:off x="548640" y="4069080"/>
            <a:ext cx="1109441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karta_vystupy_text"/>
          <p:cNvSpPr txBox="1"/>
          <p:nvPr/>
        </p:nvSpPr>
        <p:spPr>
          <a:xfrm>
            <a:off x="777240" y="4206240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Společné výstupy:</a:t>
            </a:r>
            <a:r>
              <a:rPr lang="en-US" sz="1500" dirty="0">
                <a:solidFill>
                  <a:schemeClr val="tx1"/>
                </a:solidFill>
              </a:rPr>
              <a:t> účast do 3 / 6 / 12 měsíců, </a:t>
            </a:r>
            <a:r>
              <a:rPr lang="en-US" sz="1500" b="1" dirty="0">
                <a:solidFill>
                  <a:schemeClr val="tx1"/>
                </a:solidFill>
              </a:rPr>
              <a:t>sestup do horšího segmentu</a:t>
            </a:r>
            <a:r>
              <a:rPr lang="en-US" sz="1500" dirty="0">
                <a:solidFill>
                  <a:schemeClr val="tx1"/>
                </a:solidFill>
              </a:rPr>
              <a:t> při další pozvánce, náklad na získanou mamografii. Randomizace uvnitř segmentu s rozvrstvením podle územního pracoviště, analýza ITT.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Návrhy experimentů v aplikaci VZP</a:t>
            </a:r>
            <a:endParaRPr lang="en-US" sz="3000" dirty="0"/>
          </a:p>
        </p:txBody>
      </p:sp>
      <p:graphicFrame>
        <p:nvGraphicFramePr>
          <p:cNvPr id="16" name="tabulka_aplika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440680"/>
                <a:gridCol w="1417320"/>
                <a:gridCol w="1600200"/>
                <a:gridCol w="213329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Zásah (jen uživatelky aplikace)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Cílové ženy za rok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Výchozí účast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MDE* při 10 / 20 / 30 % v aplikaci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Rezervace v aplikaci: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předrezervovaný termín, potvrzení jedním klepnutím (1. pozvánky, vypadlé 3–4 roky)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53 600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34,5 % (6M)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3,7 / 2,6 / 2,1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Push vs SMS × odkaz na rezervaci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faktoriál 2 × 2 (všechny segmenty kromě zkříženého dopisu)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248 900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19,7 %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1,4 / 1,0 / 0,8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Dotazník bariér → cílený další krok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ženy bez účasti do 3 měsíců („zvaná málokrát“, vypadlé 4–5+ let)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67 600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14,8 % (3.–12. měsíc)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2,5 / 1,8 / 1,4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poznamka_aplikace"/>
          <p:cNvSpPr txBox="1"/>
          <p:nvPr/>
        </p:nvSpPr>
        <p:spPr>
          <a:xfrm>
            <a:off x="548640" y="42519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* nejmenší účinek, který pokus spolehlivě odhalí, když polovina uživatelek aplikace v cílových segmentech za rok dostane zásah a polovina zůstane kontrolou (α = 0,05, síla 80 %). Podíl uživatelek aplikace mezi pozvanými ženami zatím neznáme.</a:t>
            </a:r>
            <a:endParaRPr lang="en-US" sz="1100" dirty="0"/>
          </a:p>
        </p:txBody>
      </p:sp>
      <p:sp>
        <p:nvSpPr>
          <p:cNvPr id="5" name="karta_aplikace"/>
          <p:cNvSpPr/>
          <p:nvPr/>
        </p:nvSpPr>
        <p:spPr>
          <a:xfrm>
            <a:off x="548640" y="4937760"/>
            <a:ext cx="1109441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6" name="karta_aplikace_text"/>
          <p:cNvSpPr txBox="1"/>
          <p:nvPr/>
        </p:nvSpPr>
        <p:spPr>
          <a:xfrm>
            <a:off x="777240" y="5074920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Samotná push je slabá (0 až +1 p. b.); aplikace má smysl jako </a:t>
            </a:r>
            <a:r>
              <a:rPr lang="en-US" sz="1500" b="1" dirty="0">
                <a:solidFill>
                  <a:schemeClr val="tx1"/>
                </a:solidFill>
              </a:rPr>
              <a:t>levný kanál pro předrezervaci a navigaci</a:t>
            </a:r>
            <a:r>
              <a:rPr lang="en-US" sz="1500" dirty="0">
                <a:solidFill>
                  <a:schemeClr val="tx1"/>
                </a:solidFill>
              </a:rPr>
              <a:t> a jako </a:t>
            </a:r>
            <a:r>
              <a:rPr lang="en-US" sz="1500" b="1" dirty="0">
                <a:solidFill>
                  <a:schemeClr val="tx1"/>
                </a:solidFill>
              </a:rPr>
              <a:t>zdroj důvodů neúčasti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Výsledky platí jen pro uživatelky aplikace; nejtěžší segmenty zastihne nejméně.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Omezení</a:t>
            </a:r>
            <a:endParaRPr lang="en-US" sz="3000" dirty="0"/>
          </a:p>
        </p:txBody>
      </p:sp>
      <p:sp>
        <p:nvSpPr>
          <p:cNvPr id="3" name="omezeni_1"/>
          <p:cNvSpPr/>
          <p:nvPr/>
        </p:nvSpPr>
        <p:spPr>
          <a:xfrm>
            <a:off x="548640" y="123444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4" name="omezeni_1_text"/>
          <p:cNvSpPr txBox="1"/>
          <p:nvPr/>
        </p:nvSpPr>
        <p:spPr>
          <a:xfrm>
            <a:off x="822960" y="1463040"/>
            <a:ext cx="48614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Segmenty popisují, </a:t>
            </a:r>
            <a:r>
              <a:rPr lang="en-US" sz="1900" b="1" dirty="0">
                <a:solidFill>
                  <a:schemeClr val="bg1"/>
                </a:solidFill>
              </a:rPr>
              <a:t>kdo přijde, ne kdo přijde díky intervenci</a:t>
            </a:r>
            <a:r>
              <a:rPr lang="en-US" sz="1900" dirty="0">
                <a:solidFill>
                  <a:schemeClr val="bg1"/>
                </a:solidFill>
              </a:rPr>
              <a:t>. Páky jsou hypotézy pro experiment.</a:t>
            </a:r>
            <a:endParaRPr lang="en-US" sz="1900" dirty="0"/>
          </a:p>
        </p:txBody>
      </p:sp>
      <p:sp>
        <p:nvSpPr>
          <p:cNvPr id="5" name="omezeni_2"/>
          <p:cNvSpPr/>
          <p:nvPr/>
        </p:nvSpPr>
        <p:spPr>
          <a:xfrm>
            <a:off x="6233008" y="123444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6" name="omezeni_2_text"/>
          <p:cNvSpPr txBox="1"/>
          <p:nvPr/>
        </p:nvSpPr>
        <p:spPr>
          <a:xfrm>
            <a:off x="6507328" y="1463040"/>
            <a:ext cx="48614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„Bez screeningu“ = bez kódu za 5 let. Přechod „vypadlá 4–5+ let“ → bez screeningu je zčásti artefakt tohoto okna.</a:t>
            </a:r>
            <a:endParaRPr lang="en-US" sz="1900" dirty="0"/>
          </a:p>
        </p:txBody>
      </p:sp>
      <p:sp>
        <p:nvSpPr>
          <p:cNvPr id="7" name="omezeni_3"/>
          <p:cNvSpPr/>
          <p:nvPr/>
        </p:nvSpPr>
        <p:spPr>
          <a:xfrm>
            <a:off x="548640" y="384048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8" name="omezeni_3_text"/>
          <p:cNvSpPr txBox="1"/>
          <p:nvPr/>
        </p:nvSpPr>
        <p:spPr>
          <a:xfrm>
            <a:off x="822960" y="4069080"/>
            <a:ext cx="48614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Účast do 12 měsíců u pozvánek z konce roku 2023 se pozoruje až v roce 2024. Přísně oddělené učení by muselo končit rokem 2022.</a:t>
            </a:r>
            <a:endParaRPr lang="en-US" sz="1900" dirty="0"/>
          </a:p>
        </p:txBody>
      </p:sp>
      <p:sp>
        <p:nvSpPr>
          <p:cNvPr id="9" name="omezeni_4"/>
          <p:cNvSpPr/>
          <p:nvPr/>
        </p:nvSpPr>
        <p:spPr>
          <a:xfrm>
            <a:off x="6233008" y="384048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0" name="omezeni_4_text"/>
          <p:cNvSpPr txBox="1"/>
          <p:nvPr/>
        </p:nvSpPr>
        <p:spPr>
          <a:xfrm>
            <a:off x="6507328" y="4069080"/>
            <a:ext cx="48614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V datech nejsou nově pojištěné ženy ani ženy 75+. Územní pracoviště není okres.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mograf">
      <a:dk1>
        <a:srgbClr val="262626"/>
      </a:dk1>
      <a:lt1>
        <a:srgbClr val="FFFFFF"/>
      </a:lt1>
      <a:dk2>
        <a:srgbClr val="5B2A45"/>
      </a:dk2>
      <a:lt2>
        <a:srgbClr val="F7EEF2"/>
      </a:lt2>
      <a:accent1>
        <a:srgbClr val="5B2A45"/>
      </a:accent1>
      <a:accent2>
        <a:srgbClr val="2A9D8F"/>
      </a:accent2>
      <a:accent3>
        <a:srgbClr val="E9C9D3"/>
      </a:accent3>
      <a:accent4>
        <a:srgbClr val="3D4F5C"/>
      </a:accent4>
      <a:accent5>
        <a:srgbClr val="B5838D"/>
      </a:accent5>
      <a:accent6>
        <a:srgbClr val="8DBDB5"/>
      </a:accent6>
      <a:hlink>
        <a:srgbClr val="2A9D8F"/>
      </a:hlink>
      <a:folHlink>
        <a:srgbClr val="5B2A45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 pozvánky k mamografu: segmenty pozvaných žen</dc:title>
  <dc:subject>PptxGenJS Presentation</dc:subject>
  <dc:creator>PptxGenJS</dc:creator>
  <cp:lastModifiedBy>PptxGenJS</cp:lastModifiedBy>
  <cp:revision>1</cp:revision>
  <dcterms:created xsi:type="dcterms:W3CDTF">2026-10-17T20:59:02Z</dcterms:created>
  <dcterms:modified xsi:type="dcterms:W3CDTF">2026-10-17T20:59:02Z</dcterms:modified>
</cp:coreProperties>
</file>
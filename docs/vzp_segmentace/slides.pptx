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Úvod" id="{0208bed4-9503-f599-db88-0763cf06f387}">
          <p14:sldIdLst>
            <p14:sldId id="256"/>
            <p14:sldId id="257"/>
          </p14:sldIdLst>
        </p14:section>
        <p14:section name="Segmentační model" id="{2fb07449-22f3-5cfe-cd1a-a155d7cf607e}">
          <p14:sldIdLst>
            <p14:sldId id="258"/>
            <p14:sldId id="259"/>
          </p14:sldIdLst>
        </p14:section>
        <p14:section name="Kde jsou nepřišlé ženy" id="{2246ef65-b572-a880-291b-7e3b5071c323}">
          <p14:sldIdLst>
            <p14:sldId id="260"/>
            <p14:sldId id="261"/>
          </p14:sldIdLst>
        </p14:section>
        <p14:section name="Přechody mezi segmenty" id="{331f06b0-0bc0-efa9-659f-5961bba763f7}">
          <p14:sldIdLst>
            <p14:sldId id="262"/>
            <p14:sldId id="263"/>
            <p14:sldId id="264"/>
          </p14:sldIdLst>
        </p14:section>
        <p14:section name="Zjištění" id="{5b132044-ac9a-cb5d-6537-8c8077758772}">
          <p14:sldIdLst>
            <p14:sldId id="265"/>
            <p14:sldId id="266"/>
          </p14:sldIdLst>
        </p14:section>
        <p14:section name="Experimenty" id="{20ee95e7-d7ba-928f-02a9-9e39a3066f31}">
          <p14:sldIdLst>
            <p14:sldId id="267"/>
            <p14:sldId id="268"/>
          </p14:sldIdLst>
        </p14:section>
        <p14:section name="Omezení" id="{3fbb47d3-a26d-b62e-cb4f-bdc7ada7dcea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ulni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1109441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474720"/>
            <a:ext cx="11094415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bsah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Data VZP 2020–2024 · segmentace pozvaných žen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mavy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Data VZP 2020–2024 · segmentace pozvaných žen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11094415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Od pozvánky k mamografu: segmenty pozvaných žen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474720"/>
            <a:ext cx="11094415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chemeClr val="accent3"/>
                </a:solidFill>
              </a:rPr>
              <a:t>Data VZP 2020–2024 · 1 344 556 pozvánek · 508 527 žen</a:t>
            </a:r>
            <a:endParaRPr lang="en-US" sz="1800" dirty="0"/>
          </a:p>
          <a:p>
            <a:pPr algn="l" indent="0" marL="0">
              <a:spcAft>
                <a:spcPts val="1800"/>
              </a:spcAft>
              <a:buNone/>
            </a:pPr>
            <a:r>
              <a:rPr lang="en-US" sz="1800" dirty="0">
                <a:solidFill>
                  <a:schemeClr val="accent3"/>
                </a:solidFill>
              </a:rPr>
              <a:t>Segmentační model s 11 pravidly, jeho ověření na roce 2024, přechody mezi segmenty a návrhy experimentů.</a:t>
            </a:r>
            <a:endParaRPr lang="en-US" sz="18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Zdroj: notebooks/vzp_segmentation_final.ipynb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Otázka a data</a:t>
            </a:r>
            <a:endParaRPr lang="en-US" sz="3000" dirty="0"/>
          </a:p>
        </p:txBody>
      </p:sp>
      <p:sp>
        <p:nvSpPr>
          <p:cNvPr id="3" name="stat_0"/>
          <p:cNvSpPr txBox="1"/>
          <p:nvPr/>
        </p:nvSpPr>
        <p:spPr>
          <a:xfrm>
            <a:off x="548640" y="123444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1 344 556</a:t>
            </a:r>
            <a:endParaRPr lang="en-US" sz="4000" dirty="0"/>
          </a:p>
        </p:txBody>
      </p:sp>
      <p:sp>
        <p:nvSpPr>
          <p:cNvPr id="4" name="stat_0_popis"/>
          <p:cNvSpPr txBox="1"/>
          <p:nvPr/>
        </p:nvSpPr>
        <p:spPr>
          <a:xfrm>
            <a:off x="548640" y="1965960"/>
            <a:ext cx="34238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pozvánek 2020–2024</a:t>
            </a:r>
            <a:endParaRPr lang="en-US" sz="1300" dirty="0"/>
          </a:p>
        </p:txBody>
      </p:sp>
      <p:sp>
        <p:nvSpPr>
          <p:cNvPr id="5" name="stat_1"/>
          <p:cNvSpPr txBox="1"/>
          <p:nvPr/>
        </p:nvSpPr>
        <p:spPr>
          <a:xfrm>
            <a:off x="4246778" y="123444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508 527</a:t>
            </a:r>
            <a:endParaRPr lang="en-US" sz="4000" dirty="0"/>
          </a:p>
        </p:txBody>
      </p:sp>
      <p:sp>
        <p:nvSpPr>
          <p:cNvPr id="6" name="stat_1_popis"/>
          <p:cNvSpPr txBox="1"/>
          <p:nvPr/>
        </p:nvSpPr>
        <p:spPr>
          <a:xfrm>
            <a:off x="4246778" y="1965960"/>
            <a:ext cx="34238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žen nepřetržitě pojištěných</a:t>
            </a:r>
            <a:endParaRPr lang="en-US" sz="1300" dirty="0"/>
          </a:p>
        </p:txBody>
      </p:sp>
      <p:sp>
        <p:nvSpPr>
          <p:cNvPr id="7" name="stat_2"/>
          <p:cNvSpPr txBox="1"/>
          <p:nvPr/>
        </p:nvSpPr>
        <p:spPr>
          <a:xfrm>
            <a:off x="7944917" y="123444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256 466</a:t>
            </a:r>
            <a:endParaRPr lang="en-US" sz="4000" dirty="0"/>
          </a:p>
        </p:txBody>
      </p:sp>
      <p:sp>
        <p:nvSpPr>
          <p:cNvPr id="8" name="stat_2_popis"/>
          <p:cNvSpPr txBox="1"/>
          <p:nvPr/>
        </p:nvSpPr>
        <p:spPr>
          <a:xfrm>
            <a:off x="7944917" y="1965960"/>
            <a:ext cx="34238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žen v testovacím roce 2024</a:t>
            </a:r>
            <a:endParaRPr lang="en-US" sz="1300" dirty="0"/>
          </a:p>
        </p:txBody>
      </p:sp>
      <p:sp>
        <p:nvSpPr>
          <p:cNvPr id="9" name="karta_otazka"/>
          <p:cNvSpPr/>
          <p:nvPr/>
        </p:nvSpPr>
        <p:spPr>
          <a:xfrm>
            <a:off x="548640" y="2697480"/>
            <a:ext cx="5410048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</p:sp>
      <p:sp>
        <p:nvSpPr>
          <p:cNvPr id="10" name="karta_otazka_text"/>
          <p:cNvSpPr txBox="1"/>
          <p:nvPr/>
        </p:nvSpPr>
        <p:spPr>
          <a:xfrm>
            <a:off x="731520" y="2834640"/>
            <a:ext cx="504428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Otázka</a:t>
            </a:r>
            <a:endParaRPr lang="en-US" sz="16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Kdo po adresné pozvánce přijde na mamograf a kdo ne?</a:t>
            </a:r>
            <a:r>
              <a:rPr lang="en-US" sz="1400" dirty="0">
                <a:solidFill>
                  <a:schemeClr val="tx1"/>
                </a:solidFill>
              </a:rPr>
              <a:t> Kde jsou ženy, které nechodí, a jak je oslovit?</a:t>
            </a:r>
            <a:endParaRPr lang="en-US" sz="1600" dirty="0"/>
          </a:p>
        </p:txBody>
      </p:sp>
      <p:sp>
        <p:nvSpPr>
          <p:cNvPr id="11" name="karta_data"/>
          <p:cNvSpPr/>
          <p:nvPr/>
        </p:nvSpPr>
        <p:spPr>
          <a:xfrm>
            <a:off x="6233008" y="2697480"/>
            <a:ext cx="5410048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</p:sp>
      <p:sp>
        <p:nvSpPr>
          <p:cNvPr id="12" name="karta_data_text"/>
          <p:cNvSpPr txBox="1"/>
          <p:nvPr/>
        </p:nvSpPr>
        <p:spPr>
          <a:xfrm>
            <a:off x="6415888" y="2834640"/>
            <a:ext cx="504428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Data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Pozvánky VZP 2020–2024 pro ženy nepřetržitě pojištěné 2015–2025. Účast = mamografie do 3, 6 a 12 měsíců po pozvánce.</a:t>
            </a:r>
            <a:endParaRPr lang="en-US" sz="1600" dirty="0"/>
          </a:p>
        </p:txBody>
      </p:sp>
      <p:sp>
        <p:nvSpPr>
          <p:cNvPr id="13" name="karta_model"/>
          <p:cNvSpPr/>
          <p:nvPr/>
        </p:nvSpPr>
        <p:spPr>
          <a:xfrm>
            <a:off x="548640" y="4526280"/>
            <a:ext cx="5410048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</p:sp>
      <p:sp>
        <p:nvSpPr>
          <p:cNvPr id="14" name="karta_model_text"/>
          <p:cNvSpPr txBox="1"/>
          <p:nvPr/>
        </p:nvSpPr>
        <p:spPr>
          <a:xfrm>
            <a:off x="731520" y="4663440"/>
            <a:ext cx="504428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Segmentační model</a:t>
            </a:r>
            <a:endParaRPr lang="en-US" sz="16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11 srozumitelných pravidel</a:t>
            </a:r>
            <a:r>
              <a:rPr lang="en-US" sz="1400" dirty="0">
                <a:solidFill>
                  <a:schemeClr val="tx1"/>
                </a:solidFill>
              </a:rPr>
              <a:t> nad sloupci VZP. Pozvánka patří do prvního segmentu, jehož pravidlo platí.</a:t>
            </a:r>
            <a:endParaRPr lang="en-US" sz="1600" dirty="0"/>
          </a:p>
        </p:txBody>
      </p:sp>
      <p:sp>
        <p:nvSpPr>
          <p:cNvPr id="15" name="karta_overeni"/>
          <p:cNvSpPr/>
          <p:nvPr/>
        </p:nvSpPr>
        <p:spPr>
          <a:xfrm>
            <a:off x="6233008" y="4526280"/>
            <a:ext cx="5410048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</p:sp>
      <p:sp>
        <p:nvSpPr>
          <p:cNvPr id="16" name="karta_overeni_text"/>
          <p:cNvSpPr txBox="1"/>
          <p:nvPr/>
        </p:nvSpPr>
        <p:spPr>
          <a:xfrm>
            <a:off x="6415888" y="4663440"/>
            <a:ext cx="504428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Poctivé ověření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Model „naučený“ na letech 2020–2023 (účast segmentu) a </a:t>
            </a:r>
            <a:r>
              <a:rPr lang="en-US" sz="1400" b="1" dirty="0">
                <a:solidFill>
                  <a:schemeClr val="tx1"/>
                </a:solidFill>
              </a:rPr>
              <a:t>otestovaný na roce 2024</a:t>
            </a:r>
            <a:r>
              <a:rPr lang="en-US" sz="1400" dirty="0">
                <a:solidFill>
                  <a:schemeClr val="tx1"/>
                </a:solidFill>
              </a:rPr>
              <a:t> (256 466 žen).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Segmentační model: 11 segmentů jako rozhodovací strom</a:t>
            </a:r>
            <a:endParaRPr lang="en-US" sz="3000" dirty="0"/>
          </a:p>
        </p:txBody>
      </p:sp>
      <p:pic>
        <p:nvPicPr>
          <p:cNvPr id="3" name="strom_segmentu.png" descr="C:\Users\vittu\src\mamograf-data-exploration\docs\vzp_segmentace\strom_segment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5637273" cy="5120640"/>
          </a:xfrm>
          <a:prstGeom prst="rect">
            <a:avLst/>
          </a:prstGeom>
        </p:spPr>
      </p:pic>
      <p:sp>
        <p:nvSpPr>
          <p:cNvPr id="4" name="karta_rozmery"/>
          <p:cNvSpPr/>
          <p:nvPr/>
        </p:nvSpPr>
        <p:spPr>
          <a:xfrm>
            <a:off x="6551673" y="1234440"/>
            <a:ext cx="5091382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5" name="karta_rozmery_text"/>
          <p:cNvSpPr txBox="1"/>
          <p:nvPr/>
        </p:nvSpPr>
        <p:spPr>
          <a:xfrm>
            <a:off x="6734553" y="1371600"/>
            <a:ext cx="472562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Tři rozměry</a:t>
            </a:r>
            <a:endParaRPr lang="en-US" sz="16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Historie screeningu</a:t>
            </a:r>
            <a:r>
              <a:rPr lang="en-US" sz="1400" dirty="0">
                <a:solidFill>
                  <a:schemeClr val="tx1"/>
                </a:solidFill>
              </a:rPr>
              <a:t>, </a:t>
            </a:r>
            <a:r>
              <a:rPr lang="en-US" sz="1400" b="1" dirty="0">
                <a:solidFill>
                  <a:schemeClr val="tx1"/>
                </a:solidFill>
              </a:rPr>
              <a:t>kontakt se zdravotnictvím a prevencí</a:t>
            </a:r>
            <a:r>
              <a:rPr lang="en-US" sz="1400" dirty="0">
                <a:solidFill>
                  <a:schemeClr val="tx1"/>
                </a:solidFill>
              </a:rPr>
              <a:t> a </a:t>
            </a:r>
            <a:r>
              <a:rPr lang="en-US" sz="1400" b="1" dirty="0">
                <a:solidFill>
                  <a:schemeClr val="tx1"/>
                </a:solidFill>
              </a:rPr>
              <a:t>počet nevyslyšených pozvánek</a:t>
            </a:r>
            <a:r>
              <a:rPr lang="en-US" sz="1400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6" name="stat_25x"/>
          <p:cNvSpPr txBox="1"/>
          <p:nvPr/>
        </p:nvSpPr>
        <p:spPr>
          <a:xfrm>
            <a:off x="6551673" y="3337560"/>
            <a:ext cx="509138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25×</a:t>
            </a:r>
            <a:endParaRPr lang="en-US" sz="6000" dirty="0"/>
          </a:p>
        </p:txBody>
      </p:sp>
      <p:sp>
        <p:nvSpPr>
          <p:cNvPr id="7" name="stat_25x_popis"/>
          <p:cNvSpPr txBox="1"/>
          <p:nvPr/>
        </p:nvSpPr>
        <p:spPr>
          <a:xfrm>
            <a:off x="6551673" y="4343400"/>
            <a:ext cx="509138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Tolikrát se liší účast mezi listy stromu (2–60 %).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Model z let 2020–2023 platí i v roce 2024</a:t>
            </a:r>
            <a:endParaRPr lang="en-US" sz="3000" dirty="0"/>
          </a:p>
        </p:txBody>
      </p:sp>
      <p:pic>
        <p:nvPicPr>
          <p:cNvPr id="3" name="segmenty_predikce_2024.png" descr="C:\Users\vittu\src\mamograf-data-exploration\docs\vzp_segmentace\segmenty_predikce_20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8975790" cy="3429000"/>
          </a:xfrm>
          <a:prstGeom prst="rect">
            <a:avLst/>
          </a:prstGeom>
        </p:spPr>
      </p:pic>
      <p:graphicFrame>
        <p:nvGraphicFramePr>
          <p:cNvPr id="5" name="tabulka_auroc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892040"/>
          <a:ext cx="51206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005840"/>
                <a:gridCol w="10058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2024, do 12 měsíců</a:t>
                      </a:r>
                      <a:endParaRPr lang="en-US" sz="13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AUROC</a:t>
                      </a:r>
                      <a:endParaRPr lang="en-US" sz="13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log-loss</a:t>
                      </a:r>
                      <a:endParaRPr lang="en-US" sz="13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 segmentů (účast 2020–2023)</a:t>
                      </a:r>
                      <a:endParaRPr lang="en-US" sz="13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0,807</a:t>
                      </a:r>
                      <a:endParaRPr lang="en-US" sz="13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0,387</a:t>
                      </a:r>
                      <a:endParaRPr lang="en-US" sz="13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plný model hazardu (19 sloupců)</a:t>
                      </a:r>
                      <a:endParaRPr lang="en-US" sz="13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0,837</a:t>
                      </a:r>
                      <a:endParaRPr lang="en-US" sz="13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0,362</a:t>
                      </a:r>
                      <a:endParaRPr lang="en-US" sz="13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komentar"/>
          <p:cNvSpPr txBox="1"/>
          <p:nvPr/>
        </p:nvSpPr>
        <p:spPr>
          <a:xfrm>
            <a:off x="6035040" y="4892040"/>
            <a:ext cx="56080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Segmenty nesou </a:t>
            </a:r>
            <a:r>
              <a:rPr lang="en-US" sz="1500" b="1" dirty="0">
                <a:solidFill>
                  <a:schemeClr val="tx1"/>
                </a:solidFill>
              </a:rPr>
              <a:t>asi 90 % rozlišovací síly</a:t>
            </a:r>
            <a:r>
              <a:rPr lang="en-US" sz="1500" dirty="0">
                <a:solidFill>
                  <a:schemeClr val="tx1"/>
                </a:solidFill>
              </a:rPr>
              <a:t> plného modelu.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V 8 z 11 segmentů sedí předpověď do ±1,3 p. b. Účast roste u 1. pozvánky s málo kontakty (+5,1 p. b.) a u vypadlých 3–4 roky (+4,6 p. b.).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Kde jsou ženy, které nepřišly (2024: 207 tisíc)</a:t>
            </a:r>
            <a:endParaRPr lang="en-US" sz="3000" dirty="0"/>
          </a:p>
        </p:txBody>
      </p:sp>
      <p:pic>
        <p:nvPicPr>
          <p:cNvPr id="3" name="segmenty_mapa.png" descr="C:\Users\vittu\src\mamograf-data-exploration\docs\vzp_segmentace\segmenty_ma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6675120" cy="4121914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7589520" y="1234440"/>
            <a:ext cx="4053535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56 %</a:t>
            </a:r>
            <a:r>
              <a:rPr lang="en-US" sz="1500" dirty="0">
                <a:solidFill>
                  <a:schemeClr val="tx1"/>
                </a:solidFill>
              </a:rPr>
              <a:t> nepřišlých je ve čtyřech segmentech s účastí 3–10 %. Největší je „jiná prevence, opakovaně nereaguje“: 56,8 tis. žen.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59 %</a:t>
            </a:r>
            <a:r>
              <a:rPr lang="en-US" sz="1500" dirty="0">
                <a:solidFill>
                  <a:schemeClr val="tx1"/>
                </a:solidFill>
              </a:rPr>
              <a:t> nepřišlých chodí ke gynekologovi nebo na jinou prevenci, takže je lze oslovit přes lékaře.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Nejslibnější střed: </a:t>
            </a:r>
            <a:r>
              <a:rPr lang="en-US" sz="1500" b="1" dirty="0">
                <a:solidFill>
                  <a:schemeClr val="tx1"/>
                </a:solidFill>
              </a:rPr>
              <a:t>gynekolog, zvaná málokrát</a:t>
            </a:r>
            <a:r>
              <a:rPr lang="en-US" sz="1500" dirty="0">
                <a:solidFill>
                  <a:schemeClr val="tx1"/>
                </a:solidFill>
              </a:rPr>
              <a:t> (22,7 tis. nepřišlých, účast 27 %) a </a:t>
            </a:r>
            <a:r>
              <a:rPr lang="en-US" sz="1500" b="1" dirty="0">
                <a:solidFill>
                  <a:schemeClr val="tx1"/>
                </a:solidFill>
              </a:rPr>
              <a:t>jiná prevence, zvaná málokrát</a:t>
            </a:r>
            <a:r>
              <a:rPr lang="en-US" sz="1500" dirty="0">
                <a:solidFill>
                  <a:schemeClr val="tx1"/>
                </a:solidFill>
              </a:rPr>
              <a:t> (25,7 tis., 13 %).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Uvnitř segmentů: kde má smysl individuální cílení</a:t>
            </a:r>
            <a:endParaRPr lang="en-US" sz="3000" dirty="0"/>
          </a:p>
        </p:txBody>
      </p:sp>
      <p:pic>
        <p:nvPicPr>
          <p:cNvPr id="3" name="segmenty_rozptyl.png" descr="C:\Users\vittu\src\mamograf-data-exploration\docs\vzp_segmentace\segmenty_rozpty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9114717" cy="3566160"/>
          </a:xfrm>
          <a:prstGeom prst="rect">
            <a:avLst/>
          </a:prstGeom>
        </p:spPr>
      </p:pic>
      <p:sp>
        <p:nvSpPr>
          <p:cNvPr id="4" name="karta_siroky"/>
          <p:cNvSpPr/>
          <p:nvPr/>
        </p:nvSpPr>
        <p:spPr>
          <a:xfrm>
            <a:off x="548640" y="5029200"/>
            <a:ext cx="5410048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5" name="karta_siroky_text"/>
          <p:cNvSpPr txBox="1"/>
          <p:nvPr/>
        </p:nvSpPr>
        <p:spPr>
          <a:xfrm>
            <a:off x="731520" y="5166360"/>
            <a:ext cx="50442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Široký rozptyl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První pozvánky, vypadlé a ženy u gynekologa. Tam má smysl </a:t>
            </a:r>
            <a:r>
              <a:rPr lang="en-US" sz="1400" b="1" dirty="0">
                <a:solidFill>
                  <a:schemeClr val="tx1"/>
                </a:solidFill>
              </a:rPr>
              <a:t>cílit podle modelu</a:t>
            </a:r>
            <a:r>
              <a:rPr lang="en-US" sz="1400" dirty="0">
                <a:solidFill>
                  <a:schemeClr val="tx1"/>
                </a:solidFill>
              </a:rPr>
              <a:t> (AUROC uvnitř 0,63–0,79).</a:t>
            </a:r>
            <a:endParaRPr lang="en-US" sz="1600" dirty="0"/>
          </a:p>
        </p:txBody>
      </p:sp>
      <p:sp>
        <p:nvSpPr>
          <p:cNvPr id="6" name="karta_uzky"/>
          <p:cNvSpPr/>
          <p:nvPr/>
        </p:nvSpPr>
        <p:spPr>
          <a:xfrm>
            <a:off x="6233008" y="5029200"/>
            <a:ext cx="5410048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7" name="karta_uzky_text"/>
          <p:cNvSpPr txBox="1"/>
          <p:nvPr/>
        </p:nvSpPr>
        <p:spPr>
          <a:xfrm>
            <a:off x="6415888" y="5166360"/>
            <a:ext cx="50442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Úzký a nízký rozptyl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Nereagující, odpojené a ženy bez prevence. </a:t>
            </a:r>
            <a:r>
              <a:rPr lang="en-US" sz="1400" b="1" dirty="0">
                <a:solidFill>
                  <a:schemeClr val="tx1"/>
                </a:solidFill>
              </a:rPr>
              <a:t>90 % z nich má predikci pod 15 %</a:t>
            </a:r>
            <a:r>
              <a:rPr lang="en-US" sz="1400" dirty="0">
                <a:solidFill>
                  <a:schemeClr val="tx1"/>
                </a:solidFill>
              </a:rPr>
              <a:t>, podskupina, která by chodila, v nich není.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Přechodová matice: co následuje po pozvánce</a:t>
            </a:r>
            <a:endParaRPr lang="en-US" sz="3000" dirty="0"/>
          </a:p>
        </p:txBody>
      </p:sp>
      <p:pic>
        <p:nvPicPr>
          <p:cNvPr id="3" name="prechodova_matice.png" descr="C:\Users\vittu\src\mamograf-data-exploration\docs\vzp_segmentace\prechodova_mat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8778240" cy="5049510"/>
          </a:xfrm>
          <a:prstGeom prst="rect">
            <a:avLst/>
          </a:prstGeom>
        </p:spPr>
      </p:pic>
      <p:sp>
        <p:nvSpPr>
          <p:cNvPr id="4" name="karta_jak_cist"/>
          <p:cNvSpPr/>
          <p:nvPr/>
        </p:nvSpPr>
        <p:spPr>
          <a:xfrm>
            <a:off x="9646920" y="1234440"/>
            <a:ext cx="1996135" cy="2743200"/>
          </a:xfrm>
          <a:prstGeom prst="roundRect">
            <a:avLst>
              <a:gd name="adj" fmla="val 3665"/>
            </a:avLst>
          </a:prstGeom>
          <a:solidFill>
            <a:schemeClr val="bg2"/>
          </a:solidFill>
          <a:ln/>
        </p:spPr>
      </p:sp>
      <p:sp>
        <p:nvSpPr>
          <p:cNvPr id="5" name="karta_jak_cist_text"/>
          <p:cNvSpPr txBox="1"/>
          <p:nvPr/>
        </p:nvSpPr>
        <p:spPr>
          <a:xfrm>
            <a:off x="9829800" y="1371600"/>
            <a:ext cx="1630375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Jak číst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Pozvánky 2020–2023. </a:t>
            </a:r>
            <a:r>
              <a:rPr lang="en-US" sz="1400" b="1" dirty="0">
                <a:solidFill>
                  <a:schemeClr val="tx1"/>
                </a:solidFill>
              </a:rPr>
              <a:t>Řádek</a:t>
            </a:r>
            <a:r>
              <a:rPr lang="en-US" sz="1400" dirty="0">
                <a:solidFill>
                  <a:schemeClr val="tx1"/>
                </a:solidFill>
              </a:rPr>
              <a:t> = segment, </a:t>
            </a:r>
            <a:r>
              <a:rPr lang="en-US" sz="1400" b="1" dirty="0">
                <a:solidFill>
                  <a:schemeClr val="tx1"/>
                </a:solidFill>
              </a:rPr>
              <a:t>sloupce</a:t>
            </a:r>
            <a:r>
              <a:rPr lang="en-US" sz="1400" dirty="0">
                <a:solidFill>
                  <a:schemeClr val="tx1"/>
                </a:solidFill>
              </a:rPr>
              <a:t> = přišla / segment další pozvánky / bez další pozvánky.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Přechody jako graf</a:t>
            </a:r>
            <a:endParaRPr lang="en-US" sz="3000" dirty="0"/>
          </a:p>
        </p:txBody>
      </p:sp>
      <p:pic>
        <p:nvPicPr>
          <p:cNvPr id="3" name="graf_prechodu.png" descr="C:\Users\vittu\src\mamograf-data-exploration\docs\vzp_segmentace\graf_prechod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7680960" cy="5158230"/>
          </a:xfrm>
          <a:prstGeom prst="rect">
            <a:avLst/>
          </a:prstGeom>
        </p:spPr>
      </p:pic>
      <p:sp>
        <p:nvSpPr>
          <p:cNvPr id="4" name="karta_horni"/>
          <p:cNvSpPr/>
          <p:nvPr/>
        </p:nvSpPr>
        <p:spPr>
          <a:xfrm>
            <a:off x="8549640" y="1234440"/>
            <a:ext cx="3093415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5" name="karta_horni_text"/>
          <p:cNvSpPr txBox="1"/>
          <p:nvPr/>
        </p:nvSpPr>
        <p:spPr>
          <a:xfrm>
            <a:off x="8732520" y="1371600"/>
            <a:ext cx="272765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Horní patro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1. pozvánka, vypadlé: </a:t>
            </a:r>
            <a:r>
              <a:rPr lang="en-US" sz="1400" b="1" dirty="0">
                <a:solidFill>
                  <a:schemeClr val="tx1"/>
                </a:solidFill>
              </a:rPr>
              <a:t>přijde 25–57 %</a:t>
            </a:r>
            <a:r>
              <a:rPr lang="en-US" sz="1400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6" name="karta_stredni"/>
          <p:cNvSpPr/>
          <p:nvPr/>
        </p:nvSpPr>
        <p:spPr>
          <a:xfrm>
            <a:off x="8549640" y="3017520"/>
            <a:ext cx="3093415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7" name="karta_stredni_text"/>
          <p:cNvSpPr txBox="1"/>
          <p:nvPr/>
        </p:nvSpPr>
        <p:spPr>
          <a:xfrm>
            <a:off x="8732520" y="3154680"/>
            <a:ext cx="272765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Střední patro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„Zvaná málokrát“: polovina zůstává, </a:t>
            </a:r>
            <a:r>
              <a:rPr lang="en-US" sz="1400" b="1" dirty="0">
                <a:solidFill>
                  <a:schemeClr val="tx1"/>
                </a:solidFill>
              </a:rPr>
              <a:t>12–26 % přijde</a:t>
            </a:r>
            <a:r>
              <a:rPr lang="en-US" sz="1400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8" name="karta_dolni"/>
          <p:cNvSpPr/>
          <p:nvPr/>
        </p:nvSpPr>
        <p:spPr>
          <a:xfrm>
            <a:off x="8549640" y="4800600"/>
            <a:ext cx="3093415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9" name="karta_dolni_text"/>
          <p:cNvSpPr txBox="1"/>
          <p:nvPr/>
        </p:nvSpPr>
        <p:spPr>
          <a:xfrm>
            <a:off x="8732520" y="4937760"/>
            <a:ext cx="272765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Dolní patro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Nereagující, odpojené, bez prevence: uzavřený okruh, zůstává 49–74 %, </a:t>
            </a:r>
            <a:r>
              <a:rPr lang="en-US" sz="1400" b="1" dirty="0">
                <a:solidFill>
                  <a:schemeClr val="tx1"/>
                </a:solidFill>
              </a:rPr>
              <a:t>přijde 3–9 %</a:t>
            </a:r>
            <a:r>
              <a:rPr lang="en-US" sz="1400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Hlavní tok: pět největších segmentů</a:t>
            </a:r>
            <a:endParaRPr lang="en-US" sz="3000" dirty="0"/>
          </a:p>
        </p:txBody>
      </p:sp>
      <p:pic>
        <p:nvPicPr>
          <p:cNvPr id="3" name="graf_prechodu_top5.png" descr="C:\Users\vittu\src\mamograf-data-exploration\docs\vzp_segmentace\graf_prechodu_top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7677642" cy="5166360"/>
          </a:xfrm>
          <a:prstGeom prst="rect">
            <a:avLst/>
          </a:prstGeom>
        </p:spPr>
      </p:pic>
      <p:sp>
        <p:nvSpPr>
          <p:cNvPr id="4" name="karta_tok"/>
          <p:cNvSpPr/>
          <p:nvPr/>
        </p:nvSpPr>
        <p:spPr>
          <a:xfrm>
            <a:off x="8546322" y="1234440"/>
            <a:ext cx="3096733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5" name="karta_tok_text"/>
          <p:cNvSpPr txBox="1"/>
          <p:nvPr/>
        </p:nvSpPr>
        <p:spPr>
          <a:xfrm>
            <a:off x="8729202" y="1417320"/>
            <a:ext cx="2730973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1. pozvánka</a:t>
            </a:r>
            <a:r>
              <a:rPr lang="en-US" sz="1600" dirty="0">
                <a:solidFill>
                  <a:schemeClr val="tx1"/>
                </a:solidFill>
              </a:rPr>
              <a:t> (57 % přijde) → </a:t>
            </a:r>
            <a:r>
              <a:rPr lang="en-US" sz="1600" b="1" dirty="0">
                <a:solidFill>
                  <a:schemeClr val="tx1"/>
                </a:solidFill>
              </a:rPr>
              <a:t>gynekolog / jiná prevence, zvaná málokrát</a:t>
            </a:r>
            <a:r>
              <a:rPr lang="en-US" sz="1600" dirty="0">
                <a:solidFill>
                  <a:schemeClr val="tx1"/>
                </a:solidFill>
              </a:rPr>
              <a:t> (26 % / 12 %) → </a:t>
            </a:r>
            <a:r>
              <a:rPr lang="en-US" sz="1600" b="1" dirty="0">
                <a:solidFill>
                  <a:schemeClr val="tx1"/>
                </a:solidFill>
              </a:rPr>
              <a:t>jiná prevence, nereaguje</a:t>
            </a:r>
            <a:r>
              <a:rPr lang="en-US" sz="1600" dirty="0">
                <a:solidFill>
                  <a:schemeClr val="tx1"/>
                </a:solidFill>
              </a:rPr>
              <a:t> (4 %, 74 % zůstává).</a:t>
            </a:r>
            <a:endParaRPr lang="en-US" sz="1600" dirty="0"/>
          </a:p>
        </p:txBody>
      </p:sp>
      <p:sp>
        <p:nvSpPr>
          <p:cNvPr id="6" name="pointa"/>
          <p:cNvSpPr txBox="1"/>
          <p:nvPr/>
        </p:nvSpPr>
        <p:spPr>
          <a:xfrm>
            <a:off x="8546322" y="3886200"/>
            <a:ext cx="3096733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2"/>
                </a:solidFill>
              </a:rPr>
              <a:t>Zpětná hrana z „nereaguje“ chybí: co se nezíská brzy, už se skoro nezíská.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Hlavní zjištění (1/2)</a:t>
            </a:r>
            <a:endParaRPr lang="en-US" sz="3000" dirty="0"/>
          </a:p>
        </p:txBody>
      </p:sp>
      <p:sp>
        <p:nvSpPr>
          <p:cNvPr id="3" name="zjisteni_1"/>
          <p:cNvSpPr/>
          <p:nvPr/>
        </p:nvSpPr>
        <p:spPr>
          <a:xfrm>
            <a:off x="548640" y="1234440"/>
            <a:ext cx="5410048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</p:sp>
      <p:sp>
        <p:nvSpPr>
          <p:cNvPr id="4" name="cislo_1"/>
          <p:cNvSpPr/>
          <p:nvPr/>
        </p:nvSpPr>
        <p:spPr>
          <a:xfrm>
            <a:off x="777240" y="14630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zjisteni_1_text"/>
          <p:cNvSpPr txBox="1"/>
          <p:nvPr/>
        </p:nvSpPr>
        <p:spPr>
          <a:xfrm>
            <a:off x="1554480" y="1417320"/>
            <a:ext cx="422132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11 pravidel stačí.</a:t>
            </a:r>
            <a:r>
              <a:rPr lang="en-US" sz="1800" dirty="0">
                <a:solidFill>
                  <a:schemeClr val="tx1"/>
                </a:solidFill>
              </a:rPr>
              <a:t> AUROC 0,807 na roce 2024 proti 0,837 plného modelu. Segmenty jsou stabilní v čase.</a:t>
            </a:r>
            <a:endParaRPr lang="en-US" sz="1800" dirty="0"/>
          </a:p>
        </p:txBody>
      </p:sp>
      <p:sp>
        <p:nvSpPr>
          <p:cNvPr id="7" name="zjisteni_2"/>
          <p:cNvSpPr/>
          <p:nvPr/>
        </p:nvSpPr>
        <p:spPr>
          <a:xfrm>
            <a:off x="6233008" y="1234440"/>
            <a:ext cx="5410048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</p:sp>
      <p:sp>
        <p:nvSpPr>
          <p:cNvPr id="8" name="cislo_2"/>
          <p:cNvSpPr/>
          <p:nvPr/>
        </p:nvSpPr>
        <p:spPr>
          <a:xfrm>
            <a:off x="6461608" y="14630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61608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zjisteni_2_text"/>
          <p:cNvSpPr txBox="1"/>
          <p:nvPr/>
        </p:nvSpPr>
        <p:spPr>
          <a:xfrm>
            <a:off x="7238848" y="1417320"/>
            <a:ext cx="422132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Účast se liší 25×:</a:t>
            </a:r>
            <a:r>
              <a:rPr lang="en-US" sz="1800" dirty="0">
                <a:solidFill>
                  <a:schemeClr val="tx1"/>
                </a:solidFill>
              </a:rPr>
              <a:t> 60 % u první pozvánky v kontaktu se zdravotnictvím, 2–5 % u zkřížených dopisů, odpojených a opakovaně nereagujících.</a:t>
            </a:r>
            <a:endParaRPr lang="en-US" sz="1800" dirty="0"/>
          </a:p>
        </p:txBody>
      </p:sp>
      <p:sp>
        <p:nvSpPr>
          <p:cNvPr id="11" name="zjisteni_3"/>
          <p:cNvSpPr/>
          <p:nvPr/>
        </p:nvSpPr>
        <p:spPr>
          <a:xfrm>
            <a:off x="548640" y="3840480"/>
            <a:ext cx="5410048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</p:sp>
      <p:sp>
        <p:nvSpPr>
          <p:cNvPr id="12" name="cislo_3"/>
          <p:cNvSpPr/>
          <p:nvPr/>
        </p:nvSpPr>
        <p:spPr>
          <a:xfrm>
            <a:off x="777240" y="40690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zjisteni_3_text"/>
          <p:cNvSpPr txBox="1"/>
          <p:nvPr/>
        </p:nvSpPr>
        <p:spPr>
          <a:xfrm>
            <a:off x="1554480" y="4023360"/>
            <a:ext cx="422132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59 % nepřišlých chodí ke gynekologovi nebo na jinou prevenci.</a:t>
            </a:r>
            <a:r>
              <a:rPr lang="en-US" sz="1800" dirty="0">
                <a:solidFill>
                  <a:schemeClr val="tx1"/>
                </a:solidFill>
              </a:rPr>
              <a:t> Jsou dosažitelné jinou cestou než dopisem.</a:t>
            </a:r>
            <a:endParaRPr lang="en-US" sz="1800" dirty="0"/>
          </a:p>
        </p:txBody>
      </p:sp>
      <p:sp>
        <p:nvSpPr>
          <p:cNvPr id="15" name="zjisteni_4"/>
          <p:cNvSpPr/>
          <p:nvPr/>
        </p:nvSpPr>
        <p:spPr>
          <a:xfrm>
            <a:off x="6233008" y="3840480"/>
            <a:ext cx="5410048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</p:sp>
      <p:sp>
        <p:nvSpPr>
          <p:cNvPr id="16" name="cislo_4"/>
          <p:cNvSpPr/>
          <p:nvPr/>
        </p:nvSpPr>
        <p:spPr>
          <a:xfrm>
            <a:off x="6461608" y="40690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61608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zjisteni_4_text"/>
          <p:cNvSpPr txBox="1"/>
          <p:nvPr/>
        </p:nvSpPr>
        <p:spPr>
          <a:xfrm>
            <a:off x="7238848" y="4023360"/>
            <a:ext cx="422132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Zkřížené dopisy:</a:t>
            </a:r>
            <a:r>
              <a:rPr lang="en-US" sz="1800" dirty="0">
                <a:solidFill>
                  <a:schemeClr val="tx1"/>
                </a:solidFill>
              </a:rPr>
              <a:t> 7 600 dopisů ročně (3 %) jde ženám, které screening měly 0–1 měsíc předem.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Hlavní zjištění (2/2)</a:t>
            </a:r>
            <a:endParaRPr lang="en-US" sz="3000" dirty="0"/>
          </a:p>
        </p:txBody>
      </p:sp>
      <p:sp>
        <p:nvSpPr>
          <p:cNvPr id="3" name="zjisteni_5"/>
          <p:cNvSpPr/>
          <p:nvPr/>
        </p:nvSpPr>
        <p:spPr>
          <a:xfrm>
            <a:off x="548640" y="1234440"/>
            <a:ext cx="5410048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</p:sp>
      <p:sp>
        <p:nvSpPr>
          <p:cNvPr id="4" name="cislo_5"/>
          <p:cNvSpPr/>
          <p:nvPr/>
        </p:nvSpPr>
        <p:spPr>
          <a:xfrm>
            <a:off x="777240" y="14630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6" name="zjisteni_5_text"/>
          <p:cNvSpPr txBox="1"/>
          <p:nvPr/>
        </p:nvSpPr>
        <p:spPr>
          <a:xfrm>
            <a:off x="1554480" y="1417320"/>
            <a:ext cx="422132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Segmenty bez screeningu jsou „lepkavé“.</a:t>
            </a:r>
            <a:r>
              <a:rPr lang="en-US" sz="1800" dirty="0">
                <a:solidFill>
                  <a:schemeClr val="tx1"/>
                </a:solidFill>
              </a:rPr>
              <a:t> Ve stejném segmentu zůstává 56–83 % žen. Každý rok sestoupí 9–15 % „zvaných málokrát“ do „opakovaně nereaguje“.</a:t>
            </a:r>
            <a:endParaRPr lang="en-US" sz="1800" dirty="0"/>
          </a:p>
        </p:txBody>
      </p:sp>
      <p:sp>
        <p:nvSpPr>
          <p:cNvPr id="7" name="zjisteni_6"/>
          <p:cNvSpPr/>
          <p:nvPr/>
        </p:nvSpPr>
        <p:spPr>
          <a:xfrm>
            <a:off x="6233008" y="1234440"/>
            <a:ext cx="5410048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</p:sp>
      <p:sp>
        <p:nvSpPr>
          <p:cNvPr id="8" name="cislo_6"/>
          <p:cNvSpPr/>
          <p:nvPr/>
        </p:nvSpPr>
        <p:spPr>
          <a:xfrm>
            <a:off x="6461608" y="14630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61608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10" name="zjisteni_6_text"/>
          <p:cNvSpPr txBox="1"/>
          <p:nvPr/>
        </p:nvSpPr>
        <p:spPr>
          <a:xfrm>
            <a:off x="7238848" y="1417320"/>
            <a:ext cx="422132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První pozvánka je rozcestí.</a:t>
            </a:r>
            <a:r>
              <a:rPr lang="en-US" sz="1800" dirty="0">
                <a:solidFill>
                  <a:schemeClr val="tx1"/>
                </a:solidFill>
              </a:rPr>
              <a:t> Přijde 57 % žen v kontaktu se zdravotnictvím, ale jen 31–36 % žen s málo kontakty. Z nich je 13 % příští rok odpojených.</a:t>
            </a:r>
            <a:endParaRPr lang="en-US" sz="1800" dirty="0"/>
          </a:p>
        </p:txBody>
      </p:sp>
      <p:sp>
        <p:nvSpPr>
          <p:cNvPr id="11" name="zjisteni_7"/>
          <p:cNvSpPr/>
          <p:nvPr/>
        </p:nvSpPr>
        <p:spPr>
          <a:xfrm>
            <a:off x="548640" y="3840480"/>
            <a:ext cx="5410048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</p:sp>
      <p:sp>
        <p:nvSpPr>
          <p:cNvPr id="12" name="cislo_7"/>
          <p:cNvSpPr/>
          <p:nvPr/>
        </p:nvSpPr>
        <p:spPr>
          <a:xfrm>
            <a:off x="777240" y="40690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000" dirty="0"/>
          </a:p>
        </p:txBody>
      </p:sp>
      <p:sp>
        <p:nvSpPr>
          <p:cNvPr id="14" name="zjisteni_7_text"/>
          <p:cNvSpPr txBox="1"/>
          <p:nvPr/>
        </p:nvSpPr>
        <p:spPr>
          <a:xfrm>
            <a:off x="1554480" y="4023360"/>
            <a:ext cx="422132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Model uvnitř segmentu pomůže jen tam, kde je rozptyl:</a:t>
            </a:r>
            <a:r>
              <a:rPr lang="en-US" sz="1800" dirty="0">
                <a:solidFill>
                  <a:schemeClr val="tx1"/>
                </a:solidFill>
              </a:rPr>
              <a:t> u první pozvánky, vypadlých a žen u gynekologa.</a:t>
            </a:r>
            <a:endParaRPr lang="en-US" sz="1800" dirty="0"/>
          </a:p>
        </p:txBody>
      </p:sp>
      <p:sp>
        <p:nvSpPr>
          <p:cNvPr id="15" name="zjisteni_8"/>
          <p:cNvSpPr/>
          <p:nvPr/>
        </p:nvSpPr>
        <p:spPr>
          <a:xfrm>
            <a:off x="6233008" y="3840480"/>
            <a:ext cx="5410048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</p:sp>
      <p:sp>
        <p:nvSpPr>
          <p:cNvPr id="16" name="cislo_8"/>
          <p:cNvSpPr/>
          <p:nvPr/>
        </p:nvSpPr>
        <p:spPr>
          <a:xfrm>
            <a:off x="6461608" y="40690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61608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000" dirty="0"/>
          </a:p>
        </p:txBody>
      </p:sp>
      <p:sp>
        <p:nvSpPr>
          <p:cNvPr id="18" name="zjisteni_8_text"/>
          <p:cNvSpPr txBox="1"/>
          <p:nvPr/>
        </p:nvSpPr>
        <p:spPr>
          <a:xfrm>
            <a:off x="7238848" y="4023360"/>
            <a:ext cx="422132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Intervenovat co nejdřív v toku:</a:t>
            </a:r>
            <a:r>
              <a:rPr lang="en-US" sz="1800" dirty="0">
                <a:solidFill>
                  <a:schemeClr val="tx1"/>
                </a:solidFill>
              </a:rPr>
              <a:t> první pozvánka a „zvaná málokrát“, dokud žena nesestoupí.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Návrhy experimentů (1/2)</a:t>
            </a:r>
            <a:endParaRPr lang="en-US" sz="3000" dirty="0"/>
          </a:p>
        </p:txBody>
      </p:sp>
      <p:graphicFrame>
        <p:nvGraphicFramePr>
          <p:cNvPr id="13" name="tabulka_experimenty_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4415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3291840"/>
                <a:gridCol w="4937760"/>
                <a:gridCol w="1097280"/>
                <a:gridCol w="1310335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#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Segment (2024)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Intervence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Účast 12M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MDE*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Dopis se minul (7 600)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Ověřit screening těsně před odesláním, dopis odložit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2 %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procesní změna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1. pozvánka, málo kontaktů (7 100)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SMS / telefonát navíc k dopisu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36 %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3,2 p. b.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1. pozvánka, v kontaktu (30 300)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Lepší dopis: informace, sociální norma, předvyplněný termín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60 %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1,6 p. b.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Gynekolog, zvaná málokrát (31 100)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Seznam pacientek gynekologovi, žádanka při prohlídce (klastrová RCT)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27 %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1,4 p. b.**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poznamka"/>
          <p:cNvSpPr txBox="1"/>
          <p:nvPr/>
        </p:nvSpPr>
        <p:spPr>
          <a:xfrm>
            <a:off x="548640" y="4754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* nejmenší zjistitelný rozdíl při rozdělení ročníku segmentu napůl (α = 0,05, síla 80 %) · ** bez design efektu klastrů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Návrhy experimentů (2/2)</a:t>
            </a:r>
            <a:endParaRPr lang="en-US" sz="3000" dirty="0"/>
          </a:p>
        </p:txBody>
      </p:sp>
      <p:graphicFrame>
        <p:nvGraphicFramePr>
          <p:cNvPr id="14" name="tabulka_experimenty_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4415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3291840"/>
                <a:gridCol w="4937760"/>
                <a:gridCol w="1097280"/>
                <a:gridCol w="1310335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#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Segment (2024)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Intervence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Účast 12M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MDE*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Gynekolog, opakovaně nereaguje (19 900)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Objednání přímo v ordinaci místo dopisu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10 %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1,2 p. b.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Jiná prevence, opakovaně nereaguje (59 900)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 ramena: dopis / praktik / 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bez dopisu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 (non-inferiorita)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5 %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0,5 p. b.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Vypadlá 3–4 roky (16 200)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Připomínka s konkrétním termínem (implementation intention)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39 %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2,2 p. b.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karta_vystupy"/>
          <p:cNvSpPr/>
          <p:nvPr/>
        </p:nvSpPr>
        <p:spPr>
          <a:xfrm>
            <a:off x="548640" y="4069080"/>
            <a:ext cx="11094415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5" name="karta_vystupy_text"/>
          <p:cNvSpPr txBox="1"/>
          <p:nvPr/>
        </p:nvSpPr>
        <p:spPr>
          <a:xfrm>
            <a:off x="777240" y="4206240"/>
            <a:ext cx="106372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Společné výstupy:</a:t>
            </a:r>
            <a:r>
              <a:rPr lang="en-US" sz="1500" dirty="0">
                <a:solidFill>
                  <a:schemeClr val="tx1"/>
                </a:solidFill>
              </a:rPr>
              <a:t> účast do 3 / 6 / 12 měsíců, </a:t>
            </a:r>
            <a:r>
              <a:rPr lang="en-US" sz="1500" b="1" dirty="0">
                <a:solidFill>
                  <a:schemeClr val="tx1"/>
                </a:solidFill>
              </a:rPr>
              <a:t>sestup do horšího segmentu</a:t>
            </a:r>
            <a:r>
              <a:rPr lang="en-US" sz="1500" dirty="0">
                <a:solidFill>
                  <a:schemeClr val="tx1"/>
                </a:solidFill>
              </a:rPr>
              <a:t> při další pozvánce, náklad na získanou mamografii. Randomizace uvnitř segmentu s rozvrstvením podle územního pracoviště, analýza ITT.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Omezení</a:t>
            </a:r>
            <a:endParaRPr lang="en-US" sz="3000" dirty="0"/>
          </a:p>
        </p:txBody>
      </p:sp>
      <p:sp>
        <p:nvSpPr>
          <p:cNvPr id="3" name="omezeni_1"/>
          <p:cNvSpPr/>
          <p:nvPr/>
        </p:nvSpPr>
        <p:spPr>
          <a:xfrm>
            <a:off x="548640" y="1234440"/>
            <a:ext cx="5410048" cy="2331720"/>
          </a:xfrm>
          <a:prstGeom prst="roundRect">
            <a:avLst>
              <a:gd name="adj" fmla="val 3137"/>
            </a:avLst>
          </a:prstGeom>
          <a:solidFill>
            <a:schemeClr val="bg1">
              <a:alpha val="12000"/>
            </a:schemeClr>
          </a:solidFill>
          <a:ln/>
        </p:spPr>
      </p:sp>
      <p:sp>
        <p:nvSpPr>
          <p:cNvPr id="4" name="omezeni_1_text"/>
          <p:cNvSpPr txBox="1"/>
          <p:nvPr/>
        </p:nvSpPr>
        <p:spPr>
          <a:xfrm>
            <a:off x="822960" y="1463040"/>
            <a:ext cx="4861408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Segmenty popisují, </a:t>
            </a:r>
            <a:r>
              <a:rPr lang="en-US" sz="1900" b="1" dirty="0">
                <a:solidFill>
                  <a:schemeClr val="bg1"/>
                </a:solidFill>
              </a:rPr>
              <a:t>kdo přijde, ne kdo přijde díky intervenci</a:t>
            </a:r>
            <a:r>
              <a:rPr lang="en-US" sz="1900" dirty="0">
                <a:solidFill>
                  <a:schemeClr val="bg1"/>
                </a:solidFill>
              </a:rPr>
              <a:t>. Páky jsou hypotézy pro experiment.</a:t>
            </a:r>
            <a:endParaRPr lang="en-US" sz="1900" dirty="0"/>
          </a:p>
        </p:txBody>
      </p:sp>
      <p:sp>
        <p:nvSpPr>
          <p:cNvPr id="5" name="omezeni_2"/>
          <p:cNvSpPr/>
          <p:nvPr/>
        </p:nvSpPr>
        <p:spPr>
          <a:xfrm>
            <a:off x="6233008" y="1234440"/>
            <a:ext cx="5410048" cy="2331720"/>
          </a:xfrm>
          <a:prstGeom prst="roundRect">
            <a:avLst>
              <a:gd name="adj" fmla="val 3137"/>
            </a:avLst>
          </a:prstGeom>
          <a:solidFill>
            <a:schemeClr val="bg1">
              <a:alpha val="12000"/>
            </a:schemeClr>
          </a:solidFill>
          <a:ln/>
        </p:spPr>
      </p:sp>
      <p:sp>
        <p:nvSpPr>
          <p:cNvPr id="6" name="omezeni_2_text"/>
          <p:cNvSpPr txBox="1"/>
          <p:nvPr/>
        </p:nvSpPr>
        <p:spPr>
          <a:xfrm>
            <a:off x="6507328" y="1463040"/>
            <a:ext cx="4861408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„Bez screeningu“ = bez kódu za 5 let. Přechod „vypadlá 4–5+ let“ → bez screeningu je zčásti artefakt tohoto okna.</a:t>
            </a:r>
            <a:endParaRPr lang="en-US" sz="1900" dirty="0"/>
          </a:p>
        </p:txBody>
      </p:sp>
      <p:sp>
        <p:nvSpPr>
          <p:cNvPr id="7" name="omezeni_3"/>
          <p:cNvSpPr/>
          <p:nvPr/>
        </p:nvSpPr>
        <p:spPr>
          <a:xfrm>
            <a:off x="548640" y="3840480"/>
            <a:ext cx="5410048" cy="2331720"/>
          </a:xfrm>
          <a:prstGeom prst="roundRect">
            <a:avLst>
              <a:gd name="adj" fmla="val 3137"/>
            </a:avLst>
          </a:prstGeom>
          <a:solidFill>
            <a:schemeClr val="bg1">
              <a:alpha val="12000"/>
            </a:schemeClr>
          </a:solidFill>
          <a:ln/>
        </p:spPr>
      </p:sp>
      <p:sp>
        <p:nvSpPr>
          <p:cNvPr id="8" name="omezeni_3_text"/>
          <p:cNvSpPr txBox="1"/>
          <p:nvPr/>
        </p:nvSpPr>
        <p:spPr>
          <a:xfrm>
            <a:off x="822960" y="4069080"/>
            <a:ext cx="4861408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Účast do 12 měsíců u pozvánek z konce roku 2023 se pozoruje až v roce 2024. Přísně oddělené učení by muselo končit rokem 2022.</a:t>
            </a:r>
            <a:endParaRPr lang="en-US" sz="1900" dirty="0"/>
          </a:p>
        </p:txBody>
      </p:sp>
      <p:sp>
        <p:nvSpPr>
          <p:cNvPr id="9" name="omezeni_4"/>
          <p:cNvSpPr/>
          <p:nvPr/>
        </p:nvSpPr>
        <p:spPr>
          <a:xfrm>
            <a:off x="6233008" y="3840480"/>
            <a:ext cx="5410048" cy="2331720"/>
          </a:xfrm>
          <a:prstGeom prst="roundRect">
            <a:avLst>
              <a:gd name="adj" fmla="val 3137"/>
            </a:avLst>
          </a:prstGeom>
          <a:solidFill>
            <a:schemeClr val="bg1">
              <a:alpha val="12000"/>
            </a:schemeClr>
          </a:solidFill>
          <a:ln/>
        </p:spPr>
      </p:sp>
      <p:sp>
        <p:nvSpPr>
          <p:cNvPr id="10" name="omezeni_4_text"/>
          <p:cNvSpPr txBox="1"/>
          <p:nvPr/>
        </p:nvSpPr>
        <p:spPr>
          <a:xfrm>
            <a:off x="6507328" y="4069080"/>
            <a:ext cx="4861408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V datech nejsou nově pojištěné ženy ani ženy 75+. Územní pracoviště není okres.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Mamograf">
      <a:dk1>
        <a:srgbClr val="262626"/>
      </a:dk1>
      <a:lt1>
        <a:srgbClr val="FFFFFF"/>
      </a:lt1>
      <a:dk2>
        <a:srgbClr val="5B2A45"/>
      </a:dk2>
      <a:lt2>
        <a:srgbClr val="F7EEF2"/>
      </a:lt2>
      <a:accent1>
        <a:srgbClr val="5B2A45"/>
      </a:accent1>
      <a:accent2>
        <a:srgbClr val="2A9D8F"/>
      </a:accent2>
      <a:accent3>
        <a:srgbClr val="E9C9D3"/>
      </a:accent3>
      <a:accent4>
        <a:srgbClr val="3D4F5C"/>
      </a:accent4>
      <a:accent5>
        <a:srgbClr val="B5838D"/>
      </a:accent5>
      <a:accent6>
        <a:srgbClr val="8DBDB5"/>
      </a:accent6>
      <a:hlink>
        <a:srgbClr val="2A9D8F"/>
      </a:hlink>
      <a:folHlink>
        <a:srgbClr val="5B2A45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Od pozvánky k mamografu: segmenty pozvaných žen</dc:title>
  <dc:subject>PptxGenJS Presentation</dc:subject>
  <dc:creator>PptxGenJS</dc:creator>
  <cp:lastModifiedBy>PptxGenJS</cp:lastModifiedBy>
  <cp:revision>1</cp:revision>
  <dcterms:created xsi:type="dcterms:W3CDTF">2026-10-17T08:25:53Z</dcterms:created>
  <dcterms:modified xsi:type="dcterms:W3CDTF">2026-10-17T08:25:53Z</dcterms:modified>
</cp:coreProperties>
</file>
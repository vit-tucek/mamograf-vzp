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Úvod" id="{D9509F33-0D5F-A211-AA72-4F5AD8641F3B}">
          <p14:sldIdLst>
            <p14:sldId id="256"/>
            <p14:sldId id="257"/>
            <p14:sldId id="258"/>
            <p14:sldId id="327"/>
            <p14:sldId id="328"/>
            <p14:sldId id="329"/>
            <p14:sldId id="330"/>
            <p14:sldId id="331"/>
          </p14:sldIdLst>
        </p14:section>
        <p14:section name="Model" id="{CCE29113-D4A8-317F-61A0-C3635F8A45EF}">
          <p14:sldIdLst>
            <p14:sldId id="318"/>
            <p14:sldId id="319"/>
            <p14:sldId id="320"/>
            <p14:sldId id="321"/>
            <p14:sldId id="322"/>
            <p14:sldId id="323"/>
            <p14:sldId id="324"/>
            <p14:sldId id="332"/>
            <p14:sldId id="333"/>
            <p14:sldId id="334"/>
          </p14:sldIdLst>
        </p14:section>
        <p14:section name="Model" id="{0AC06BD6-BB53-4E48-92C6-352B1699892C}">
          <p14:sldIdLst/>
        </p14:section>
        <p14:section name="Problém a příčiny" id="{3DA29C05-E597-4CBD-ABAC-225C8FB1DC35}">
          <p14:sldIdLst>
            <p14:sldId id="259"/>
            <p14:sldId id="260"/>
            <p14:sldId id="261"/>
            <p14:sldId id="262"/>
            <p14:sldId id="286"/>
            <p14:sldId id="304"/>
            <p14:sldId id="285"/>
            <p14:sldId id="284"/>
            <p14:sldId id="283"/>
            <p14:sldId id="281"/>
            <p14:sldId id="280"/>
            <p14:sldId id="279"/>
            <p14:sldId id="278"/>
            <p14:sldId id="277"/>
            <p14:sldId id="276"/>
            <p14:sldId id="275"/>
          </p14:sldIdLst>
        </p14:section>
        <p14:section name="Skupiny a návrhy" id="{421C17CE-61A2-0D87-DAD9-C2BEA89A7DEB}">
          <p14:sldIdLst>
            <p14:sldId id="263"/>
            <p14:sldId id="264"/>
            <p14:sldId id="265"/>
            <p14:sldId id="266"/>
            <p14:sldId id="273"/>
          </p14:sldIdLst>
        </p14:section>
        <p14:section name="Ověření a dopad" id="{225EEA1D-8C4C-152E-A195-CC28FAE774E7}">
          <p14:sldIdLst>
            <p14:sldId id="267"/>
            <p14:sldId id="268"/>
            <p14:sldId id="269"/>
            <p14:sldId id="274"/>
            <p14:sldId id="295"/>
            <p14:sldId id="296"/>
            <p14:sldId id="297"/>
            <p14:sldId id="298"/>
          </p14:sldIdLst>
        </p14:section>
        <p14:section name="Komunikace" id="{82EC2976-A6EC-43FC-80ED-1E53A12D3740}">
          <p14:sldIdLst>
            <p14:sldId id="310"/>
            <p14:sldId id="307"/>
            <p14:sldId id="300"/>
            <p14:sldId id="308"/>
            <p14:sldId id="309"/>
            <p14:sldId id="311"/>
          </p14:sldIdLst>
        </p14:section>
        <p14:section name="Příloha" id="{7AC58F15-9135-444C-95ED-B56E9497F3E8}">
          <p14:sldIdLst>
            <p14:sldId id="271"/>
            <p14:sldId id="272"/>
            <p14:sldId id="305"/>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10-17T01:24:15.244"/>
    <p1510:client id="{7FCB1DC3-EF90-7449-BDC5-16AD28E29D30}" v="5" dt="2026-10-17T01:02:12.481"/>
    <p1510:client id="{A05E5FF7-CE86-B81C-0EA8-15421224548A}" v="13" dt="2026-10-17T10:30:09.920"/>
    <p1510:client id="{A1C84B34-CEF5-B14A-8000-68F8A6018631}" v="630" dt="2026-10-17T01:25:23.814"/>
    <p1510:client id="{A3A62A93-0DD2-70F3-D67F-F3A4CB527190}" v="11" dt="2026-10-17T01:23:52.582"/>
    <p1510:client id="{F68B5562-04A5-F295-4EAD-FED569BB31F9}" v="591" dt="2026-10-17T10:50:22.7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solidFill>
                  <a:srgbClr val="4A4458"/>
                </a:solidFill>
              </a:rPr>
              <a:t>Stadium při diagnóze, ≈ 1 300 nádorů ročně (%)</a:t>
            </a:r>
          </a:p>
        </c:rich>
      </c:tx>
      <c:layout/>
      <c:overlay val="0"/>
    </c:title>
    <c:autoTitleDeleted val="0"/>
    <c:plotArea>
      <c:barChart>
        <c:barDir val="col"/>
        <c:grouping val="percentStacked"/>
        <c:ser>
          <c:idx val="0"/>
          <c:order val="0"/>
          <c:tx>
            <c:strRef>
              <c:f>Sheet1!$B$1</c:f>
              <c:strCache>
                <c:ptCount val="1"/>
                <c:pt idx="0">
                  <c:v>stadium I</c:v>
                </c:pt>
              </c:strCache>
            </c:strRef>
          </c:tx>
          <c:spPr>
            <a:solidFill>
              <a:srgbClr val="003B7A"/>
            </a:solidFill>
          </c:spPr>
          <c:dLbls>
            <c:numFmt formatCode="0.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cat>
            <c:strRef>
              <c:f>Sheet1!$A$2:$A$3</c:f>
              <c:strCache>
                <c:ptCount val="2"/>
                <c:pt idx="0">
                  <c:v>dnes, bez screeningu</c:v>
                </c:pt>
                <c:pt idx="1">
                  <c:v>při screeningu</c:v>
                </c:pt>
              </c:strCache>
            </c:strRef>
          </c:cat>
          <c:val>
            <c:numRef>
              <c:f>Sheet1!$B$2:$B$3</c:f>
              <c:numCache>
                <c:formatCode>General</c:formatCode>
                <c:ptCount val="2"/>
                <c:pt idx="0">
                  <c:v>28.499999999999996</c:v>
                </c:pt>
                <c:pt idx="1">
                  <c:v>75.0</c:v>
                </c:pt>
              </c:numCache>
            </c:numRef>
          </c:val>
        </c:ser>
        <c:ser>
          <c:idx val="1"/>
          <c:order val="1"/>
          <c:tx>
            <c:strRef>
              <c:f>Sheet1!$C$1</c:f>
              <c:strCache>
                <c:ptCount val="1"/>
                <c:pt idx="0">
                  <c:v>stadium II–III</c:v>
                </c:pt>
              </c:strCache>
            </c:strRef>
          </c:tx>
          <c:spPr>
            <a:solidFill>
              <a:srgbClr val="A9C6EA"/>
            </a:solidFill>
          </c:spPr>
          <c:dLbls>
            <c:numFmt formatCode="0.0" sourceLinked="0"/>
            <c:txPr>
              <a:bodyPr/>
              <a:lstStyle/>
              <a:p>
                <a:pPr>
                  <a:defRPr sz="1000">
                    <a:solidFill>
                      <a:srgbClr val="230F3C"/>
                    </a:solidFill>
                  </a:defRPr>
                </a:pPr>
              </a:p>
            </c:txPr>
            <c:dLblPos val="ctr"/>
            <c:showLegendKey val="0"/>
            <c:showVal val="1"/>
            <c:showCatName val="0"/>
            <c:showSerName val="0"/>
            <c:showPercent val="0"/>
            <c:showBubbleSize val="0"/>
            <c:showLeaderLines val="1"/>
          </c:dLbls>
          <c:cat>
            <c:strRef>
              <c:f>Sheet1!$A$2:$A$3</c:f>
              <c:strCache>
                <c:ptCount val="2"/>
                <c:pt idx="0">
                  <c:v>dnes, bez screeningu</c:v>
                </c:pt>
                <c:pt idx="1">
                  <c:v>při screeningu</c:v>
                </c:pt>
              </c:strCache>
            </c:strRef>
          </c:cat>
          <c:val>
            <c:numRef>
              <c:f>Sheet1!$C$2:$C$3</c:f>
              <c:numCache>
                <c:formatCode>General</c:formatCode>
                <c:ptCount val="2"/>
                <c:pt idx="0">
                  <c:v>56.00000000000001</c:v>
                </c:pt>
                <c:pt idx="1">
                  <c:v>24.3</c:v>
                </c:pt>
              </c:numCache>
            </c:numRef>
          </c:val>
        </c:ser>
        <c:ser>
          <c:idx val="2"/>
          <c:order val="2"/>
          <c:tx>
            <c:strRef>
              <c:f>Sheet1!$D$1</c:f>
              <c:strCache>
                <c:ptCount val="1"/>
                <c:pt idx="0">
                  <c:v>stadium IV</c:v>
                </c:pt>
              </c:strCache>
            </c:strRef>
          </c:tx>
          <c:spPr>
            <a:solidFill>
              <a:srgbClr val="D27869"/>
            </a:solidFill>
          </c:spPr>
          <c:dLbls>
            <c:numFmt formatCode="0.0" sourceLinked="0"/>
            <c:txPr>
              <a:bodyPr/>
              <a:lstStyle/>
              <a:p>
                <a:pPr>
                  <a:defRPr sz="1000">
                    <a:solidFill>
                      <a:srgbClr val="FFFFFF"/>
                    </a:solidFill>
                  </a:defRPr>
                </a:pPr>
              </a:p>
            </c:txPr>
            <c:dLblPos val="ctr"/>
            <c:showLegendKey val="0"/>
            <c:showVal val="0"/>
            <c:showCatName val="0"/>
            <c:showSerName val="0"/>
            <c:showPercent val="0"/>
            <c:showBubbleSize val="0"/>
            <c:showLeaderLines val="1"/>
          </c:dLbls>
          <c:cat>
            <c:strRef>
              <c:f>Sheet1!$A$2:$A$3</c:f>
              <c:strCache>
                <c:ptCount val="2"/>
                <c:pt idx="0">
                  <c:v>dnes, bez screeningu</c:v>
                </c:pt>
                <c:pt idx="1">
                  <c:v>při screeningu</c:v>
                </c:pt>
              </c:strCache>
            </c:strRef>
          </c:cat>
          <c:val>
            <c:numRef>
              <c:f>Sheet1!$D$2:$D$3</c:f>
              <c:numCache>
                <c:formatCode>General</c:formatCode>
                <c:ptCount val="2"/>
                <c:pt idx="0">
                  <c:v>15.5</c:v>
                </c:pt>
                <c:pt idx="1">
                  <c:v>0.7000000000000001</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DEDCEC"/>
            </a:solidFill>
          </a:ln>
        </c:spPr>
        <c:txPr>
          <a:bodyPr/>
          <a:lstStyle/>
          <a:p>
            <a:pPr>
              <a:defRPr sz="1000">
                <a:solidFill>
                  <a:srgbClr val="4A445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950">
              <a:solidFill>
                <a:srgbClr val="4A4458"/>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086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5 s. Dobrý den, jsme Mámo, graf! z Weiner &amp; Partners.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40 s. Za poslední dva roky přišlo na screening jen 61 procent žen ve věku 45 až 74 let; bez mamografie je nejméně 480 tisíc klientek VZP. Screening by u nich ročně našel asi 1 300 nádorů dřív: bez screeningu je v prvním stadiu necelá třetina, ve screeningu tři čtvrtiny. Kdyby přišly všechny, šlo by ročně o 155 odvrácených úmrtí, 920 let života ve zdraví a 120 milionů korun. To je teoretický strop. (Výpočet v docs/vzp_pitch/dopad.py: 847 770 žen bez mamografie (ČSÚ, ÚZIS) × podíl VZP 56,7 % (MZ ČR, Hodnocení v. z. p. 2023; podíl státních pojištěnců je u všech pojišťoven podobný, věková struktura tedy také); strop = každá jednou za dva roky. Kontrola: incidence NOR × podíl bez screeningu × podíl VZP = 1 282 nádorů. Čistá úspora platí při ceně léčby IV. stadia 3 mil. Kč, pod 1,9 mil. Kč vychází nula; náklady modelu zahrnují příspěvek 1 000 Kč na vyšetření, ověřit s týmem. Robustní metrika: 0,26 mil. Kč za QALY.)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30 s. Naše řešení stojí na třech zdrojích. Z vědecké literatury víme, která opatření fungují a jak moc. Statistický model nad 1,34 milionu pozvánek VZP ukáže, kdo přijde a kdo ne. Z e-commerce přinášíme způsob práce: segmentaci podle chování, automatické kaskády zpráv a A/B testy. Výsledkem je segmentace klientek a pro každý segment nový kanál, jehož účinek změříme proti kontrolní skupině.</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35 s. Odkud segmenty? Ze tří otázek nad daty, která VZP poskytla. Zaprvé historie screeningu: nedávno vyšetřená, první pozvánka, nebo vypadla z rytmu. Zadruhé, chodí na jinou prevenci, ke gynekologovi nebo k zubaři a praktikovi? Zatřetí, je vůbec v kontaktu se zdravotnictvím? Tak vznikne sedm skupin s účastí od 2 do 55 procent. Pravidla jsme stanovili na letech 2020 až 2023 a otestovali na roce 2024: segmenty seřadí ženy skoro stejně dobře jako celý model. (AUC segmentů 0,789 je přepočet z dat; AUC 0,83 logistické regrese je model týmu z prezentace v41.)</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35 s. Každý segment dostane kanál, kterým ho zastihneme, a opatření, které podle studií funguje. Prvním pozvaným a vypadlým pevný termín místo otevřené pozvánky: plus deset až devatenáct bodů. Ženám u gynekologa nebo praktika oslovení přes lékaře. Nedávno vyšetřeným dopis neposíláme. Každý kanál je měřitelný: kontrolní skupina dostane dnešní dopis a výsledek čteme z vykázaných mamografií.</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40 s. Náš výsledek. Z 480 tisíc klientek VZP bez mamografie jsou asi tři čtvrtiny v segmentech B až E, kde máme kanál s doloženým účinkem. Podle rozpětí ze studií získáme 22 až 49 tisíc mamografií ročně. To je 120 až 268 nádorů zachycených dřív, 14 až 32 odvrácených úmrtí, 83 až 186 let života ve zdraví a 11 až 24 milionů korun čisté úspory ročně. Nabízíme VZP pilot s randomizací, model i kód předáme. Děkujeme. (Mamografie navíc: B+C 66 037 žen × 10–19 p. b. a D+E 140 398 žen × 2–6 p. b. z pozvánek 2024, vynásobeno 2,32 = klientky VZP bez screeningu / nepřišlé v pozvánkách 2024, tedy stejné rozložení segmentů. Plošná SMS: 480 428 × 2–5 p. b.; nesčítá se s cílenými kanály. Metriky na 1 000 vyšetření z finančního modelu a modelu posunu stadia, viz dopad.py.)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img/logo_white.png"/>
          <p:cNvPicPr>
            <a:picLocks noChangeAspect="1"/>
          </p:cNvPicPr>
          <p:nvPr/>
        </p:nvPicPr>
        <p:blipFill>
          <a:blip r:embed="rId3"/>
          <a:stretch>
            <a:fillRect/>
          </a:stretch>
        </p:blipFill>
        <p:spPr>
          <a:xfrm>
            <a:off x="777240" y="548640"/>
            <a:ext cx="2350008"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Obsah světlý">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chemeClr val="accent1"/>
          </a:solidFill>
          <a:ln/>
        </p:spPr>
      </p:sp>
      <p:sp>
        <p:nvSpPr>
          <p:cNvPr id="3" name="Text 1"/>
          <p:cNvSpPr>
            <a:spLocks noGrp="1"/>
          </p:cNvSpPr>
          <p:nvPr>
            <p:ph type="title" idx="101" hasCustomPrompt="1"/>
          </p:nvPr>
        </p:nvSpPr>
        <p:spPr>
          <a:xfrm>
            <a:off x="812902" y="749808"/>
            <a:ext cx="10570464" cy="6400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r>
              <a:rPr lang="en-US" sz="3600" b="1">
                <a:solidFill>
                  <a:schemeClr val="tx1"/>
                </a:solidFill>
              </a:rPr>
              <a:t>Nadpis</a:t>
            </a:r>
            <a:endParaRPr lang="en-US" sz="3600"/>
          </a:p>
        </p:txBody>
      </p:sp>
      <p:sp>
        <p:nvSpPr>
          <p:cNvPr id="25" name="Slide Number Placeholder 0"/>
          <p:cNvSpPr>
            <a:spLocks noGrp="1"/>
          </p:cNvSpPr>
          <p:nvPr>
            <p:ph type="sldNum" sz="quarter" idx="4294967295"/>
          </p:nvPr>
        </p:nvSpPr>
        <p:spPr>
          <a:xfrm>
            <a:off x="10927080" y="6245352"/>
            <a:ext cx="457200" cy="22860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1"/>
                </a:solidFill>
              </a:defRPr>
            </a:lvl1pPr>
          </a:lstStyle>
          <a:p>
            <a:pPr algn="r"/>
            <a:fld id="{F7021451-1387-4CA6-816F-3879F97B5CBC}" type="slidenum">
              <a:rPr lang="en-US" b="1"/>
              <a:t>‹#›</a:t>
            </a:fld>
            <a:endParaRPr lang="en-US"/>
          </a:p>
        </p:txBody>
      </p:sp>
    </p:spTree>
    <p:extLst>
      <p:ext uri="{BB962C8B-B14F-4D97-AF65-F5344CB8AC3E}">
        <p14:creationId xmlns:p14="http://schemas.microsoft.com/office/powerpoint/2010/main" val="4051712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Obsah šedý">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chemeClr val="accent1"/>
          </a:solidFill>
          <a:ln/>
        </p:spPr>
      </p:sp>
      <p:sp>
        <p:nvSpPr>
          <p:cNvPr id="3" name="Text 1"/>
          <p:cNvSpPr>
            <a:spLocks noGrp="1"/>
          </p:cNvSpPr>
          <p:nvPr>
            <p:ph type="title" idx="101" hasCustomPrompt="1"/>
          </p:nvPr>
        </p:nvSpPr>
        <p:spPr>
          <a:xfrm>
            <a:off x="812902" y="749808"/>
            <a:ext cx="10570464" cy="6400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r>
              <a:rPr lang="en-US" sz="3600" b="1">
                <a:solidFill>
                  <a:schemeClr val="tx1"/>
                </a:solidFill>
              </a:rPr>
              <a:t>Nadpis</a:t>
            </a:r>
            <a:endParaRPr lang="en-US" sz="3600"/>
          </a:p>
        </p:txBody>
      </p:sp>
      <p:sp>
        <p:nvSpPr>
          <p:cNvPr id="25" name="Slide Number Placeholder 0"/>
          <p:cNvSpPr>
            <a:spLocks noGrp="1"/>
          </p:cNvSpPr>
          <p:nvPr>
            <p:ph type="sldNum" sz="quarter" idx="4294967295"/>
          </p:nvPr>
        </p:nvSpPr>
        <p:spPr>
          <a:xfrm>
            <a:off x="10927080" y="6245352"/>
            <a:ext cx="457200" cy="22860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1"/>
                </a:solidFill>
              </a:defRPr>
            </a:lvl1pPr>
          </a:lstStyle>
          <a:p>
            <a:pPr algn="r"/>
            <a:fld id="{F7021451-1387-4CA6-816F-3879F97B5CBC}" type="slidenum">
              <a:rPr lang="en-US" b="1"/>
              <a:t>‹#›</a:t>
            </a:fld>
            <a:endParaRPr lang="en-US"/>
          </a:p>
        </p:txBody>
      </p:sp>
    </p:spTree>
    <p:extLst>
      <p:ext uri="{BB962C8B-B14F-4D97-AF65-F5344CB8AC3E}">
        <p14:creationId xmlns:p14="http://schemas.microsoft.com/office/powerpoint/2010/main" val="1264773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bsah">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31520"/>
          </a:xfrm>
          <a:prstGeom prst="rect">
            <a:avLst/>
          </a:prstGeom>
          <a:noFill/>
          <a:ln/>
        </p:spPr>
        <p:txBody>
          <a:bodyPr wrap="square" rtlCol="0"/>
          <a:lstStyle>
            <a:lvl1pPr marL="0" indent="0" algn="l">
              <a:buNone/>
              <a:defRPr lang="en-US" sz="3000" b="1" dirty="0">
                <a:solidFill>
                  <a:schemeClr val="accent1"/>
                </a:solidFill>
              </a:defRPr>
            </a:lvl1pPr>
          </a:lstStyle>
          <a:p>
            <a:pPr marL="0" indent="0" algn="l">
              <a:buNone/>
            </a:pPr>
            <a:endParaRPr lang="en-US" sz="300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a:solidFill>
                  <a:schemeClr val="accent4"/>
                </a:solidFill>
              </a:rPr>
              <a:t>Koncept · systém cílené prevence VZP</a:t>
            </a:r>
            <a:endParaRPr lang="en-US" sz="100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619213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mavy">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a:solidFill>
                  <a:schemeClr val="accent3"/>
                </a:solidFill>
              </a:rPr>
              <a:t>Koncept · systém cílené prevence VZP</a:t>
            </a:r>
            <a:endParaRPr lang="en-US" sz="100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967017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BSAH">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img/logo_black.png"/>
          <p:cNvPicPr>
            <a:picLocks noChangeAspect="1"/>
          </p:cNvPicPr>
          <p:nvPr/>
        </p:nvPicPr>
        <p:blipFill>
          <a:blip r:embed="rId3"/>
          <a:stretch>
            <a:fillRect/>
          </a:stretch>
        </p:blipFill>
        <p:spPr>
          <a:xfrm>
            <a:off x="777240" y="6355080"/>
            <a:ext cx="1051560" cy="118872"/>
          </a:xfrm>
          <a:prstGeom prst="rect">
            <a:avLst/>
          </a:prstGeom>
        </p:spPr>
      </p:pic>
      <p:sp>
        <p:nvSpPr>
          <p:cNvPr id="3" name="Text 0"/>
          <p:cNvSpPr>
            <a:spLocks noGrp="1"/>
          </p:cNvSpPr>
          <p:nvPr>
            <p:ph type="body" idx="101" hasCustomPrompt="1"/>
          </p:nvPr>
        </p:nvSpPr>
        <p:spPr>
          <a:xfrm>
            <a:off x="777240" y="457200"/>
            <a:ext cx="10634472" cy="292608"/>
          </a:xfrm>
          <a:prstGeom prst="rect">
            <a:avLst/>
          </a:prstGeom>
          <a:noFill/>
          <a:ln/>
        </p:spPr>
        <p:txBody>
          <a:bodyPr wrap="square" rtlCol="0"/>
          <a:lstStyle>
            <a:lvl1pPr marL="0" indent="0">
              <a:buNone/>
              <a:defRPr lang="en-US" sz="900" kern="0" spc="300" dirty="0">
                <a:solidFill>
                  <a:srgbClr val="7A78C3"/>
                </a:solidFill>
              </a:defRPr>
            </a:lvl1pPr>
          </a:lstStyle>
          <a:p>
            <a:pPr marL="0" indent="0">
              <a:buNone/>
            </a:pPr>
            <a:endParaRPr lang="en-US" sz="900"/>
          </a:p>
        </p:txBody>
      </p:sp>
      <p:sp>
        <p:nvSpPr>
          <p:cNvPr id="4" name="Text 0"/>
          <p:cNvSpPr>
            <a:spLocks noGrp="1"/>
          </p:cNvSpPr>
          <p:nvPr>
            <p:ph type="title" idx="102" hasCustomPrompt="1"/>
          </p:nvPr>
        </p:nvSpPr>
        <p:spPr>
          <a:xfrm>
            <a:off x="777240" y="768096"/>
            <a:ext cx="10634472" cy="731520"/>
          </a:xfrm>
          <a:prstGeom prst="rect">
            <a:avLst/>
          </a:prstGeom>
          <a:noFill/>
          <a:ln/>
        </p:spPr>
        <p:txBody>
          <a:bodyPr wrap="square" rtlCol="0"/>
          <a:lstStyle>
            <a:lvl1pPr marL="0" indent="0" algn="l">
              <a:buNone/>
              <a:defRPr lang="en-US" sz="2400" dirty="0">
                <a:solidFill>
                  <a:srgbClr val="230F3C"/>
                </a:solidFill>
                <a:latin typeface="Poppins" pitchFamily="34" charset="0"/>
                <a:ea typeface="Poppins" pitchFamily="34" charset="-122"/>
                <a:cs typeface="Poppins"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0863072" y="6345936"/>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4A445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3072" y="6345936"/>
            <a:ext cx="54864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4A445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1"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148840"/>
            <a:ext cx="8686800" cy="1737360"/>
          </a:xfrm>
          <a:prstGeom prst="rect">
            <a:avLst/>
          </a:prstGeom>
          <a:noFill/>
        </p:spPr>
        <p:txBody>
          <a:bodyPr wrap="square" lIns="0" rIns="0" tIns="0" bIns="0" anchor="t">
            <a:spAutoFit/>
          </a:bodyPr>
          <a:lstStyle/>
          <a:p>
            <a:pPr algn="l">
              <a:spcAft>
                <a:spcPts val="0"/>
              </a:spcAft>
            </a:pPr>
            <a:r>
              <a:rPr sz="4000" b="0">
                <a:solidFill>
                  <a:srgbClr val="FFFFFF"/>
                </a:solidFill>
              </a:rPr>
              <a:t>Mámo, graf!</a:t>
            </a:r>
          </a:p>
          <a:p>
            <a:pPr algn="l">
              <a:spcAft>
                <a:spcPts val="0"/>
              </a:spcAft>
            </a:pPr>
            <a:r>
              <a:rPr sz="4000" b="0">
                <a:solidFill>
                  <a:srgbClr val="FFFFFF"/>
                </a:solidFill>
              </a:rPr>
              <a:t>Od pozvánky k mamografu</a:t>
            </a:r>
          </a:p>
        </p:txBody>
      </p:sp>
      <p:sp>
        <p:nvSpPr>
          <p:cNvPr id="3" name="TextBox 2"/>
          <p:cNvSpPr txBox="1"/>
          <p:nvPr/>
        </p:nvSpPr>
        <p:spPr>
          <a:xfrm>
            <a:off x="777240" y="4023360"/>
            <a:ext cx="8686800" cy="365760"/>
          </a:xfrm>
          <a:prstGeom prst="rect">
            <a:avLst/>
          </a:prstGeom>
          <a:noFill/>
        </p:spPr>
        <p:txBody>
          <a:bodyPr wrap="square" lIns="0" rIns="0" tIns="0" bIns="0" anchor="t">
            <a:spAutoFit/>
          </a:bodyPr>
          <a:lstStyle/>
          <a:p>
            <a:pPr algn="l">
              <a:spcAft>
                <a:spcPts val="0"/>
              </a:spcAft>
            </a:pPr>
            <a:r>
              <a:rPr sz="1400" b="0">
                <a:solidFill>
                  <a:srgbClr val="DAD8F2"/>
                </a:solidFill>
              </a:rPr>
              <a:t>Co je ve hře, jak to získat a kolik přineseme · Rakathon 2026 · výzva VZP</a:t>
            </a:r>
          </a:p>
        </p:txBody>
      </p:sp>
      <p:sp>
        <p:nvSpPr>
          <p:cNvPr id="4" name="TextBox 3"/>
          <p:cNvSpPr txBox="1"/>
          <p:nvPr/>
        </p:nvSpPr>
        <p:spPr>
          <a:xfrm>
            <a:off x="777240" y="4709160"/>
            <a:ext cx="2926080" cy="274320"/>
          </a:xfrm>
          <a:prstGeom prst="rect">
            <a:avLst/>
          </a:prstGeom>
          <a:noFill/>
        </p:spPr>
        <p:txBody>
          <a:bodyPr wrap="square" lIns="0" rIns="0" tIns="0" bIns="0" anchor="t">
            <a:spAutoFit/>
          </a:bodyPr>
          <a:lstStyle/>
          <a:p>
            <a:pPr algn="l">
              <a:spcAft>
                <a:spcPts val="0"/>
              </a:spcAft>
            </a:pPr>
            <a:r>
              <a:rPr sz="1200" b="0">
                <a:solidFill>
                  <a:srgbClr val="DAD8F2"/>
                </a:solidFill>
              </a:rPr>
              <a:t>Každé číslo stojí na třech zdrojích:</a:t>
            </a:r>
          </a:p>
        </p:txBody>
      </p:sp>
      <p:sp>
        <p:nvSpPr>
          <p:cNvPr id="5" name="Rounded Rectangle 4"/>
          <p:cNvSpPr/>
          <p:nvPr/>
        </p:nvSpPr>
        <p:spPr>
          <a:xfrm>
            <a:off x="3749039" y="4727448"/>
            <a:ext cx="850392" cy="246888"/>
          </a:xfrm>
          <a:prstGeom prst="roundRect">
            <a:avLst>
              <a:gd name="adj" fmla="val 50000"/>
            </a:avLst>
          </a:prstGeom>
          <a:solidFill>
            <a:srgbClr val="003B7A"/>
          </a:solidFill>
          <a:ln>
            <a:noFill/>
          </a:ln>
        </p:spPr>
        <p:txBody>
          <a:bodyPr rtlCol="0" anchor="ctr" lIns="0" rIns="0" tIns="0" bIns="0"/>
          <a:lstStyle/>
          <a:p>
            <a:pPr algn="ctr"/>
            <a:r>
              <a:rPr sz="900" b="1">
                <a:solidFill>
                  <a:srgbClr val="FFFFFF"/>
                </a:solidFill>
              </a:rPr>
              <a:t>Data VZP</a:t>
            </a:r>
          </a:p>
        </p:txBody>
      </p:sp>
      <p:sp>
        <p:nvSpPr>
          <p:cNvPr id="6" name="Rounded Rectangle 5"/>
          <p:cNvSpPr/>
          <p:nvPr/>
        </p:nvSpPr>
        <p:spPr>
          <a:xfrm>
            <a:off x="4672583" y="4727448"/>
            <a:ext cx="1005840" cy="246888"/>
          </a:xfrm>
          <a:prstGeom prst="roundRect">
            <a:avLst>
              <a:gd name="adj" fmla="val 50000"/>
            </a:avLst>
          </a:prstGeom>
          <a:solidFill>
            <a:srgbClr val="3D7CC9"/>
          </a:solidFill>
          <a:ln>
            <a:noFill/>
          </a:ln>
        </p:spPr>
        <p:txBody>
          <a:bodyPr rtlCol="0" anchor="ctr" lIns="0" rIns="0" tIns="0" bIns="0"/>
          <a:lstStyle/>
          <a:p>
            <a:pPr algn="ctr"/>
            <a:r>
              <a:rPr sz="900" b="1">
                <a:solidFill>
                  <a:srgbClr val="FFFFFF"/>
                </a:solidFill>
              </a:rPr>
              <a:t>Literatura</a:t>
            </a:r>
          </a:p>
        </p:txBody>
      </p:sp>
      <p:sp>
        <p:nvSpPr>
          <p:cNvPr id="7" name="Rounded Rectangle 6"/>
          <p:cNvSpPr/>
          <p:nvPr/>
        </p:nvSpPr>
        <p:spPr>
          <a:xfrm>
            <a:off x="5751575" y="4727448"/>
            <a:ext cx="1005840" cy="246888"/>
          </a:xfrm>
          <a:prstGeom prst="roundRect">
            <a:avLst>
              <a:gd name="adj" fmla="val 50000"/>
            </a:avLst>
          </a:prstGeom>
          <a:solidFill>
            <a:srgbClr val="D27869"/>
          </a:solidFill>
          <a:ln>
            <a:noFill/>
          </a:ln>
        </p:spPr>
        <p:txBody>
          <a:bodyPr rtlCol="0" anchor="ctr" lIns="0" rIns="0" tIns="0" bIns="0"/>
          <a:lstStyle/>
          <a:p>
            <a:pPr algn="ctr"/>
            <a:r>
              <a:rPr sz="900" b="1">
                <a:solidFill>
                  <a:srgbClr val="FFFFFF"/>
                </a:solidFill>
              </a:rPr>
              <a:t>E-commerce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CO JE VE HŘE</a:t>
            </a:r>
          </a:p>
        </p:txBody>
      </p:sp>
      <p:sp>
        <p:nvSpPr>
          <p:cNvPr id="3" name="Title 2"/>
          <p:cNvSpPr>
            <a:spLocks noGrp="1"/>
          </p:cNvSpPr>
          <p:nvPr>
            <p:ph type="title" idx="102"/>
          </p:nvPr>
        </p:nvSpPr>
        <p:spPr/>
        <p:txBody>
          <a:bodyPr/>
          <a:lstStyle/>
          <a:p>
            <a:r>
              <a:t>U 480 tisíc klientek VZP bez screeningu se nádory prsu najdou pozdě</a:t>
            </a:r>
          </a:p>
        </p:txBody>
      </p:sp>
      <p:sp>
        <p:nvSpPr>
          <p:cNvPr id="4" name="TextBox 3"/>
          <p:cNvSpPr txBox="1"/>
          <p:nvPr/>
        </p:nvSpPr>
        <p:spPr>
          <a:xfrm>
            <a:off x="777240" y="1481328"/>
            <a:ext cx="10634472" cy="457200"/>
          </a:xfrm>
          <a:prstGeom prst="rect">
            <a:avLst/>
          </a:prstGeom>
          <a:noFill/>
        </p:spPr>
        <p:txBody>
          <a:bodyPr wrap="square" lIns="0" rIns="0" tIns="0" bIns="0" anchor="t">
            <a:spAutoFit/>
          </a:bodyPr>
          <a:lstStyle/>
          <a:p>
            <a:pPr algn="l">
              <a:spcAft>
                <a:spcPts val="0"/>
              </a:spcAft>
            </a:pPr>
            <a:r>
              <a:rPr sz="1300" b="0">
                <a:solidFill>
                  <a:srgbClr val="4A4458"/>
                </a:solidFill>
              </a:rPr>
              <a:t>Za roky 2023–2024 přišlo na screeningovou mamografii jen 61 % žen ve věku 45–74 let. Klientek VZP bez mamografie je nejméně 480 tisíc; screening by u nich ročně našel asi 1 300 karcinomů prsu dřív.</a:t>
            </a:r>
          </a:p>
        </p:txBody>
      </p:sp>
      <p:sp>
        <p:nvSpPr>
          <p:cNvPr id="5" name="Rounded Rectangle 4"/>
          <p:cNvSpPr/>
          <p:nvPr/>
        </p:nvSpPr>
        <p:spPr>
          <a:xfrm>
            <a:off x="8403336" y="457200"/>
            <a:ext cx="1005840" cy="246888"/>
          </a:xfrm>
          <a:prstGeom prst="roundRect">
            <a:avLst>
              <a:gd name="adj" fmla="val 50000"/>
            </a:avLst>
          </a:prstGeom>
          <a:solidFill>
            <a:srgbClr val="7A78C3"/>
          </a:solidFill>
          <a:ln>
            <a:noFill/>
          </a:ln>
        </p:spPr>
        <p:txBody>
          <a:bodyPr rtlCol="0" anchor="ctr" lIns="0" rIns="0" tIns="0" bIns="0"/>
          <a:lstStyle/>
          <a:p>
            <a:pPr algn="ctr"/>
            <a:r>
              <a:rPr sz="900" b="1">
                <a:solidFill>
                  <a:srgbClr val="FFFFFF"/>
                </a:solidFill>
              </a:rPr>
              <a:t>ÚZIS a ČSÚ</a:t>
            </a:r>
          </a:p>
        </p:txBody>
      </p:sp>
      <p:sp>
        <p:nvSpPr>
          <p:cNvPr id="6" name="Rounded Rectangle 5"/>
          <p:cNvSpPr/>
          <p:nvPr/>
        </p:nvSpPr>
        <p:spPr>
          <a:xfrm>
            <a:off x="9482328" y="457200"/>
            <a:ext cx="850392" cy="246888"/>
          </a:xfrm>
          <a:prstGeom prst="roundRect">
            <a:avLst>
              <a:gd name="adj" fmla="val 50000"/>
            </a:avLst>
          </a:prstGeom>
          <a:solidFill>
            <a:srgbClr val="003B7A"/>
          </a:solidFill>
          <a:ln>
            <a:noFill/>
          </a:ln>
        </p:spPr>
        <p:txBody>
          <a:bodyPr rtlCol="0" anchor="ctr" lIns="0" rIns="0" tIns="0" bIns="0"/>
          <a:lstStyle/>
          <a:p>
            <a:pPr algn="ctr"/>
            <a:r>
              <a:rPr sz="900" b="1">
                <a:solidFill>
                  <a:srgbClr val="FFFFFF"/>
                </a:solidFill>
              </a:rPr>
              <a:t>Data VZP</a:t>
            </a:r>
          </a:p>
        </p:txBody>
      </p:sp>
      <p:sp>
        <p:nvSpPr>
          <p:cNvPr id="7" name="Rounded Rectangle 6"/>
          <p:cNvSpPr/>
          <p:nvPr/>
        </p:nvSpPr>
        <p:spPr>
          <a:xfrm>
            <a:off x="10405872" y="457200"/>
            <a:ext cx="1005840" cy="246888"/>
          </a:xfrm>
          <a:prstGeom prst="roundRect">
            <a:avLst>
              <a:gd name="adj" fmla="val 50000"/>
            </a:avLst>
          </a:prstGeom>
          <a:solidFill>
            <a:srgbClr val="3D7CC9"/>
          </a:solidFill>
          <a:ln>
            <a:noFill/>
          </a:ln>
        </p:spPr>
        <p:txBody>
          <a:bodyPr rtlCol="0" anchor="ctr" lIns="0" rIns="0" tIns="0" bIns="0"/>
          <a:lstStyle/>
          <a:p>
            <a:pPr algn="ctr"/>
            <a:r>
              <a:rPr sz="900" b="1">
                <a:solidFill>
                  <a:srgbClr val="FFFFFF"/>
                </a:solidFill>
              </a:rPr>
              <a:t>Literatura</a:t>
            </a:r>
          </a:p>
        </p:txBody>
      </p:sp>
      <p:sp>
        <p:nvSpPr>
          <p:cNvPr id="8" name="Rounded Rectangle 7"/>
          <p:cNvSpPr/>
          <p:nvPr/>
        </p:nvSpPr>
        <p:spPr>
          <a:xfrm>
            <a:off x="777240" y="2103120"/>
            <a:ext cx="3063240" cy="1097280"/>
          </a:xfrm>
          <a:prstGeom prst="roundRect">
            <a:avLst>
              <a:gd name="adj" fmla="val 6000"/>
            </a:avLst>
          </a:prstGeom>
          <a:solidFill>
            <a:srgbClr val="FFFFFF"/>
          </a:solidFill>
          <a:ln w="9525">
            <a:solidFill>
              <a:srgbClr val="DEDCEC"/>
            </a:solidFill>
          </a:ln>
        </p:spPr>
        <p:txBody>
          <a:bodyPr rtlCol="0" anchor="ctr"/>
          <a:lstStyle/>
          <a:p>
            <a:pPr algn="ctr"/>
          </a:p>
        </p:txBody>
      </p:sp>
      <p:sp>
        <p:nvSpPr>
          <p:cNvPr id="9" name="TextBox 8"/>
          <p:cNvSpPr txBox="1"/>
          <p:nvPr/>
        </p:nvSpPr>
        <p:spPr>
          <a:xfrm>
            <a:off x="960120" y="2194560"/>
            <a:ext cx="2697480" cy="411480"/>
          </a:xfrm>
          <a:prstGeom prst="rect">
            <a:avLst/>
          </a:prstGeom>
          <a:noFill/>
        </p:spPr>
        <p:txBody>
          <a:bodyPr wrap="square" lIns="0" rIns="0" tIns="0" bIns="0" anchor="t">
            <a:spAutoFit/>
          </a:bodyPr>
          <a:lstStyle/>
          <a:p>
            <a:pPr algn="l">
              <a:spcAft>
                <a:spcPts val="0"/>
              </a:spcAft>
            </a:pPr>
            <a:r>
              <a:rPr sz="2200" b="1">
                <a:solidFill>
                  <a:srgbClr val="003B7A"/>
                </a:solidFill>
              </a:rPr>
              <a:t>≈ 848 tis.</a:t>
            </a:r>
          </a:p>
        </p:txBody>
      </p:sp>
      <p:sp>
        <p:nvSpPr>
          <p:cNvPr id="10" name="TextBox 9"/>
          <p:cNvSpPr txBox="1"/>
          <p:nvPr/>
        </p:nvSpPr>
        <p:spPr>
          <a:xfrm>
            <a:off x="960120" y="2633472"/>
            <a:ext cx="2697480" cy="548640"/>
          </a:xfrm>
          <a:prstGeom prst="rect">
            <a:avLst/>
          </a:prstGeom>
          <a:noFill/>
        </p:spPr>
        <p:txBody>
          <a:bodyPr wrap="square" lIns="0" rIns="0" tIns="0" bIns="0" anchor="t">
            <a:spAutoFit/>
          </a:bodyPr>
          <a:lstStyle/>
          <a:p>
            <a:pPr algn="l">
              <a:spcAft>
                <a:spcPts val="0"/>
              </a:spcAft>
            </a:pPr>
            <a:r>
              <a:rPr sz="1000" b="0">
                <a:solidFill>
                  <a:srgbClr val="4A4458"/>
                </a:solidFill>
              </a:rPr>
              <a:t>žen 45–74 bez mamografie za 2 roky (ÚZIS, ČSÚ)</a:t>
            </a:r>
          </a:p>
        </p:txBody>
      </p:sp>
      <p:sp>
        <p:nvSpPr>
          <p:cNvPr id="11" name="Right Arrow 10"/>
          <p:cNvSpPr/>
          <p:nvPr/>
        </p:nvSpPr>
        <p:spPr>
          <a:xfrm rot="5400000">
            <a:off x="2167128" y="3218687"/>
            <a:ext cx="274320" cy="274320"/>
          </a:xfrm>
          <a:prstGeom prst="rightArrow">
            <a:avLst/>
          </a:prstGeom>
          <a:solidFill>
            <a:srgbClr val="A9C6EA"/>
          </a:solidFill>
          <a:ln>
            <a:noFill/>
          </a:ln>
        </p:spPr>
        <p:txBody>
          <a:bodyPr rtlCol="0" anchor="ctr"/>
          <a:lstStyle/>
          <a:p>
            <a:pPr algn="ctr"/>
          </a:p>
        </p:txBody>
      </p:sp>
      <p:sp>
        <p:nvSpPr>
          <p:cNvPr id="12" name="Rounded Rectangle 11"/>
          <p:cNvSpPr/>
          <p:nvPr/>
        </p:nvSpPr>
        <p:spPr>
          <a:xfrm>
            <a:off x="777240" y="3474720"/>
            <a:ext cx="3063240" cy="109728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3" name="TextBox 12"/>
          <p:cNvSpPr txBox="1"/>
          <p:nvPr/>
        </p:nvSpPr>
        <p:spPr>
          <a:xfrm>
            <a:off x="960120" y="3566160"/>
            <a:ext cx="2697480" cy="411480"/>
          </a:xfrm>
          <a:prstGeom prst="rect">
            <a:avLst/>
          </a:prstGeom>
          <a:noFill/>
        </p:spPr>
        <p:txBody>
          <a:bodyPr wrap="square" lIns="0" rIns="0" tIns="0" bIns="0" anchor="t">
            <a:spAutoFit/>
          </a:bodyPr>
          <a:lstStyle/>
          <a:p>
            <a:pPr algn="l">
              <a:spcAft>
                <a:spcPts val="0"/>
              </a:spcAft>
            </a:pPr>
            <a:r>
              <a:rPr sz="2200" b="1">
                <a:solidFill>
                  <a:srgbClr val="3D7CC9"/>
                </a:solidFill>
              </a:rPr>
              <a:t>56,7 %</a:t>
            </a:r>
          </a:p>
        </p:txBody>
      </p:sp>
      <p:sp>
        <p:nvSpPr>
          <p:cNvPr id="14" name="TextBox 13"/>
          <p:cNvSpPr txBox="1"/>
          <p:nvPr/>
        </p:nvSpPr>
        <p:spPr>
          <a:xfrm>
            <a:off x="960120" y="4005072"/>
            <a:ext cx="2697480" cy="548640"/>
          </a:xfrm>
          <a:prstGeom prst="rect">
            <a:avLst/>
          </a:prstGeom>
          <a:noFill/>
        </p:spPr>
        <p:txBody>
          <a:bodyPr wrap="square" lIns="0" rIns="0" tIns="0" bIns="0" anchor="t">
            <a:spAutoFit/>
          </a:bodyPr>
          <a:lstStyle/>
          <a:p>
            <a:pPr algn="l">
              <a:spcAft>
                <a:spcPts val="0"/>
              </a:spcAft>
            </a:pPr>
            <a:r>
              <a:rPr sz="1000" b="0">
                <a:solidFill>
                  <a:srgbClr val="4A4458"/>
                </a:solidFill>
              </a:rPr>
              <a:t>pojištěnců je u VZP (MZ ČR 2023)</a:t>
            </a:r>
          </a:p>
        </p:txBody>
      </p:sp>
      <p:sp>
        <p:nvSpPr>
          <p:cNvPr id="15" name="Right Arrow 14"/>
          <p:cNvSpPr/>
          <p:nvPr/>
        </p:nvSpPr>
        <p:spPr>
          <a:xfrm rot="5400000">
            <a:off x="2167128" y="4590288"/>
            <a:ext cx="274320" cy="274320"/>
          </a:xfrm>
          <a:prstGeom prst="rightArrow">
            <a:avLst/>
          </a:prstGeom>
          <a:solidFill>
            <a:srgbClr val="A9C6EA"/>
          </a:solidFill>
          <a:ln>
            <a:noFill/>
          </a:ln>
        </p:spPr>
        <p:txBody>
          <a:bodyPr rtlCol="0" anchor="ctr"/>
          <a:lstStyle/>
          <a:p>
            <a:pPr algn="ctr"/>
          </a:p>
        </p:txBody>
      </p:sp>
      <p:sp>
        <p:nvSpPr>
          <p:cNvPr id="16" name="Rounded Rectangle 15"/>
          <p:cNvSpPr/>
          <p:nvPr/>
        </p:nvSpPr>
        <p:spPr>
          <a:xfrm>
            <a:off x="777240" y="4846320"/>
            <a:ext cx="3063240" cy="109728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7" name="TextBox 16"/>
          <p:cNvSpPr txBox="1"/>
          <p:nvPr/>
        </p:nvSpPr>
        <p:spPr>
          <a:xfrm>
            <a:off x="960120" y="4937759"/>
            <a:ext cx="2697480" cy="411480"/>
          </a:xfrm>
          <a:prstGeom prst="rect">
            <a:avLst/>
          </a:prstGeom>
          <a:noFill/>
        </p:spPr>
        <p:txBody>
          <a:bodyPr wrap="square" lIns="0" rIns="0" tIns="0" bIns="0" anchor="t">
            <a:spAutoFit/>
          </a:bodyPr>
          <a:lstStyle/>
          <a:p>
            <a:pPr algn="l">
              <a:spcAft>
                <a:spcPts val="0"/>
              </a:spcAft>
            </a:pPr>
            <a:r>
              <a:rPr sz="2200" b="1">
                <a:solidFill>
                  <a:srgbClr val="D27869"/>
                </a:solidFill>
              </a:rPr>
              <a:t>≈ 480 tis.</a:t>
            </a:r>
          </a:p>
        </p:txBody>
      </p:sp>
      <p:sp>
        <p:nvSpPr>
          <p:cNvPr id="18" name="TextBox 17"/>
          <p:cNvSpPr txBox="1"/>
          <p:nvPr/>
        </p:nvSpPr>
        <p:spPr>
          <a:xfrm>
            <a:off x="960120" y="5376672"/>
            <a:ext cx="2697480" cy="548640"/>
          </a:xfrm>
          <a:prstGeom prst="rect">
            <a:avLst/>
          </a:prstGeom>
          <a:noFill/>
        </p:spPr>
        <p:txBody>
          <a:bodyPr wrap="square" lIns="0" rIns="0" tIns="0" bIns="0" anchor="t">
            <a:spAutoFit/>
          </a:bodyPr>
          <a:lstStyle/>
          <a:p>
            <a:pPr algn="l">
              <a:spcAft>
                <a:spcPts val="0"/>
              </a:spcAft>
            </a:pPr>
            <a:r>
              <a:rPr sz="1000" b="0">
                <a:solidFill>
                  <a:srgbClr val="4A4458"/>
                </a:solidFill>
              </a:rPr>
              <a:t>klientek VZP bez mamografie; 207 tis. z nich vidíme v pozvánkách 2024</a:t>
            </a:r>
          </a:p>
        </p:txBody>
      </p:sp>
      <p:graphicFrame>
        <p:nvGraphicFramePr>
          <p:cNvPr id="19" name="Chart 18"/>
          <p:cNvGraphicFramePr>
            <a:graphicFrameLocks noGrp="1"/>
          </p:cNvGraphicFramePr>
          <p:nvPr/>
        </p:nvGraphicFramePr>
        <p:xfrm>
          <a:off x="4069080" y="2057400"/>
          <a:ext cx="3977639" cy="3840480"/>
        </p:xfrm>
        <a:graphic>
          <a:graphicData uri="http://schemas.openxmlformats.org/drawingml/2006/chart">
            <c:chart xmlns:c="http://schemas.openxmlformats.org/drawingml/2006/chart" r:id="rId2"/>
          </a:graphicData>
        </a:graphic>
      </p:graphicFrame>
      <p:sp>
        <p:nvSpPr>
          <p:cNvPr id="20" name="TextBox 19"/>
          <p:cNvSpPr txBox="1"/>
          <p:nvPr/>
        </p:nvSpPr>
        <p:spPr>
          <a:xfrm>
            <a:off x="4069080" y="5916168"/>
            <a:ext cx="3977639" cy="228600"/>
          </a:xfrm>
          <a:prstGeom prst="rect">
            <a:avLst/>
          </a:prstGeom>
          <a:noFill/>
        </p:spPr>
        <p:txBody>
          <a:bodyPr wrap="square" lIns="0" rIns="0" tIns="0" bIns="0" anchor="t">
            <a:spAutoFit/>
          </a:bodyPr>
          <a:lstStyle/>
          <a:p>
            <a:pPr algn="ctr">
              <a:spcAft>
                <a:spcPts val="0"/>
              </a:spcAft>
            </a:pPr>
            <a:r>
              <a:rPr sz="950" b="1">
                <a:solidFill>
                  <a:srgbClr val="D27869"/>
                </a:solidFill>
              </a:rPr>
              <a:t>stadium IV: 15,5 % → 0,7 %</a:t>
            </a:r>
          </a:p>
        </p:txBody>
      </p:sp>
      <p:sp>
        <p:nvSpPr>
          <p:cNvPr id="21" name="Rounded Rectangle 20"/>
          <p:cNvSpPr/>
          <p:nvPr/>
        </p:nvSpPr>
        <p:spPr>
          <a:xfrm>
            <a:off x="8275320" y="2057400"/>
            <a:ext cx="3136392" cy="4069080"/>
          </a:xfrm>
          <a:prstGeom prst="roundRect">
            <a:avLst>
              <a:gd name="adj" fmla="val 6000"/>
            </a:avLst>
          </a:prstGeom>
          <a:solidFill>
            <a:srgbClr val="F7F6FB"/>
          </a:solidFill>
          <a:ln w="9525">
            <a:solidFill>
              <a:srgbClr val="DEDCEC"/>
            </a:solidFill>
          </a:ln>
        </p:spPr>
        <p:txBody>
          <a:bodyPr rtlCol="0" anchor="ctr"/>
          <a:lstStyle/>
          <a:p>
            <a:pPr algn="ctr"/>
          </a:p>
        </p:txBody>
      </p:sp>
      <p:sp>
        <p:nvSpPr>
          <p:cNvPr id="22" name="TextBox 21"/>
          <p:cNvSpPr txBox="1"/>
          <p:nvPr/>
        </p:nvSpPr>
        <p:spPr>
          <a:xfrm>
            <a:off x="8458200" y="2148840"/>
            <a:ext cx="2788920" cy="502920"/>
          </a:xfrm>
          <a:prstGeom prst="rect">
            <a:avLst/>
          </a:prstGeom>
          <a:noFill/>
        </p:spPr>
        <p:txBody>
          <a:bodyPr wrap="square" lIns="0" rIns="0" tIns="0" bIns="0" anchor="t">
            <a:spAutoFit/>
          </a:bodyPr>
          <a:lstStyle/>
          <a:p>
            <a:pPr algn="l">
              <a:spcAft>
                <a:spcPts val="0"/>
              </a:spcAft>
            </a:pPr>
            <a:r>
              <a:rPr sz="1100" b="1">
                <a:solidFill>
                  <a:srgbClr val="003B7A"/>
                </a:solidFill>
              </a:rPr>
              <a:t>Kdyby přišly všechny</a:t>
            </a:r>
          </a:p>
          <a:p>
            <a:pPr algn="l">
              <a:spcAft>
                <a:spcPts val="0"/>
              </a:spcAft>
            </a:pPr>
            <a:r>
              <a:rPr sz="1100" b="0">
                <a:solidFill>
                  <a:srgbClr val="003B7A"/>
                </a:solidFill>
              </a:rPr>
              <a:t>teoretický strop, ročně</a:t>
            </a:r>
          </a:p>
        </p:txBody>
      </p:sp>
      <p:sp>
        <p:nvSpPr>
          <p:cNvPr id="23" name="TextBox 22"/>
          <p:cNvSpPr txBox="1"/>
          <p:nvPr/>
        </p:nvSpPr>
        <p:spPr>
          <a:xfrm>
            <a:off x="8458200" y="2743200"/>
            <a:ext cx="2788920" cy="384048"/>
          </a:xfrm>
          <a:prstGeom prst="rect">
            <a:avLst/>
          </a:prstGeom>
          <a:noFill/>
        </p:spPr>
        <p:txBody>
          <a:bodyPr wrap="square" lIns="0" rIns="0" tIns="0" bIns="0" anchor="t">
            <a:spAutoFit/>
          </a:bodyPr>
          <a:lstStyle/>
          <a:p>
            <a:pPr algn="l">
              <a:spcAft>
                <a:spcPts val="0"/>
              </a:spcAft>
            </a:pPr>
            <a:r>
              <a:rPr sz="1900" b="1">
                <a:solidFill>
                  <a:srgbClr val="D27869"/>
                </a:solidFill>
              </a:rPr>
              <a:t>≈ 1 300</a:t>
            </a:r>
          </a:p>
        </p:txBody>
      </p:sp>
      <p:sp>
        <p:nvSpPr>
          <p:cNvPr id="24" name="TextBox 23"/>
          <p:cNvSpPr txBox="1"/>
          <p:nvPr/>
        </p:nvSpPr>
        <p:spPr>
          <a:xfrm>
            <a:off x="8458200" y="3127248"/>
            <a:ext cx="2788920" cy="384048"/>
          </a:xfrm>
          <a:prstGeom prst="rect">
            <a:avLst/>
          </a:prstGeom>
          <a:noFill/>
        </p:spPr>
        <p:txBody>
          <a:bodyPr wrap="square" lIns="0" rIns="0" tIns="0" bIns="0" anchor="t">
            <a:spAutoFit/>
          </a:bodyPr>
          <a:lstStyle/>
          <a:p>
            <a:pPr algn="l">
              <a:spcAft>
                <a:spcPts val="0"/>
              </a:spcAft>
            </a:pPr>
            <a:r>
              <a:rPr sz="950" b="0">
                <a:solidFill>
                  <a:srgbClr val="4A4458"/>
                </a:solidFill>
              </a:rPr>
              <a:t>nádorů zachycených dřív</a:t>
            </a:r>
          </a:p>
        </p:txBody>
      </p:sp>
      <p:sp>
        <p:nvSpPr>
          <p:cNvPr id="25" name="TextBox 24"/>
          <p:cNvSpPr txBox="1"/>
          <p:nvPr/>
        </p:nvSpPr>
        <p:spPr>
          <a:xfrm>
            <a:off x="8458200" y="3584448"/>
            <a:ext cx="2788920" cy="384048"/>
          </a:xfrm>
          <a:prstGeom prst="rect">
            <a:avLst/>
          </a:prstGeom>
          <a:noFill/>
        </p:spPr>
        <p:txBody>
          <a:bodyPr wrap="square" lIns="0" rIns="0" tIns="0" bIns="0" anchor="t">
            <a:spAutoFit/>
          </a:bodyPr>
          <a:lstStyle/>
          <a:p>
            <a:pPr algn="l">
              <a:spcAft>
                <a:spcPts val="0"/>
              </a:spcAft>
            </a:pPr>
            <a:r>
              <a:rPr sz="1900" b="1">
                <a:solidFill>
                  <a:srgbClr val="D27869"/>
                </a:solidFill>
              </a:rPr>
              <a:t>≈ 155</a:t>
            </a:r>
          </a:p>
        </p:txBody>
      </p:sp>
      <p:sp>
        <p:nvSpPr>
          <p:cNvPr id="26" name="TextBox 25"/>
          <p:cNvSpPr txBox="1"/>
          <p:nvPr/>
        </p:nvSpPr>
        <p:spPr>
          <a:xfrm>
            <a:off x="8458200" y="3968496"/>
            <a:ext cx="2788920" cy="384048"/>
          </a:xfrm>
          <a:prstGeom prst="rect">
            <a:avLst/>
          </a:prstGeom>
          <a:noFill/>
        </p:spPr>
        <p:txBody>
          <a:bodyPr wrap="square" lIns="0" rIns="0" tIns="0" bIns="0" anchor="t">
            <a:spAutoFit/>
          </a:bodyPr>
          <a:lstStyle/>
          <a:p>
            <a:pPr algn="l">
              <a:spcAft>
                <a:spcPts val="0"/>
              </a:spcAft>
            </a:pPr>
            <a:r>
              <a:rPr sz="950" b="0">
                <a:solidFill>
                  <a:srgbClr val="4A4458"/>
                </a:solidFill>
              </a:rPr>
              <a:t>odvrácených úmrtí (do 5 let od diagnózy)</a:t>
            </a:r>
          </a:p>
        </p:txBody>
      </p:sp>
      <p:sp>
        <p:nvSpPr>
          <p:cNvPr id="27" name="TextBox 26"/>
          <p:cNvSpPr txBox="1"/>
          <p:nvPr/>
        </p:nvSpPr>
        <p:spPr>
          <a:xfrm>
            <a:off x="8458200" y="4425696"/>
            <a:ext cx="2788920" cy="384048"/>
          </a:xfrm>
          <a:prstGeom prst="rect">
            <a:avLst/>
          </a:prstGeom>
          <a:noFill/>
        </p:spPr>
        <p:txBody>
          <a:bodyPr wrap="square" lIns="0" rIns="0" tIns="0" bIns="0" anchor="t">
            <a:spAutoFit/>
          </a:bodyPr>
          <a:lstStyle/>
          <a:p>
            <a:pPr algn="l">
              <a:spcAft>
                <a:spcPts val="0"/>
              </a:spcAft>
            </a:pPr>
            <a:r>
              <a:rPr sz="1900" b="1">
                <a:solidFill>
                  <a:srgbClr val="D27869"/>
                </a:solidFill>
              </a:rPr>
              <a:t>≈ 920</a:t>
            </a:r>
          </a:p>
        </p:txBody>
      </p:sp>
      <p:sp>
        <p:nvSpPr>
          <p:cNvPr id="28" name="TextBox 27"/>
          <p:cNvSpPr txBox="1"/>
          <p:nvPr/>
        </p:nvSpPr>
        <p:spPr>
          <a:xfrm>
            <a:off x="8458200" y="4809744"/>
            <a:ext cx="2788920" cy="384048"/>
          </a:xfrm>
          <a:prstGeom prst="rect">
            <a:avLst/>
          </a:prstGeom>
          <a:noFill/>
        </p:spPr>
        <p:txBody>
          <a:bodyPr wrap="square" lIns="0" rIns="0" tIns="0" bIns="0" anchor="t">
            <a:spAutoFit/>
          </a:bodyPr>
          <a:lstStyle/>
          <a:p>
            <a:pPr algn="l">
              <a:spcAft>
                <a:spcPts val="0"/>
              </a:spcAft>
            </a:pPr>
            <a:r>
              <a:rPr sz="950" b="0">
                <a:solidFill>
                  <a:srgbClr val="4A4458"/>
                </a:solidFill>
              </a:rPr>
              <a:t>let života ve zdraví (QALY)</a:t>
            </a:r>
          </a:p>
        </p:txBody>
      </p:sp>
      <p:sp>
        <p:nvSpPr>
          <p:cNvPr id="29" name="TextBox 28"/>
          <p:cNvSpPr txBox="1"/>
          <p:nvPr/>
        </p:nvSpPr>
        <p:spPr>
          <a:xfrm>
            <a:off x="8458200" y="5266944"/>
            <a:ext cx="2788920" cy="384048"/>
          </a:xfrm>
          <a:prstGeom prst="rect">
            <a:avLst/>
          </a:prstGeom>
          <a:noFill/>
        </p:spPr>
        <p:txBody>
          <a:bodyPr wrap="square" lIns="0" rIns="0" tIns="0" bIns="0" anchor="t">
            <a:spAutoFit/>
          </a:bodyPr>
          <a:lstStyle/>
          <a:p>
            <a:pPr algn="l">
              <a:spcAft>
                <a:spcPts val="0"/>
              </a:spcAft>
            </a:pPr>
            <a:r>
              <a:rPr sz="1900" b="1">
                <a:solidFill>
                  <a:srgbClr val="D27869"/>
                </a:solidFill>
              </a:rPr>
              <a:t>≈ 120 mil. Kč</a:t>
            </a:r>
          </a:p>
        </p:txBody>
      </p:sp>
      <p:sp>
        <p:nvSpPr>
          <p:cNvPr id="30" name="TextBox 29"/>
          <p:cNvSpPr txBox="1"/>
          <p:nvPr/>
        </p:nvSpPr>
        <p:spPr>
          <a:xfrm>
            <a:off x="8458200" y="5650992"/>
            <a:ext cx="2788920" cy="384048"/>
          </a:xfrm>
          <a:prstGeom prst="rect">
            <a:avLst/>
          </a:prstGeom>
          <a:noFill/>
        </p:spPr>
        <p:txBody>
          <a:bodyPr wrap="square" lIns="0" rIns="0" tIns="0" bIns="0" anchor="t">
            <a:spAutoFit/>
          </a:bodyPr>
          <a:lstStyle/>
          <a:p>
            <a:pPr algn="l">
              <a:spcAft>
                <a:spcPts val="0"/>
              </a:spcAft>
            </a:pPr>
            <a:r>
              <a:rPr sz="950" b="0">
                <a:solidFill>
                  <a:srgbClr val="4A4458"/>
                </a:solidFill>
              </a:rPr>
              <a:t>čistá úspora (léčba IV. stadia 3 mil. Kč)</a:t>
            </a:r>
          </a:p>
        </p:txBody>
      </p:sp>
      <p:sp>
        <p:nvSpPr>
          <p:cNvPr id="31" name="TextBox 30"/>
          <p:cNvSpPr txBox="1"/>
          <p:nvPr/>
        </p:nvSpPr>
        <p:spPr>
          <a:xfrm>
            <a:off x="2103120" y="6291072"/>
            <a:ext cx="8503920" cy="274320"/>
          </a:xfrm>
          <a:prstGeom prst="rect">
            <a:avLst/>
          </a:prstGeom>
          <a:noFill/>
        </p:spPr>
        <p:txBody>
          <a:bodyPr wrap="square" lIns="0" rIns="0" tIns="0" bIns="0" anchor="t">
            <a:spAutoFit/>
          </a:bodyPr>
          <a:lstStyle/>
          <a:p>
            <a:pPr algn="l">
              <a:spcAft>
                <a:spcPts val="0"/>
              </a:spcAft>
            </a:pPr>
            <a:r>
              <a:rPr sz="900" b="0">
                <a:solidFill>
                  <a:srgbClr val="8A8597"/>
                </a:solidFill>
              </a:rPr>
              <a:t>Zdroj: ÚZIS 2023–24, ČSÚ 2024, MZ ČR 2023, data VZP 2024; stadia: audit 2023, ÚZIS 2022; finanční model týmu (dopad.py)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NAŠE ŘEŠENÍ</a:t>
            </a:r>
          </a:p>
        </p:txBody>
      </p:sp>
      <p:sp>
        <p:nvSpPr>
          <p:cNvPr id="3" name="Title 2"/>
          <p:cNvSpPr>
            <a:spLocks noGrp="1"/>
          </p:cNvSpPr>
          <p:nvPr>
            <p:ph type="title" idx="102"/>
          </p:nvPr>
        </p:nvSpPr>
        <p:spPr/>
        <p:txBody>
          <a:bodyPr/>
          <a:lstStyle/>
          <a:p>
            <a:r>
              <a:t>Tři zdroje, segmentace klientek a nové měřitelné kanály</a:t>
            </a:r>
          </a:p>
        </p:txBody>
      </p:sp>
      <p:sp>
        <p:nvSpPr>
          <p:cNvPr id="4" name="TextBox 3"/>
          <p:cNvSpPr txBox="1"/>
          <p:nvPr/>
        </p:nvSpPr>
        <p:spPr>
          <a:xfrm>
            <a:off x="777240" y="1481328"/>
            <a:ext cx="10634472" cy="457200"/>
          </a:xfrm>
          <a:prstGeom prst="rect">
            <a:avLst/>
          </a:prstGeom>
          <a:noFill/>
        </p:spPr>
        <p:txBody>
          <a:bodyPr wrap="square" lIns="0" rIns="0" tIns="0" bIns="0" anchor="t">
            <a:spAutoFit/>
          </a:bodyPr>
          <a:lstStyle/>
          <a:p>
            <a:pPr algn="l">
              <a:spcAft>
                <a:spcPts val="0"/>
              </a:spcAft>
            </a:pPr>
            <a:r>
              <a:rPr sz="1300" b="0">
                <a:solidFill>
                  <a:srgbClr val="4A4458"/>
                </a:solidFill>
              </a:rPr>
              <a:t>Každý zdroj odpovídá na jinou otázku. Dohromady určí, koho oslovit, čím a jak poznáme, že to funguje.</a:t>
            </a:r>
          </a:p>
        </p:txBody>
      </p:sp>
      <p:sp>
        <p:nvSpPr>
          <p:cNvPr id="5" name="Rounded Rectangle 4"/>
          <p:cNvSpPr/>
          <p:nvPr/>
        </p:nvSpPr>
        <p:spPr>
          <a:xfrm>
            <a:off x="777240" y="2103120"/>
            <a:ext cx="356616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6" name="TextBox 5"/>
          <p:cNvSpPr txBox="1"/>
          <p:nvPr/>
        </p:nvSpPr>
        <p:spPr>
          <a:xfrm>
            <a:off x="960120" y="2240279"/>
            <a:ext cx="2194560" cy="320040"/>
          </a:xfrm>
          <a:prstGeom prst="rect">
            <a:avLst/>
          </a:prstGeom>
          <a:noFill/>
        </p:spPr>
        <p:txBody>
          <a:bodyPr wrap="square" lIns="0" rIns="0" tIns="0" bIns="0" anchor="t">
            <a:spAutoFit/>
          </a:bodyPr>
          <a:lstStyle/>
          <a:p>
            <a:pPr algn="l">
              <a:spcAft>
                <a:spcPts val="0"/>
              </a:spcAft>
            </a:pPr>
            <a:r>
              <a:rPr sz="1300" b="1">
                <a:solidFill>
                  <a:srgbClr val="003B7A"/>
                </a:solidFill>
              </a:rPr>
              <a:t>Vědecká literatura</a:t>
            </a:r>
          </a:p>
        </p:txBody>
      </p:sp>
      <p:sp>
        <p:nvSpPr>
          <p:cNvPr id="7" name="Rounded Rectangle 6"/>
          <p:cNvSpPr/>
          <p:nvPr/>
        </p:nvSpPr>
        <p:spPr>
          <a:xfrm>
            <a:off x="3200399" y="2249424"/>
            <a:ext cx="1005840" cy="246888"/>
          </a:xfrm>
          <a:prstGeom prst="roundRect">
            <a:avLst>
              <a:gd name="adj" fmla="val 50000"/>
            </a:avLst>
          </a:prstGeom>
          <a:solidFill>
            <a:srgbClr val="3D7CC9"/>
          </a:solidFill>
          <a:ln>
            <a:noFill/>
          </a:ln>
        </p:spPr>
        <p:txBody>
          <a:bodyPr rtlCol="0" anchor="ctr" lIns="0" rIns="0" tIns="0" bIns="0"/>
          <a:lstStyle/>
          <a:p>
            <a:pPr algn="ctr"/>
            <a:r>
              <a:rPr sz="900" b="1">
                <a:solidFill>
                  <a:srgbClr val="FFFFFF"/>
                </a:solidFill>
              </a:rPr>
              <a:t>Literatura</a:t>
            </a:r>
          </a:p>
        </p:txBody>
      </p:sp>
      <p:sp>
        <p:nvSpPr>
          <p:cNvPr id="8" name="TextBox 7"/>
          <p:cNvSpPr txBox="1"/>
          <p:nvPr/>
        </p:nvSpPr>
        <p:spPr>
          <a:xfrm>
            <a:off x="960120" y="2633472"/>
            <a:ext cx="3200400" cy="594360"/>
          </a:xfrm>
          <a:prstGeom prst="rect">
            <a:avLst/>
          </a:prstGeom>
          <a:noFill/>
        </p:spPr>
        <p:txBody>
          <a:bodyPr wrap="square" lIns="0" rIns="0" tIns="0" bIns="0" anchor="t">
            <a:spAutoFit/>
          </a:bodyPr>
          <a:lstStyle/>
          <a:p>
            <a:pPr algn="l">
              <a:spcAft>
                <a:spcPts val="0"/>
              </a:spcAft>
            </a:pPr>
            <a:r>
              <a:rPr sz="1050" b="0">
                <a:solidFill>
                  <a:srgbClr val="4A4458"/>
                </a:solidFill>
              </a:rPr>
              <a:t>co funguje: účinky intervencí z randomizovaných studií a metaanalýz</a:t>
            </a:r>
          </a:p>
        </p:txBody>
      </p:sp>
      <p:sp>
        <p:nvSpPr>
          <p:cNvPr id="9" name="Rounded Rectangle 8"/>
          <p:cNvSpPr/>
          <p:nvPr/>
        </p:nvSpPr>
        <p:spPr>
          <a:xfrm>
            <a:off x="777240" y="3474720"/>
            <a:ext cx="356616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0" name="TextBox 9"/>
          <p:cNvSpPr txBox="1"/>
          <p:nvPr/>
        </p:nvSpPr>
        <p:spPr>
          <a:xfrm>
            <a:off x="960120" y="3611879"/>
            <a:ext cx="2194560" cy="320040"/>
          </a:xfrm>
          <a:prstGeom prst="rect">
            <a:avLst/>
          </a:prstGeom>
          <a:noFill/>
        </p:spPr>
        <p:txBody>
          <a:bodyPr wrap="square" lIns="0" rIns="0" tIns="0" bIns="0" anchor="t">
            <a:spAutoFit/>
          </a:bodyPr>
          <a:lstStyle/>
          <a:p>
            <a:pPr algn="l">
              <a:spcAft>
                <a:spcPts val="0"/>
              </a:spcAft>
            </a:pPr>
            <a:r>
              <a:rPr sz="1300" b="1">
                <a:solidFill>
                  <a:srgbClr val="003B7A"/>
                </a:solidFill>
              </a:rPr>
              <a:t>Statistický model</a:t>
            </a:r>
          </a:p>
        </p:txBody>
      </p:sp>
      <p:sp>
        <p:nvSpPr>
          <p:cNvPr id="11" name="Rounded Rectangle 10"/>
          <p:cNvSpPr/>
          <p:nvPr/>
        </p:nvSpPr>
        <p:spPr>
          <a:xfrm>
            <a:off x="3355847" y="3621024"/>
            <a:ext cx="850392" cy="246888"/>
          </a:xfrm>
          <a:prstGeom prst="roundRect">
            <a:avLst>
              <a:gd name="adj" fmla="val 50000"/>
            </a:avLst>
          </a:prstGeom>
          <a:solidFill>
            <a:srgbClr val="003B7A"/>
          </a:solidFill>
          <a:ln>
            <a:noFill/>
          </a:ln>
        </p:spPr>
        <p:txBody>
          <a:bodyPr rtlCol="0" anchor="ctr" lIns="0" rIns="0" tIns="0" bIns="0"/>
          <a:lstStyle/>
          <a:p>
            <a:pPr algn="ctr"/>
            <a:r>
              <a:rPr sz="900" b="1">
                <a:solidFill>
                  <a:srgbClr val="FFFFFF"/>
                </a:solidFill>
              </a:rPr>
              <a:t>Data VZP</a:t>
            </a:r>
          </a:p>
        </p:txBody>
      </p:sp>
      <p:sp>
        <p:nvSpPr>
          <p:cNvPr id="12" name="TextBox 11"/>
          <p:cNvSpPr txBox="1"/>
          <p:nvPr/>
        </p:nvSpPr>
        <p:spPr>
          <a:xfrm>
            <a:off x="960120" y="4005072"/>
            <a:ext cx="3200400" cy="594360"/>
          </a:xfrm>
          <a:prstGeom prst="rect">
            <a:avLst/>
          </a:prstGeom>
          <a:noFill/>
        </p:spPr>
        <p:txBody>
          <a:bodyPr wrap="square" lIns="0" rIns="0" tIns="0" bIns="0" anchor="t">
            <a:spAutoFit/>
          </a:bodyPr>
          <a:lstStyle/>
          <a:p>
            <a:pPr algn="l">
              <a:spcAft>
                <a:spcPts val="0"/>
              </a:spcAft>
            </a:pPr>
            <a:r>
              <a:rPr sz="1050" b="0">
                <a:solidFill>
                  <a:srgbClr val="4A4458"/>
                </a:solidFill>
              </a:rPr>
              <a:t>kdo přijde: 1,34 mil. pozvánek VZP, vysvětlitelný model s AUC 0,83</a:t>
            </a:r>
          </a:p>
        </p:txBody>
      </p:sp>
      <p:sp>
        <p:nvSpPr>
          <p:cNvPr id="13" name="Rounded Rectangle 12"/>
          <p:cNvSpPr/>
          <p:nvPr/>
        </p:nvSpPr>
        <p:spPr>
          <a:xfrm>
            <a:off x="777240" y="4846320"/>
            <a:ext cx="356616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4" name="TextBox 13"/>
          <p:cNvSpPr txBox="1"/>
          <p:nvPr/>
        </p:nvSpPr>
        <p:spPr>
          <a:xfrm>
            <a:off x="960120" y="4983480"/>
            <a:ext cx="2194560" cy="320040"/>
          </a:xfrm>
          <a:prstGeom prst="rect">
            <a:avLst/>
          </a:prstGeom>
          <a:noFill/>
        </p:spPr>
        <p:txBody>
          <a:bodyPr wrap="square" lIns="0" rIns="0" tIns="0" bIns="0" anchor="t">
            <a:spAutoFit/>
          </a:bodyPr>
          <a:lstStyle/>
          <a:p>
            <a:pPr algn="l">
              <a:spcAft>
                <a:spcPts val="0"/>
              </a:spcAft>
            </a:pPr>
            <a:r>
              <a:rPr sz="1300" b="1">
                <a:solidFill>
                  <a:srgbClr val="003B7A"/>
                </a:solidFill>
              </a:rPr>
              <a:t>Praxe z e-commerce</a:t>
            </a:r>
          </a:p>
        </p:txBody>
      </p:sp>
      <p:sp>
        <p:nvSpPr>
          <p:cNvPr id="15" name="Rounded Rectangle 14"/>
          <p:cNvSpPr/>
          <p:nvPr/>
        </p:nvSpPr>
        <p:spPr>
          <a:xfrm>
            <a:off x="3200399" y="4992624"/>
            <a:ext cx="1005840" cy="246888"/>
          </a:xfrm>
          <a:prstGeom prst="roundRect">
            <a:avLst>
              <a:gd name="adj" fmla="val 50000"/>
            </a:avLst>
          </a:prstGeom>
          <a:solidFill>
            <a:srgbClr val="D27869"/>
          </a:solidFill>
          <a:ln>
            <a:noFill/>
          </a:ln>
        </p:spPr>
        <p:txBody>
          <a:bodyPr rtlCol="0" anchor="ctr" lIns="0" rIns="0" tIns="0" bIns="0"/>
          <a:lstStyle/>
          <a:p>
            <a:pPr algn="ctr"/>
            <a:r>
              <a:rPr sz="900" b="1">
                <a:solidFill>
                  <a:srgbClr val="FFFFFF"/>
                </a:solidFill>
              </a:rPr>
              <a:t>E-commerce</a:t>
            </a:r>
          </a:p>
        </p:txBody>
      </p:sp>
      <p:sp>
        <p:nvSpPr>
          <p:cNvPr id="16" name="TextBox 15"/>
          <p:cNvSpPr txBox="1"/>
          <p:nvPr/>
        </p:nvSpPr>
        <p:spPr>
          <a:xfrm>
            <a:off x="960120" y="5376672"/>
            <a:ext cx="3200400" cy="594360"/>
          </a:xfrm>
          <a:prstGeom prst="rect">
            <a:avLst/>
          </a:prstGeom>
          <a:noFill/>
        </p:spPr>
        <p:txBody>
          <a:bodyPr wrap="square" lIns="0" rIns="0" tIns="0" bIns="0" anchor="t">
            <a:spAutoFit/>
          </a:bodyPr>
          <a:lstStyle/>
          <a:p>
            <a:pPr algn="l">
              <a:spcAft>
                <a:spcPts val="0"/>
              </a:spcAft>
            </a:pPr>
            <a:r>
              <a:rPr sz="1050" b="0">
                <a:solidFill>
                  <a:srgbClr val="4A4458"/>
                </a:solidFill>
              </a:rPr>
              <a:t>jak doručit a změřit: kaskády zpráv, A/B testy, měření přírůstku</a:t>
            </a:r>
          </a:p>
        </p:txBody>
      </p:sp>
      <p:sp>
        <p:nvSpPr>
          <p:cNvPr id="17" name="Right Arrow 16"/>
          <p:cNvSpPr/>
          <p:nvPr/>
        </p:nvSpPr>
        <p:spPr>
          <a:xfrm>
            <a:off x="4526280" y="3703320"/>
            <a:ext cx="411480" cy="274320"/>
          </a:xfrm>
          <a:prstGeom prst="rightArrow">
            <a:avLst/>
          </a:prstGeom>
          <a:solidFill>
            <a:srgbClr val="3D7CC9"/>
          </a:solidFill>
          <a:ln>
            <a:noFill/>
          </a:ln>
        </p:spPr>
        <p:txBody>
          <a:bodyPr rtlCol="0" anchor="ctr"/>
          <a:lstStyle/>
          <a:p>
            <a:pPr algn="ctr"/>
          </a:p>
        </p:txBody>
      </p:sp>
      <p:sp>
        <p:nvSpPr>
          <p:cNvPr id="18" name="Rounded Rectangle 17"/>
          <p:cNvSpPr/>
          <p:nvPr/>
        </p:nvSpPr>
        <p:spPr>
          <a:xfrm>
            <a:off x="5120640" y="2880360"/>
            <a:ext cx="2743200" cy="1920240"/>
          </a:xfrm>
          <a:prstGeom prst="roundRect">
            <a:avLst>
              <a:gd name="adj" fmla="val 6000"/>
            </a:avLst>
          </a:prstGeom>
          <a:solidFill>
            <a:srgbClr val="003B7A"/>
          </a:solidFill>
          <a:ln>
            <a:noFill/>
          </a:ln>
        </p:spPr>
        <p:txBody>
          <a:bodyPr rtlCol="0" anchor="ctr"/>
          <a:lstStyle/>
          <a:p>
            <a:pPr algn="ctr"/>
          </a:p>
        </p:txBody>
      </p:sp>
      <p:sp>
        <p:nvSpPr>
          <p:cNvPr id="19" name="TextBox 18"/>
          <p:cNvSpPr txBox="1"/>
          <p:nvPr/>
        </p:nvSpPr>
        <p:spPr>
          <a:xfrm>
            <a:off x="5303520" y="3063240"/>
            <a:ext cx="2377440" cy="411480"/>
          </a:xfrm>
          <a:prstGeom prst="rect">
            <a:avLst/>
          </a:prstGeom>
          <a:noFill/>
        </p:spPr>
        <p:txBody>
          <a:bodyPr wrap="square" lIns="0" rIns="0" tIns="0" bIns="0" anchor="t">
            <a:spAutoFit/>
          </a:bodyPr>
          <a:lstStyle/>
          <a:p>
            <a:pPr algn="l">
              <a:spcAft>
                <a:spcPts val="0"/>
              </a:spcAft>
            </a:pPr>
            <a:r>
              <a:rPr sz="1500" b="1">
                <a:solidFill>
                  <a:srgbClr val="FFFFFF"/>
                </a:solidFill>
              </a:rPr>
              <a:t>Segmentace klientek</a:t>
            </a:r>
          </a:p>
        </p:txBody>
      </p:sp>
      <p:sp>
        <p:nvSpPr>
          <p:cNvPr id="20" name="TextBox 19"/>
          <p:cNvSpPr txBox="1"/>
          <p:nvPr/>
        </p:nvSpPr>
        <p:spPr>
          <a:xfrm>
            <a:off x="5303520" y="3520440"/>
            <a:ext cx="2377440" cy="1188720"/>
          </a:xfrm>
          <a:prstGeom prst="rect">
            <a:avLst/>
          </a:prstGeom>
          <a:noFill/>
        </p:spPr>
        <p:txBody>
          <a:bodyPr wrap="square" lIns="0" rIns="0" tIns="0" bIns="0" anchor="t">
            <a:spAutoFit/>
          </a:bodyPr>
          <a:lstStyle/>
          <a:p>
            <a:pPr algn="l">
              <a:spcAft>
                <a:spcPts val="0"/>
              </a:spcAft>
            </a:pPr>
            <a:r>
              <a:rPr sz="1100" b="0">
                <a:solidFill>
                  <a:srgbClr val="E6E4F7"/>
                </a:solidFill>
              </a:rPr>
              <a:t>7 skupin podle vztahu k prevenci a stavu ve zvaní; pravidla nad poli VZP, ověřená na roce 2024</a:t>
            </a:r>
          </a:p>
        </p:txBody>
      </p:sp>
      <p:sp>
        <p:nvSpPr>
          <p:cNvPr id="21" name="Right Arrow 20"/>
          <p:cNvSpPr/>
          <p:nvPr/>
        </p:nvSpPr>
        <p:spPr>
          <a:xfrm>
            <a:off x="8046720" y="3703320"/>
            <a:ext cx="411480" cy="274320"/>
          </a:xfrm>
          <a:prstGeom prst="rightArrow">
            <a:avLst/>
          </a:prstGeom>
          <a:solidFill>
            <a:srgbClr val="3D7CC9"/>
          </a:solidFill>
          <a:ln>
            <a:noFill/>
          </a:ln>
        </p:spPr>
        <p:txBody>
          <a:bodyPr rtlCol="0" anchor="ctr"/>
          <a:lstStyle/>
          <a:p>
            <a:pPr algn="ctr"/>
          </a:p>
        </p:txBody>
      </p:sp>
      <p:sp>
        <p:nvSpPr>
          <p:cNvPr id="22" name="Rounded Rectangle 21"/>
          <p:cNvSpPr/>
          <p:nvPr/>
        </p:nvSpPr>
        <p:spPr>
          <a:xfrm>
            <a:off x="8641080" y="2880360"/>
            <a:ext cx="2770632" cy="1920240"/>
          </a:xfrm>
          <a:prstGeom prst="roundRect">
            <a:avLst>
              <a:gd name="adj" fmla="val 6000"/>
            </a:avLst>
          </a:prstGeom>
          <a:solidFill>
            <a:srgbClr val="F7F6FB"/>
          </a:solidFill>
          <a:ln w="9525">
            <a:solidFill>
              <a:srgbClr val="DEDCEC"/>
            </a:solidFill>
          </a:ln>
        </p:spPr>
        <p:txBody>
          <a:bodyPr rtlCol="0" anchor="ctr"/>
          <a:lstStyle/>
          <a:p>
            <a:pPr algn="ctr"/>
          </a:p>
        </p:txBody>
      </p:sp>
      <p:sp>
        <p:nvSpPr>
          <p:cNvPr id="23" name="TextBox 22"/>
          <p:cNvSpPr txBox="1"/>
          <p:nvPr/>
        </p:nvSpPr>
        <p:spPr>
          <a:xfrm>
            <a:off x="8823960" y="3063240"/>
            <a:ext cx="2423160" cy="411480"/>
          </a:xfrm>
          <a:prstGeom prst="rect">
            <a:avLst/>
          </a:prstGeom>
          <a:noFill/>
        </p:spPr>
        <p:txBody>
          <a:bodyPr wrap="square" lIns="0" rIns="0" tIns="0" bIns="0" anchor="t">
            <a:spAutoFit/>
          </a:bodyPr>
          <a:lstStyle/>
          <a:p>
            <a:pPr algn="l">
              <a:spcAft>
                <a:spcPts val="0"/>
              </a:spcAft>
            </a:pPr>
            <a:r>
              <a:rPr sz="1500" b="1">
                <a:solidFill>
                  <a:srgbClr val="003B7A"/>
                </a:solidFill>
              </a:rPr>
              <a:t>Nové měřitelné kanály</a:t>
            </a:r>
          </a:p>
        </p:txBody>
      </p:sp>
      <p:sp>
        <p:nvSpPr>
          <p:cNvPr id="24" name="TextBox 23"/>
          <p:cNvSpPr txBox="1"/>
          <p:nvPr/>
        </p:nvSpPr>
        <p:spPr>
          <a:xfrm>
            <a:off x="8823960" y="3520440"/>
            <a:ext cx="2423160" cy="1188720"/>
          </a:xfrm>
          <a:prstGeom prst="rect">
            <a:avLst/>
          </a:prstGeom>
          <a:noFill/>
        </p:spPr>
        <p:txBody>
          <a:bodyPr wrap="square" lIns="0" rIns="0" tIns="0" bIns="0" anchor="t">
            <a:spAutoFit/>
          </a:bodyPr>
          <a:lstStyle/>
          <a:p>
            <a:pPr algn="l">
              <a:spcAft>
                <a:spcPts val="0"/>
              </a:spcAft>
            </a:pPr>
            <a:r>
              <a:rPr sz="1100" b="0">
                <a:solidFill>
                  <a:srgbClr val="230F3C"/>
                </a:solidFill>
              </a:rPr>
              <a:t>pevný termín, SMS, lékař, Moje VZP; každý s kontrolní skupinou a výsledkem z vykázaných výkonů</a:t>
            </a:r>
          </a:p>
        </p:txBody>
      </p:sp>
      <p:sp>
        <p:nvSpPr>
          <p:cNvPr id="25" name="TextBox 24"/>
          <p:cNvSpPr txBox="1"/>
          <p:nvPr/>
        </p:nvSpPr>
        <p:spPr>
          <a:xfrm>
            <a:off x="2103120" y="6291072"/>
            <a:ext cx="8503920" cy="274320"/>
          </a:xfrm>
          <a:prstGeom prst="rect">
            <a:avLst/>
          </a:prstGeom>
          <a:noFill/>
        </p:spPr>
        <p:txBody>
          <a:bodyPr wrap="square" lIns="0" rIns="0" tIns="0" bIns="0" anchor="t">
            <a:spAutoFit/>
          </a:bodyPr>
          <a:lstStyle/>
          <a:p>
            <a:pPr algn="l">
              <a:spcAft>
                <a:spcPts val="0"/>
              </a:spcAft>
            </a:pPr>
            <a:r>
              <a:rPr sz="900" b="0">
                <a:solidFill>
                  <a:srgbClr val="8A8597"/>
                </a:solidFill>
              </a:rPr>
              <a:t>Zdroj: docs/interventions.md a PAPERS.md; data VZP pro Rakathon 2026; zkušenost týmu z e-commerce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ODKUD SEGMENTY</a:t>
            </a:r>
          </a:p>
        </p:txBody>
      </p:sp>
      <p:sp>
        <p:nvSpPr>
          <p:cNvPr id="3" name="Title 2"/>
          <p:cNvSpPr>
            <a:spLocks noGrp="1"/>
          </p:cNvSpPr>
          <p:nvPr>
            <p:ph type="title" idx="102"/>
          </p:nvPr>
        </p:nvSpPr>
        <p:spPr/>
        <p:txBody>
          <a:bodyPr/>
          <a:lstStyle/>
          <a:p>
            <a:r>
              <a:t>Tři otázky nad daty VZP rozdělí ženy do sedmi skupin</a:t>
            </a:r>
          </a:p>
        </p:txBody>
      </p:sp>
      <p:sp>
        <p:nvSpPr>
          <p:cNvPr id="4" name="TextBox 3"/>
          <p:cNvSpPr txBox="1"/>
          <p:nvPr/>
        </p:nvSpPr>
        <p:spPr>
          <a:xfrm>
            <a:off x="777240" y="1481328"/>
            <a:ext cx="10634472" cy="457200"/>
          </a:xfrm>
          <a:prstGeom prst="rect">
            <a:avLst/>
          </a:prstGeom>
          <a:noFill/>
        </p:spPr>
        <p:txBody>
          <a:bodyPr wrap="square" lIns="0" rIns="0" tIns="0" bIns="0" anchor="t">
            <a:spAutoFit/>
          </a:bodyPr>
          <a:lstStyle/>
          <a:p>
            <a:pPr algn="l">
              <a:spcAft>
                <a:spcPts val="0"/>
              </a:spcAft>
            </a:pPr>
            <a:r>
              <a:rPr sz="1300" b="0">
                <a:solidFill>
                  <a:srgbClr val="4A4458"/>
                </a:solidFill>
              </a:rPr>
              <a:t>Pravidla stojí jen na polích, která VZP poskytla. Pořadí otázek je priorita: žena patří do první skupiny, jejíž podmínka platí.</a:t>
            </a:r>
          </a:p>
        </p:txBody>
      </p:sp>
      <p:sp>
        <p:nvSpPr>
          <p:cNvPr id="5" name="Rounded Rectangle 4"/>
          <p:cNvSpPr/>
          <p:nvPr/>
        </p:nvSpPr>
        <p:spPr>
          <a:xfrm>
            <a:off x="10561320" y="457200"/>
            <a:ext cx="850392" cy="246888"/>
          </a:xfrm>
          <a:prstGeom prst="roundRect">
            <a:avLst>
              <a:gd name="adj" fmla="val 50000"/>
            </a:avLst>
          </a:prstGeom>
          <a:solidFill>
            <a:srgbClr val="003B7A"/>
          </a:solidFill>
          <a:ln>
            <a:noFill/>
          </a:ln>
        </p:spPr>
        <p:txBody>
          <a:bodyPr rtlCol="0" anchor="ctr" lIns="0" rIns="0" tIns="0" bIns="0"/>
          <a:lstStyle/>
          <a:p>
            <a:pPr algn="ctr"/>
            <a:r>
              <a:rPr sz="900" b="1">
                <a:solidFill>
                  <a:srgbClr val="FFFFFF"/>
                </a:solidFill>
              </a:rPr>
              <a:t>Data VZP</a:t>
            </a:r>
          </a:p>
        </p:txBody>
      </p:sp>
      <p:sp>
        <p:nvSpPr>
          <p:cNvPr id="6" name="Rounded Rectangle 5"/>
          <p:cNvSpPr/>
          <p:nvPr/>
        </p:nvSpPr>
        <p:spPr>
          <a:xfrm>
            <a:off x="777240" y="2057400"/>
            <a:ext cx="3977639" cy="1325880"/>
          </a:xfrm>
          <a:prstGeom prst="roundRect">
            <a:avLst>
              <a:gd name="adj" fmla="val 6000"/>
            </a:avLst>
          </a:prstGeom>
          <a:solidFill>
            <a:srgbClr val="F7F6FB"/>
          </a:solidFill>
          <a:ln w="9525">
            <a:solidFill>
              <a:srgbClr val="DEDCEC"/>
            </a:solidFill>
          </a:ln>
        </p:spPr>
        <p:txBody>
          <a:bodyPr rtlCol="0" anchor="ctr"/>
          <a:lstStyle/>
          <a:p>
            <a:pPr algn="ctr"/>
          </a:p>
        </p:txBody>
      </p:sp>
      <p:sp>
        <p:nvSpPr>
          <p:cNvPr id="7" name="TextBox 6"/>
          <p:cNvSpPr txBox="1"/>
          <p:nvPr/>
        </p:nvSpPr>
        <p:spPr>
          <a:xfrm>
            <a:off x="960120" y="2185416"/>
            <a:ext cx="3657600" cy="274320"/>
          </a:xfrm>
          <a:prstGeom prst="rect">
            <a:avLst/>
          </a:prstGeom>
          <a:noFill/>
        </p:spPr>
        <p:txBody>
          <a:bodyPr wrap="square" lIns="0" rIns="0" tIns="0" bIns="0" anchor="t">
            <a:spAutoFit/>
          </a:bodyPr>
          <a:lstStyle/>
          <a:p>
            <a:pPr algn="l">
              <a:spcAft>
                <a:spcPts val="0"/>
              </a:spcAft>
            </a:pPr>
            <a:r>
              <a:rPr sz="1200" b="1">
                <a:solidFill>
                  <a:srgbClr val="003B7A"/>
                </a:solidFill>
              </a:rPr>
              <a:t>1 · Historie screeningu</a:t>
            </a:r>
          </a:p>
        </p:txBody>
      </p:sp>
      <p:sp>
        <p:nvSpPr>
          <p:cNvPr id="8" name="TextBox 7"/>
          <p:cNvSpPr txBox="1"/>
          <p:nvPr/>
        </p:nvSpPr>
        <p:spPr>
          <a:xfrm>
            <a:off x="960120" y="2514600"/>
            <a:ext cx="3657600" cy="822959"/>
          </a:xfrm>
          <a:prstGeom prst="rect">
            <a:avLst/>
          </a:prstGeom>
          <a:noFill/>
        </p:spPr>
        <p:txBody>
          <a:bodyPr wrap="square" lIns="0" rIns="0" tIns="0" bIns="0" anchor="t">
            <a:spAutoFit/>
          </a:bodyPr>
          <a:lstStyle/>
          <a:p>
            <a:pPr algn="l">
              <a:spcAft>
                <a:spcPts val="300"/>
              </a:spcAft>
            </a:pPr>
            <a:r>
              <a:rPr sz="1100" b="1">
                <a:solidFill>
                  <a:srgbClr val="230F3C"/>
                </a:solidFill>
              </a:rPr>
              <a:t>A</a:t>
            </a:r>
            <a:r>
              <a:rPr sz="1100" b="0">
                <a:solidFill>
                  <a:srgbClr val="230F3C"/>
                </a:solidFill>
              </a:rPr>
              <a:t> screening před méně než 24 měs.</a:t>
            </a:r>
          </a:p>
          <a:p>
            <a:pPr algn="l">
              <a:spcAft>
                <a:spcPts val="300"/>
              </a:spcAft>
            </a:pPr>
            <a:r>
              <a:rPr sz="1100" b="1">
                <a:solidFill>
                  <a:srgbClr val="230F3C"/>
                </a:solidFill>
              </a:rPr>
              <a:t>B</a:t>
            </a:r>
            <a:r>
              <a:rPr sz="1100" b="0">
                <a:solidFill>
                  <a:srgbClr val="230F3C"/>
                </a:solidFill>
              </a:rPr>
              <a:t> první pozvánka</a:t>
            </a:r>
          </a:p>
          <a:p>
            <a:pPr algn="l">
              <a:spcAft>
                <a:spcPts val="300"/>
              </a:spcAft>
            </a:pPr>
            <a:r>
              <a:rPr sz="1100" b="1">
                <a:solidFill>
                  <a:srgbClr val="230F3C"/>
                </a:solidFill>
              </a:rPr>
              <a:t>C</a:t>
            </a:r>
            <a:r>
              <a:rPr sz="1100" b="0">
                <a:solidFill>
                  <a:srgbClr val="230F3C"/>
                </a:solidFill>
              </a:rPr>
              <a:t> screening v posledních 5 letech</a:t>
            </a:r>
          </a:p>
        </p:txBody>
      </p:sp>
      <p:sp>
        <p:nvSpPr>
          <p:cNvPr id="9" name="Rounded Rectangle 8"/>
          <p:cNvSpPr/>
          <p:nvPr/>
        </p:nvSpPr>
        <p:spPr>
          <a:xfrm>
            <a:off x="777240" y="3566160"/>
            <a:ext cx="3977639" cy="1051560"/>
          </a:xfrm>
          <a:prstGeom prst="roundRect">
            <a:avLst>
              <a:gd name="adj" fmla="val 6000"/>
            </a:avLst>
          </a:prstGeom>
          <a:solidFill>
            <a:srgbClr val="F7F6FB"/>
          </a:solidFill>
          <a:ln w="9525">
            <a:solidFill>
              <a:srgbClr val="DEDCEC"/>
            </a:solidFill>
          </a:ln>
        </p:spPr>
        <p:txBody>
          <a:bodyPr rtlCol="0" anchor="ctr"/>
          <a:lstStyle/>
          <a:p>
            <a:pPr algn="ctr"/>
          </a:p>
        </p:txBody>
      </p:sp>
      <p:sp>
        <p:nvSpPr>
          <p:cNvPr id="10" name="TextBox 9"/>
          <p:cNvSpPr txBox="1"/>
          <p:nvPr/>
        </p:nvSpPr>
        <p:spPr>
          <a:xfrm>
            <a:off x="960120" y="3694176"/>
            <a:ext cx="3657600" cy="274320"/>
          </a:xfrm>
          <a:prstGeom prst="rect">
            <a:avLst/>
          </a:prstGeom>
          <a:noFill/>
        </p:spPr>
        <p:txBody>
          <a:bodyPr wrap="square" lIns="0" rIns="0" tIns="0" bIns="0" anchor="t">
            <a:spAutoFit/>
          </a:bodyPr>
          <a:lstStyle/>
          <a:p>
            <a:pPr algn="l">
              <a:spcAft>
                <a:spcPts val="0"/>
              </a:spcAft>
            </a:pPr>
            <a:r>
              <a:rPr sz="1200" b="1">
                <a:solidFill>
                  <a:srgbClr val="003B7A"/>
                </a:solidFill>
              </a:rPr>
              <a:t>2 · Prevence</a:t>
            </a:r>
          </a:p>
        </p:txBody>
      </p:sp>
      <p:sp>
        <p:nvSpPr>
          <p:cNvPr id="11" name="TextBox 10"/>
          <p:cNvSpPr txBox="1"/>
          <p:nvPr/>
        </p:nvSpPr>
        <p:spPr>
          <a:xfrm>
            <a:off x="960120" y="4023360"/>
            <a:ext cx="3657600" cy="548639"/>
          </a:xfrm>
          <a:prstGeom prst="rect">
            <a:avLst/>
          </a:prstGeom>
          <a:noFill/>
        </p:spPr>
        <p:txBody>
          <a:bodyPr wrap="square" lIns="0" rIns="0" tIns="0" bIns="0" anchor="t">
            <a:spAutoFit/>
          </a:bodyPr>
          <a:lstStyle/>
          <a:p>
            <a:pPr algn="l">
              <a:spcAft>
                <a:spcPts val="300"/>
              </a:spcAft>
            </a:pPr>
            <a:r>
              <a:rPr sz="1100" b="1">
                <a:solidFill>
                  <a:srgbClr val="230F3C"/>
                </a:solidFill>
              </a:rPr>
              <a:t>D</a:t>
            </a:r>
            <a:r>
              <a:rPr sz="1100" b="0">
                <a:solidFill>
                  <a:srgbClr val="230F3C"/>
                </a:solidFill>
              </a:rPr>
              <a:t> preventivní gynekologie</a:t>
            </a:r>
          </a:p>
          <a:p>
            <a:pPr algn="l">
              <a:spcAft>
                <a:spcPts val="300"/>
              </a:spcAft>
            </a:pPr>
            <a:r>
              <a:rPr sz="1100" b="1">
                <a:solidFill>
                  <a:srgbClr val="230F3C"/>
                </a:solidFill>
              </a:rPr>
              <a:t>E</a:t>
            </a:r>
            <a:r>
              <a:rPr sz="1100" b="0">
                <a:solidFill>
                  <a:srgbClr val="230F3C"/>
                </a:solidFill>
              </a:rPr>
              <a:t> jiná prevence: zubař, praktik, jiný screening</a:t>
            </a:r>
          </a:p>
        </p:txBody>
      </p:sp>
      <p:sp>
        <p:nvSpPr>
          <p:cNvPr id="12" name="Rounded Rectangle 11"/>
          <p:cNvSpPr/>
          <p:nvPr/>
        </p:nvSpPr>
        <p:spPr>
          <a:xfrm>
            <a:off x="777240" y="4800600"/>
            <a:ext cx="3977639" cy="1051560"/>
          </a:xfrm>
          <a:prstGeom prst="roundRect">
            <a:avLst>
              <a:gd name="adj" fmla="val 6000"/>
            </a:avLst>
          </a:prstGeom>
          <a:solidFill>
            <a:srgbClr val="F7F6FB"/>
          </a:solidFill>
          <a:ln w="9525">
            <a:solidFill>
              <a:srgbClr val="DEDCEC"/>
            </a:solidFill>
          </a:ln>
        </p:spPr>
        <p:txBody>
          <a:bodyPr rtlCol="0" anchor="ctr"/>
          <a:lstStyle/>
          <a:p>
            <a:pPr algn="ctr"/>
          </a:p>
        </p:txBody>
      </p:sp>
      <p:sp>
        <p:nvSpPr>
          <p:cNvPr id="13" name="TextBox 12"/>
          <p:cNvSpPr txBox="1"/>
          <p:nvPr/>
        </p:nvSpPr>
        <p:spPr>
          <a:xfrm>
            <a:off x="960120" y="4928616"/>
            <a:ext cx="3657600" cy="274320"/>
          </a:xfrm>
          <a:prstGeom prst="rect">
            <a:avLst/>
          </a:prstGeom>
          <a:noFill/>
        </p:spPr>
        <p:txBody>
          <a:bodyPr wrap="square" lIns="0" rIns="0" tIns="0" bIns="0" anchor="t">
            <a:spAutoFit/>
          </a:bodyPr>
          <a:lstStyle/>
          <a:p>
            <a:pPr algn="l">
              <a:spcAft>
                <a:spcPts val="0"/>
              </a:spcAft>
            </a:pPr>
            <a:r>
              <a:rPr sz="1200" b="1">
                <a:solidFill>
                  <a:srgbClr val="003B7A"/>
                </a:solidFill>
              </a:rPr>
              <a:t>3 · Kontakt se zdravotnictvím</a:t>
            </a:r>
          </a:p>
        </p:txBody>
      </p:sp>
      <p:sp>
        <p:nvSpPr>
          <p:cNvPr id="14" name="TextBox 13"/>
          <p:cNvSpPr txBox="1"/>
          <p:nvPr/>
        </p:nvSpPr>
        <p:spPr>
          <a:xfrm>
            <a:off x="960120" y="5257800"/>
            <a:ext cx="3657600" cy="548639"/>
          </a:xfrm>
          <a:prstGeom prst="rect">
            <a:avLst/>
          </a:prstGeom>
          <a:noFill/>
        </p:spPr>
        <p:txBody>
          <a:bodyPr wrap="square" lIns="0" rIns="0" tIns="0" bIns="0" anchor="t">
            <a:spAutoFit/>
          </a:bodyPr>
          <a:lstStyle/>
          <a:p>
            <a:pPr algn="l">
              <a:spcAft>
                <a:spcPts val="300"/>
              </a:spcAft>
            </a:pPr>
            <a:r>
              <a:rPr sz="1100" b="1">
                <a:solidFill>
                  <a:srgbClr val="230F3C"/>
                </a:solidFill>
              </a:rPr>
              <a:t>F</a:t>
            </a:r>
            <a:r>
              <a:rPr sz="1100" b="0">
                <a:solidFill>
                  <a:srgbClr val="230F3C"/>
                </a:solidFill>
              </a:rPr>
              <a:t> aspoň jedna návštěva lékaře za rok</a:t>
            </a:r>
          </a:p>
          <a:p>
            <a:pPr algn="l">
              <a:spcAft>
                <a:spcPts val="300"/>
              </a:spcAft>
            </a:pPr>
            <a:r>
              <a:rPr sz="1100" b="1">
                <a:solidFill>
                  <a:srgbClr val="230F3C"/>
                </a:solidFill>
              </a:rPr>
              <a:t>G</a:t>
            </a:r>
            <a:r>
              <a:rPr sz="1100" b="0">
                <a:solidFill>
                  <a:srgbClr val="230F3C"/>
                </a:solidFill>
              </a:rPr>
              <a:t> žádný kontakt</a:t>
            </a:r>
          </a:p>
        </p:txBody>
      </p:sp>
      <p:graphicFrame>
        <p:nvGraphicFramePr>
          <p:cNvPr id="15" name="Table 14"/>
          <p:cNvGraphicFramePr>
            <a:graphicFrameLocks noGrp="1"/>
          </p:cNvGraphicFramePr>
          <p:nvPr/>
        </p:nvGraphicFramePr>
        <p:xfrm>
          <a:off x="4983480" y="2057400"/>
          <a:ext cx="6428232" cy="2798064"/>
        </p:xfrm>
        <a:graphic>
          <a:graphicData uri="http://schemas.openxmlformats.org/drawingml/2006/table">
            <a:tbl>
              <a:tblPr firstRow="1" bandRow="1">
                <a:tableStyleId>{5C22544A-7EE6-4342-B048-85BDC9FD1C3A}</a:tableStyleId>
              </a:tblPr>
              <a:tblGrid>
                <a:gridCol w="2862072"/>
                <a:gridCol w="1188720"/>
                <a:gridCol w="1188720"/>
                <a:gridCol w="1188720"/>
              </a:tblGrid>
              <a:tr h="310896">
                <a:tc>
                  <a:txBody>
                    <a:bodyPr wrap="square"/>
                    <a:lstStyle/>
                    <a:p>
                      <a:pPr algn="l"/>
                      <a:r>
                        <a:rPr sz="1050" b="1">
                          <a:solidFill>
                            <a:srgbClr val="FFFFFF"/>
                          </a:solidFill>
                        </a:rPr>
                        <a:t>Segment</a:t>
                      </a:r>
                    </a:p>
                  </a:txBody>
                  <a:tcPr marL="73152" marR="73152" marT="27432" marB="27432" anchor="ctr">
                    <a:solidFill>
                      <a:srgbClr val="003B7A"/>
                    </a:solidFill>
                  </a:tcPr>
                </a:tc>
                <a:tc>
                  <a:txBody>
                    <a:bodyPr wrap="square"/>
                    <a:lstStyle/>
                    <a:p>
                      <a:pPr algn="r"/>
                      <a:r>
                        <a:rPr sz="1050" b="1">
                          <a:solidFill>
                            <a:srgbClr val="FFFFFF"/>
                          </a:solidFill>
                        </a:rPr>
                        <a:t>Ženy 2024</a:t>
                      </a:r>
                    </a:p>
                  </a:txBody>
                  <a:tcPr marL="73152" marR="73152" marT="27432" marB="27432" anchor="ctr">
                    <a:solidFill>
                      <a:srgbClr val="003B7A"/>
                    </a:solidFill>
                  </a:tcPr>
                </a:tc>
                <a:tc>
                  <a:txBody>
                    <a:bodyPr wrap="square"/>
                    <a:lstStyle/>
                    <a:p>
                      <a:pPr algn="r"/>
                      <a:r>
                        <a:rPr sz="1050" b="1">
                          <a:solidFill>
                            <a:srgbClr val="FFFFFF"/>
                          </a:solidFill>
                        </a:rPr>
                        <a:t>Účast 12 měs.</a:t>
                      </a:r>
                    </a:p>
                  </a:txBody>
                  <a:tcPr marL="73152" marR="73152" marT="27432" marB="27432" anchor="ctr">
                    <a:solidFill>
                      <a:srgbClr val="003B7A"/>
                    </a:solidFill>
                  </a:tcPr>
                </a:tc>
                <a:tc>
                  <a:txBody>
                    <a:bodyPr wrap="square"/>
                    <a:lstStyle/>
                    <a:p>
                      <a:pPr algn="r"/>
                      <a:r>
                        <a:rPr sz="1050" b="1">
                          <a:solidFill>
                            <a:srgbClr val="FFFFFF"/>
                          </a:solidFill>
                        </a:rPr>
                        <a:t>Nepřišlo</a:t>
                      </a:r>
                    </a:p>
                  </a:txBody>
                  <a:tcPr marL="73152" marR="73152" marT="27432" marB="27432" anchor="ctr">
                    <a:solidFill>
                      <a:srgbClr val="003B7A"/>
                    </a:solidFill>
                  </a:tcPr>
                </a:tc>
              </a:tr>
              <a:tr h="310896">
                <a:tc>
                  <a:txBody>
                    <a:bodyPr wrap="square"/>
                    <a:lstStyle/>
                    <a:p>
                      <a:pPr algn="l"/>
                      <a:r>
                        <a:rPr sz="1050" b="0">
                          <a:solidFill>
                            <a:srgbClr val="230F3C"/>
                          </a:solidFill>
                        </a:rPr>
                        <a:t>A nedávno vyšetřená</a:t>
                      </a:r>
                    </a:p>
                  </a:txBody>
                  <a:tcPr marL="73152" marR="73152" marT="27432" marB="27432" anchor="ctr">
                    <a:solidFill>
                      <a:srgbClr val="FFFFFF"/>
                    </a:solidFill>
                  </a:tcPr>
                </a:tc>
                <a:tc>
                  <a:txBody>
                    <a:bodyPr wrap="square"/>
                    <a:lstStyle/>
                    <a:p>
                      <a:pPr algn="r"/>
                      <a:r>
                        <a:rPr sz="1050" b="0">
                          <a:solidFill>
                            <a:srgbClr val="230F3C"/>
                          </a:solidFill>
                        </a:rPr>
                        <a:t>7 600</a:t>
                      </a:r>
                    </a:p>
                  </a:txBody>
                  <a:tcPr marL="73152" marR="73152" marT="27432" marB="27432" anchor="ctr">
                    <a:solidFill>
                      <a:srgbClr val="FFFFFF"/>
                    </a:solidFill>
                  </a:tcPr>
                </a:tc>
                <a:tc>
                  <a:txBody>
                    <a:bodyPr wrap="square"/>
                    <a:lstStyle/>
                    <a:p>
                      <a:pPr algn="r"/>
                      <a:r>
                        <a:rPr sz="1050" b="0">
                          <a:solidFill>
                            <a:srgbClr val="230F3C"/>
                          </a:solidFill>
                        </a:rPr>
                        <a:t>2 %</a:t>
                      </a:r>
                    </a:p>
                  </a:txBody>
                  <a:tcPr marL="73152" marR="73152" marT="27432" marB="27432" anchor="ctr">
                    <a:solidFill>
                      <a:srgbClr val="FFFFFF"/>
                    </a:solidFill>
                  </a:tcPr>
                </a:tc>
                <a:tc>
                  <a:txBody>
                    <a:bodyPr wrap="square"/>
                    <a:lstStyle/>
                    <a:p>
                      <a:pPr algn="r"/>
                      <a:r>
                        <a:rPr sz="1050" b="0">
                          <a:solidFill>
                            <a:srgbClr val="230F3C"/>
                          </a:solidFill>
                        </a:rPr>
                        <a:t>7 418</a:t>
                      </a:r>
                    </a:p>
                  </a:txBody>
                  <a:tcPr marL="73152" marR="73152" marT="27432" marB="27432" anchor="ctr">
                    <a:solidFill>
                      <a:srgbClr val="FFFFFF"/>
                    </a:solidFill>
                  </a:tcPr>
                </a:tc>
              </a:tr>
              <a:tr h="310896">
                <a:tc>
                  <a:txBody>
                    <a:bodyPr wrap="square"/>
                    <a:lstStyle/>
                    <a:p>
                      <a:pPr algn="l"/>
                      <a:r>
                        <a:rPr sz="1050" b="0">
                          <a:solidFill>
                            <a:srgbClr val="230F3C"/>
                          </a:solidFill>
                        </a:rPr>
                        <a:t>B první pozvánka</a:t>
                      </a:r>
                    </a:p>
                  </a:txBody>
                  <a:tcPr marL="73152" marR="73152" marT="27432" marB="27432" anchor="ctr">
                    <a:solidFill>
                      <a:srgbClr val="F7F6FB"/>
                    </a:solidFill>
                  </a:tcPr>
                </a:tc>
                <a:tc>
                  <a:txBody>
                    <a:bodyPr wrap="square"/>
                    <a:lstStyle/>
                    <a:p>
                      <a:pPr algn="r"/>
                      <a:r>
                        <a:rPr sz="1050" b="0">
                          <a:solidFill>
                            <a:srgbClr val="230F3C"/>
                          </a:solidFill>
                        </a:rPr>
                        <a:t>37 460</a:t>
                      </a:r>
                    </a:p>
                  </a:txBody>
                  <a:tcPr marL="73152" marR="73152" marT="27432" marB="27432" anchor="ctr">
                    <a:solidFill>
                      <a:srgbClr val="F7F6FB"/>
                    </a:solidFill>
                  </a:tcPr>
                </a:tc>
                <a:tc>
                  <a:txBody>
                    <a:bodyPr wrap="square"/>
                    <a:lstStyle/>
                    <a:p>
                      <a:pPr algn="r"/>
                      <a:r>
                        <a:rPr sz="1050" b="0">
                          <a:solidFill>
                            <a:srgbClr val="230F3C"/>
                          </a:solidFill>
                        </a:rPr>
                        <a:t>55 %</a:t>
                      </a:r>
                    </a:p>
                  </a:txBody>
                  <a:tcPr marL="73152" marR="73152" marT="27432" marB="27432" anchor="ctr">
                    <a:solidFill>
                      <a:srgbClr val="F7F6FB"/>
                    </a:solidFill>
                  </a:tcPr>
                </a:tc>
                <a:tc>
                  <a:txBody>
                    <a:bodyPr wrap="square"/>
                    <a:lstStyle/>
                    <a:p>
                      <a:pPr algn="r"/>
                      <a:r>
                        <a:rPr sz="1050" b="0">
                          <a:solidFill>
                            <a:srgbClr val="230F3C"/>
                          </a:solidFill>
                        </a:rPr>
                        <a:t>16 820</a:t>
                      </a:r>
                    </a:p>
                  </a:txBody>
                  <a:tcPr marL="73152" marR="73152" marT="27432" marB="27432" anchor="ctr">
                    <a:solidFill>
                      <a:srgbClr val="F7F6FB"/>
                    </a:solidFill>
                  </a:tcPr>
                </a:tc>
              </a:tr>
              <a:tr h="310896">
                <a:tc>
                  <a:txBody>
                    <a:bodyPr wrap="square"/>
                    <a:lstStyle/>
                    <a:p>
                      <a:pPr algn="l"/>
                      <a:r>
                        <a:rPr sz="1050" b="0">
                          <a:solidFill>
                            <a:srgbClr val="230F3C"/>
                          </a:solidFill>
                        </a:rPr>
                        <a:t>C vypadlá z rytmu</a:t>
                      </a:r>
                    </a:p>
                  </a:txBody>
                  <a:tcPr marL="73152" marR="73152" marT="27432" marB="27432" anchor="ctr">
                    <a:solidFill>
                      <a:srgbClr val="FFFFFF"/>
                    </a:solidFill>
                  </a:tcPr>
                </a:tc>
                <a:tc>
                  <a:txBody>
                    <a:bodyPr wrap="square"/>
                    <a:lstStyle/>
                    <a:p>
                      <a:pPr algn="r"/>
                      <a:r>
                        <a:rPr sz="1050" b="0">
                          <a:solidFill>
                            <a:srgbClr val="230F3C"/>
                          </a:solidFill>
                        </a:rPr>
                        <a:t>28 577</a:t>
                      </a:r>
                    </a:p>
                  </a:txBody>
                  <a:tcPr marL="73152" marR="73152" marT="27432" marB="27432" anchor="ctr">
                    <a:solidFill>
                      <a:srgbClr val="FFFFFF"/>
                    </a:solidFill>
                  </a:tcPr>
                </a:tc>
                <a:tc>
                  <a:txBody>
                    <a:bodyPr wrap="square"/>
                    <a:lstStyle/>
                    <a:p>
                      <a:pPr algn="r"/>
                      <a:r>
                        <a:rPr sz="1050" b="0">
                          <a:solidFill>
                            <a:srgbClr val="230F3C"/>
                          </a:solidFill>
                        </a:rPr>
                        <a:t>33 %</a:t>
                      </a:r>
                    </a:p>
                  </a:txBody>
                  <a:tcPr marL="73152" marR="73152" marT="27432" marB="27432" anchor="ctr">
                    <a:solidFill>
                      <a:srgbClr val="FFFFFF"/>
                    </a:solidFill>
                  </a:tcPr>
                </a:tc>
                <a:tc>
                  <a:txBody>
                    <a:bodyPr wrap="square"/>
                    <a:lstStyle/>
                    <a:p>
                      <a:pPr algn="r"/>
                      <a:r>
                        <a:rPr sz="1050" b="0">
                          <a:solidFill>
                            <a:srgbClr val="230F3C"/>
                          </a:solidFill>
                        </a:rPr>
                        <a:t>19 111</a:t>
                      </a:r>
                    </a:p>
                  </a:txBody>
                  <a:tcPr marL="73152" marR="73152" marT="27432" marB="27432" anchor="ctr">
                    <a:solidFill>
                      <a:srgbClr val="FFFFFF"/>
                    </a:solidFill>
                  </a:tcPr>
                </a:tc>
              </a:tr>
              <a:tr h="310896">
                <a:tc>
                  <a:txBody>
                    <a:bodyPr wrap="square"/>
                    <a:lstStyle/>
                    <a:p>
                      <a:pPr algn="l"/>
                      <a:r>
                        <a:rPr sz="1050" b="0">
                          <a:solidFill>
                            <a:srgbClr val="230F3C"/>
                          </a:solidFill>
                        </a:rPr>
                        <a:t>D bez screeningu, gynekolog</a:t>
                      </a:r>
                    </a:p>
                  </a:txBody>
                  <a:tcPr marL="73152" marR="73152" marT="27432" marB="27432" anchor="ctr">
                    <a:solidFill>
                      <a:srgbClr val="F7F6FB"/>
                    </a:solidFill>
                  </a:tcPr>
                </a:tc>
                <a:tc>
                  <a:txBody>
                    <a:bodyPr wrap="square"/>
                    <a:lstStyle/>
                    <a:p>
                      <a:pPr algn="r"/>
                      <a:r>
                        <a:rPr sz="1050" b="0">
                          <a:solidFill>
                            <a:srgbClr val="230F3C"/>
                          </a:solidFill>
                        </a:rPr>
                        <a:t>51 047</a:t>
                      </a:r>
                    </a:p>
                  </a:txBody>
                  <a:tcPr marL="73152" marR="73152" marT="27432" marB="27432" anchor="ctr">
                    <a:solidFill>
                      <a:srgbClr val="F7F6FB"/>
                    </a:solidFill>
                  </a:tcPr>
                </a:tc>
                <a:tc>
                  <a:txBody>
                    <a:bodyPr wrap="square"/>
                    <a:lstStyle/>
                    <a:p>
                      <a:pPr algn="r"/>
                      <a:r>
                        <a:rPr sz="1050" b="0">
                          <a:solidFill>
                            <a:srgbClr val="230F3C"/>
                          </a:solidFill>
                        </a:rPr>
                        <a:t>21 %</a:t>
                      </a:r>
                    </a:p>
                  </a:txBody>
                  <a:tcPr marL="73152" marR="73152" marT="27432" marB="27432" anchor="ctr">
                    <a:solidFill>
                      <a:srgbClr val="F7F6FB"/>
                    </a:solidFill>
                  </a:tcPr>
                </a:tc>
                <a:tc>
                  <a:txBody>
                    <a:bodyPr wrap="square"/>
                    <a:lstStyle/>
                    <a:p>
                      <a:pPr algn="r"/>
                      <a:r>
                        <a:rPr sz="1050" b="0">
                          <a:solidFill>
                            <a:srgbClr val="230F3C"/>
                          </a:solidFill>
                        </a:rPr>
                        <a:t>40 573</a:t>
                      </a:r>
                    </a:p>
                  </a:txBody>
                  <a:tcPr marL="73152" marR="73152" marT="27432" marB="27432" anchor="ctr">
                    <a:solidFill>
                      <a:srgbClr val="F7F6FB"/>
                    </a:solidFill>
                  </a:tcPr>
                </a:tc>
              </a:tr>
              <a:tr h="310896">
                <a:tc>
                  <a:txBody>
                    <a:bodyPr wrap="square"/>
                    <a:lstStyle/>
                    <a:p>
                      <a:pPr algn="l"/>
                      <a:r>
                        <a:rPr sz="1050" b="0">
                          <a:solidFill>
                            <a:srgbClr val="230F3C"/>
                          </a:solidFill>
                        </a:rPr>
                        <a:t>E bez screeningu, jiná prevence</a:t>
                      </a:r>
                    </a:p>
                  </a:txBody>
                  <a:tcPr marL="73152" marR="73152" marT="27432" marB="27432" anchor="ctr">
                    <a:solidFill>
                      <a:srgbClr val="FFFFFF"/>
                    </a:solidFill>
                  </a:tcPr>
                </a:tc>
                <a:tc>
                  <a:txBody>
                    <a:bodyPr wrap="square"/>
                    <a:lstStyle/>
                    <a:p>
                      <a:pPr algn="r"/>
                      <a:r>
                        <a:rPr sz="1050" b="0">
                          <a:solidFill>
                            <a:srgbClr val="230F3C"/>
                          </a:solidFill>
                        </a:rPr>
                        <a:t>89 351</a:t>
                      </a:r>
                    </a:p>
                  </a:txBody>
                  <a:tcPr marL="73152" marR="73152" marT="27432" marB="27432" anchor="ctr">
                    <a:solidFill>
                      <a:srgbClr val="FFFFFF"/>
                    </a:solidFill>
                  </a:tcPr>
                </a:tc>
                <a:tc>
                  <a:txBody>
                    <a:bodyPr wrap="square"/>
                    <a:lstStyle/>
                    <a:p>
                      <a:pPr algn="r"/>
                      <a:r>
                        <a:rPr sz="1050" b="0">
                          <a:solidFill>
                            <a:srgbClr val="230F3C"/>
                          </a:solidFill>
                        </a:rPr>
                        <a:t>8 %</a:t>
                      </a:r>
                    </a:p>
                  </a:txBody>
                  <a:tcPr marL="73152" marR="73152" marT="27432" marB="27432" anchor="ctr">
                    <a:solidFill>
                      <a:srgbClr val="FFFFFF"/>
                    </a:solidFill>
                  </a:tcPr>
                </a:tc>
                <a:tc>
                  <a:txBody>
                    <a:bodyPr wrap="square"/>
                    <a:lstStyle/>
                    <a:p>
                      <a:pPr algn="r"/>
                      <a:r>
                        <a:rPr sz="1050" b="0">
                          <a:solidFill>
                            <a:srgbClr val="230F3C"/>
                          </a:solidFill>
                        </a:rPr>
                        <a:t>82 559</a:t>
                      </a:r>
                    </a:p>
                  </a:txBody>
                  <a:tcPr marL="73152" marR="73152" marT="27432" marB="27432" anchor="ctr">
                    <a:solidFill>
                      <a:srgbClr val="FFFFFF"/>
                    </a:solidFill>
                  </a:tcPr>
                </a:tc>
              </a:tr>
              <a:tr h="310896">
                <a:tc>
                  <a:txBody>
                    <a:bodyPr wrap="square"/>
                    <a:lstStyle/>
                    <a:p>
                      <a:pPr algn="l"/>
                      <a:r>
                        <a:rPr sz="1050" b="0">
                          <a:solidFill>
                            <a:srgbClr val="230F3C"/>
                          </a:solidFill>
                        </a:rPr>
                        <a:t>F jen léčebná péče</a:t>
                      </a:r>
                    </a:p>
                  </a:txBody>
                  <a:tcPr marL="73152" marR="73152" marT="27432" marB="27432" anchor="ctr">
                    <a:solidFill>
                      <a:srgbClr val="F7F6FB"/>
                    </a:solidFill>
                  </a:tcPr>
                </a:tc>
                <a:tc>
                  <a:txBody>
                    <a:bodyPr wrap="square"/>
                    <a:lstStyle/>
                    <a:p>
                      <a:pPr algn="r"/>
                      <a:r>
                        <a:rPr sz="1050" b="0">
                          <a:solidFill>
                            <a:srgbClr val="230F3C"/>
                          </a:solidFill>
                        </a:rPr>
                        <a:t>28 368</a:t>
                      </a:r>
                    </a:p>
                  </a:txBody>
                  <a:tcPr marL="73152" marR="73152" marT="27432" marB="27432" anchor="ctr">
                    <a:solidFill>
                      <a:srgbClr val="F7F6FB"/>
                    </a:solidFill>
                  </a:tcPr>
                </a:tc>
                <a:tc>
                  <a:txBody>
                    <a:bodyPr wrap="square"/>
                    <a:lstStyle/>
                    <a:p>
                      <a:pPr algn="r"/>
                      <a:r>
                        <a:rPr sz="1050" b="0">
                          <a:solidFill>
                            <a:srgbClr val="230F3C"/>
                          </a:solidFill>
                        </a:rPr>
                        <a:t>5 %</a:t>
                      </a:r>
                    </a:p>
                  </a:txBody>
                  <a:tcPr marL="73152" marR="73152" marT="27432" marB="27432" anchor="ctr">
                    <a:solidFill>
                      <a:srgbClr val="F7F6FB"/>
                    </a:solidFill>
                  </a:tcPr>
                </a:tc>
                <a:tc>
                  <a:txBody>
                    <a:bodyPr wrap="square"/>
                    <a:lstStyle/>
                    <a:p>
                      <a:pPr algn="r"/>
                      <a:r>
                        <a:rPr sz="1050" b="0">
                          <a:solidFill>
                            <a:srgbClr val="230F3C"/>
                          </a:solidFill>
                        </a:rPr>
                        <a:t>26 977</a:t>
                      </a:r>
                    </a:p>
                  </a:txBody>
                  <a:tcPr marL="73152" marR="73152" marT="27432" marB="27432" anchor="ctr">
                    <a:solidFill>
                      <a:srgbClr val="F7F6FB"/>
                    </a:solidFill>
                  </a:tcPr>
                </a:tc>
              </a:tr>
              <a:tr h="310896">
                <a:tc>
                  <a:txBody>
                    <a:bodyPr wrap="square"/>
                    <a:lstStyle/>
                    <a:p>
                      <a:pPr algn="l"/>
                      <a:r>
                        <a:rPr sz="1050" b="0">
                          <a:solidFill>
                            <a:srgbClr val="230F3C"/>
                          </a:solidFill>
                        </a:rPr>
                        <a:t>G mimo péči</a:t>
                      </a:r>
                    </a:p>
                  </a:txBody>
                  <a:tcPr marL="73152" marR="73152" marT="27432" marB="27432" anchor="ctr">
                    <a:solidFill>
                      <a:srgbClr val="FFFFFF"/>
                    </a:solidFill>
                  </a:tcPr>
                </a:tc>
                <a:tc>
                  <a:txBody>
                    <a:bodyPr wrap="square"/>
                    <a:lstStyle/>
                    <a:p>
                      <a:pPr algn="r"/>
                      <a:r>
                        <a:rPr sz="1050" b="0">
                          <a:solidFill>
                            <a:srgbClr val="230F3C"/>
                          </a:solidFill>
                        </a:rPr>
                        <a:t>14 063</a:t>
                      </a:r>
                    </a:p>
                  </a:txBody>
                  <a:tcPr marL="73152" marR="73152" marT="27432" marB="27432" anchor="ctr">
                    <a:solidFill>
                      <a:srgbClr val="FFFFFF"/>
                    </a:solidFill>
                  </a:tcPr>
                </a:tc>
                <a:tc>
                  <a:txBody>
                    <a:bodyPr wrap="square"/>
                    <a:lstStyle/>
                    <a:p>
                      <a:pPr algn="r"/>
                      <a:r>
                        <a:rPr sz="1050" b="0">
                          <a:solidFill>
                            <a:srgbClr val="230F3C"/>
                          </a:solidFill>
                        </a:rPr>
                        <a:t>2 %</a:t>
                      </a:r>
                    </a:p>
                  </a:txBody>
                  <a:tcPr marL="73152" marR="73152" marT="27432" marB="27432" anchor="ctr">
                    <a:solidFill>
                      <a:srgbClr val="FFFFFF"/>
                    </a:solidFill>
                  </a:tcPr>
                </a:tc>
                <a:tc>
                  <a:txBody>
                    <a:bodyPr wrap="square"/>
                    <a:lstStyle/>
                    <a:p>
                      <a:pPr algn="r"/>
                      <a:r>
                        <a:rPr sz="1050" b="0">
                          <a:solidFill>
                            <a:srgbClr val="230F3C"/>
                          </a:solidFill>
                        </a:rPr>
                        <a:t>13 743</a:t>
                      </a:r>
                    </a:p>
                  </a:txBody>
                  <a:tcPr marL="73152" marR="73152" marT="27432" marB="27432" anchor="ctr">
                    <a:solidFill>
                      <a:srgbClr val="FFFFFF"/>
                    </a:solidFill>
                  </a:tcPr>
                </a:tc>
              </a:tr>
              <a:tr h="310896">
                <a:tc>
                  <a:txBody>
                    <a:bodyPr wrap="square"/>
                    <a:lstStyle/>
                    <a:p>
                      <a:pPr algn="l"/>
                      <a:r>
                        <a:rPr sz="1050" b="1">
                          <a:solidFill>
                            <a:srgbClr val="230F3C"/>
                          </a:solidFill>
                        </a:rPr>
                        <a:t>Celkem</a:t>
                      </a:r>
                    </a:p>
                  </a:txBody>
                  <a:tcPr marL="73152" marR="73152" marT="27432" marB="27432" anchor="ctr">
                    <a:solidFill>
                      <a:srgbClr val="F7F6FB"/>
                    </a:solidFill>
                  </a:tcPr>
                </a:tc>
                <a:tc>
                  <a:txBody>
                    <a:bodyPr wrap="square"/>
                    <a:lstStyle/>
                    <a:p>
                      <a:pPr algn="r"/>
                      <a:r>
                        <a:rPr sz="1050" b="1">
                          <a:solidFill>
                            <a:srgbClr val="230F3C"/>
                          </a:solidFill>
                        </a:rPr>
                        <a:t>256 466</a:t>
                      </a:r>
                    </a:p>
                  </a:txBody>
                  <a:tcPr marL="73152" marR="73152" marT="27432" marB="27432" anchor="ctr">
                    <a:solidFill>
                      <a:srgbClr val="F7F6FB"/>
                    </a:solidFill>
                  </a:tcPr>
                </a:tc>
                <a:tc>
                  <a:txBody>
                    <a:bodyPr wrap="square"/>
                    <a:lstStyle/>
                    <a:p>
                      <a:pPr algn="r"/>
                      <a:r>
                        <a:rPr sz="1050" b="1">
                          <a:solidFill>
                            <a:srgbClr val="230F3C"/>
                          </a:solidFill>
                        </a:rPr>
                        <a:t>19 %</a:t>
                      </a:r>
                    </a:p>
                  </a:txBody>
                  <a:tcPr marL="73152" marR="73152" marT="27432" marB="27432" anchor="ctr">
                    <a:solidFill>
                      <a:srgbClr val="F7F6FB"/>
                    </a:solidFill>
                  </a:tcPr>
                </a:tc>
                <a:tc>
                  <a:txBody>
                    <a:bodyPr wrap="square"/>
                    <a:lstStyle/>
                    <a:p>
                      <a:pPr algn="r"/>
                      <a:r>
                        <a:rPr sz="1050" b="1">
                          <a:solidFill>
                            <a:srgbClr val="230F3C"/>
                          </a:solidFill>
                        </a:rPr>
                        <a:t>207 201</a:t>
                      </a:r>
                    </a:p>
                  </a:txBody>
                  <a:tcPr marL="73152" marR="73152" marT="27432" marB="27432" anchor="ctr">
                    <a:solidFill>
                      <a:srgbClr val="F7F6FB"/>
                    </a:solidFill>
                  </a:tcPr>
                </a:tc>
              </a:tr>
            </a:tbl>
          </a:graphicData>
        </a:graphic>
      </p:graphicFrame>
      <p:sp>
        <p:nvSpPr>
          <p:cNvPr id="16" name="Rounded Rectangle 15"/>
          <p:cNvSpPr/>
          <p:nvPr/>
        </p:nvSpPr>
        <p:spPr>
          <a:xfrm>
            <a:off x="4983480" y="5029200"/>
            <a:ext cx="6428232" cy="86868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7" name="TextBox 16"/>
          <p:cNvSpPr txBox="1"/>
          <p:nvPr/>
        </p:nvSpPr>
        <p:spPr>
          <a:xfrm>
            <a:off x="5166360" y="5120640"/>
            <a:ext cx="6080760" cy="731520"/>
          </a:xfrm>
          <a:prstGeom prst="rect">
            <a:avLst/>
          </a:prstGeom>
          <a:noFill/>
        </p:spPr>
        <p:txBody>
          <a:bodyPr wrap="square" lIns="0" rIns="0" tIns="0" bIns="0" anchor="t">
            <a:spAutoFit/>
          </a:bodyPr>
          <a:lstStyle/>
          <a:p>
            <a:pPr algn="l">
              <a:spcAft>
                <a:spcPts val="300"/>
              </a:spcAft>
            </a:pPr>
            <a:r>
              <a:rPr sz="1050" b="1">
                <a:solidFill>
                  <a:srgbClr val="4A4458"/>
                </a:solidFill>
              </a:rPr>
              <a:t>Ověřeno na novém roce:</a:t>
            </a:r>
            <a:r>
              <a:rPr sz="1050" b="0">
                <a:solidFill>
                  <a:srgbClr val="4A4458"/>
                </a:solidFill>
              </a:rPr>
              <a:t> pravidla z let 2020–2023, test na 2024. Samotné segmenty seřadí ženy s AUC 0,79, celý vysvětlitelný model 0,83.</a:t>
            </a:r>
          </a:p>
          <a:p>
            <a:pPr algn="l">
              <a:spcAft>
                <a:spcPts val="300"/>
              </a:spcAft>
            </a:pPr>
            <a:r>
              <a:rPr sz="1050" b="0">
                <a:solidFill>
                  <a:srgbClr val="4A4458"/>
                </a:solidFill>
              </a:rPr>
              <a:t>Segmenty jsou stabilní pět let; jemnější verze s 11 segmenty slouží k cílení.</a:t>
            </a:r>
          </a:p>
        </p:txBody>
      </p:sp>
      <p:sp>
        <p:nvSpPr>
          <p:cNvPr id="18" name="TextBox 17"/>
          <p:cNvSpPr txBox="1"/>
          <p:nvPr/>
        </p:nvSpPr>
        <p:spPr>
          <a:xfrm>
            <a:off x="2103120" y="6291072"/>
            <a:ext cx="8503920" cy="274320"/>
          </a:xfrm>
          <a:prstGeom prst="rect">
            <a:avLst/>
          </a:prstGeom>
          <a:noFill/>
        </p:spPr>
        <p:txBody>
          <a:bodyPr wrap="square" lIns="0" rIns="0" tIns="0" bIns="0" anchor="t">
            <a:spAutoFit/>
          </a:bodyPr>
          <a:lstStyle/>
          <a:p>
            <a:pPr algn="l">
              <a:spcAft>
                <a:spcPts val="0"/>
              </a:spcAft>
            </a:pPr>
            <a:r>
              <a:rPr sz="900" b="0">
                <a:solidFill>
                  <a:srgbClr val="8A8597"/>
                </a:solidFill>
              </a:rPr>
              <a:t>Zdroj: data VZP pro Rakathon 2026, pozvánky 2020–2024; naše analýza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NOVÉ KANÁLY</a:t>
            </a:r>
          </a:p>
        </p:txBody>
      </p:sp>
      <p:sp>
        <p:nvSpPr>
          <p:cNvPr id="3" name="Title 2"/>
          <p:cNvSpPr>
            <a:spLocks noGrp="1"/>
          </p:cNvSpPr>
          <p:nvPr>
            <p:ph type="title" idx="102"/>
          </p:nvPr>
        </p:nvSpPr>
        <p:spPr/>
        <p:txBody>
          <a:bodyPr/>
          <a:lstStyle/>
          <a:p>
            <a:r>
              <a:t>Každý segment dostane kanál a opatření, které lze změřit</a:t>
            </a:r>
          </a:p>
        </p:txBody>
      </p:sp>
      <p:sp>
        <p:nvSpPr>
          <p:cNvPr id="4" name="TextBox 3"/>
          <p:cNvSpPr txBox="1"/>
          <p:nvPr/>
        </p:nvSpPr>
        <p:spPr>
          <a:xfrm>
            <a:off x="777240" y="1481328"/>
            <a:ext cx="10634472" cy="457200"/>
          </a:xfrm>
          <a:prstGeom prst="rect">
            <a:avLst/>
          </a:prstGeom>
          <a:noFill/>
        </p:spPr>
        <p:txBody>
          <a:bodyPr wrap="square" lIns="0" rIns="0" tIns="0" bIns="0" anchor="t">
            <a:spAutoFit/>
          </a:bodyPr>
          <a:lstStyle/>
          <a:p>
            <a:pPr algn="l">
              <a:spcAft>
                <a:spcPts val="0"/>
              </a:spcAft>
            </a:pPr>
            <a:r>
              <a:rPr sz="1300" b="0">
                <a:solidFill>
                  <a:srgbClr val="4A4458"/>
                </a:solidFill>
              </a:rPr>
              <a:t>Opatření vybíráme z literatury podle toho, co ženě v segmentu brání; účinek ověříme proti kontrolní skupině.</a:t>
            </a:r>
          </a:p>
        </p:txBody>
      </p:sp>
      <p:sp>
        <p:nvSpPr>
          <p:cNvPr id="5" name="Rounded Rectangle 4"/>
          <p:cNvSpPr/>
          <p:nvPr/>
        </p:nvSpPr>
        <p:spPr>
          <a:xfrm>
            <a:off x="9326880" y="457200"/>
            <a:ext cx="1005840" cy="246888"/>
          </a:xfrm>
          <a:prstGeom prst="roundRect">
            <a:avLst>
              <a:gd name="adj" fmla="val 50000"/>
            </a:avLst>
          </a:prstGeom>
          <a:solidFill>
            <a:srgbClr val="3D7CC9"/>
          </a:solidFill>
          <a:ln>
            <a:noFill/>
          </a:ln>
        </p:spPr>
        <p:txBody>
          <a:bodyPr rtlCol="0" anchor="ctr" lIns="0" rIns="0" tIns="0" bIns="0"/>
          <a:lstStyle/>
          <a:p>
            <a:pPr algn="ctr"/>
            <a:r>
              <a:rPr sz="900" b="1">
                <a:solidFill>
                  <a:srgbClr val="FFFFFF"/>
                </a:solidFill>
              </a:rPr>
              <a:t>Literatura</a:t>
            </a:r>
          </a:p>
        </p:txBody>
      </p:sp>
      <p:sp>
        <p:nvSpPr>
          <p:cNvPr id="6" name="Rounded Rectangle 5"/>
          <p:cNvSpPr/>
          <p:nvPr/>
        </p:nvSpPr>
        <p:spPr>
          <a:xfrm>
            <a:off x="10405872" y="457200"/>
            <a:ext cx="1005840" cy="246888"/>
          </a:xfrm>
          <a:prstGeom prst="roundRect">
            <a:avLst>
              <a:gd name="adj" fmla="val 50000"/>
            </a:avLst>
          </a:prstGeom>
          <a:solidFill>
            <a:srgbClr val="D27869"/>
          </a:solidFill>
          <a:ln>
            <a:noFill/>
          </a:ln>
        </p:spPr>
        <p:txBody>
          <a:bodyPr rtlCol="0" anchor="ctr" lIns="0" rIns="0" tIns="0" bIns="0"/>
          <a:lstStyle/>
          <a:p>
            <a:pPr algn="ctr"/>
            <a:r>
              <a:rPr sz="900" b="1">
                <a:solidFill>
                  <a:srgbClr val="FFFFFF"/>
                </a:solidFill>
              </a:rPr>
              <a:t>E-commerce</a:t>
            </a:r>
          </a:p>
        </p:txBody>
      </p:sp>
      <p:graphicFrame>
        <p:nvGraphicFramePr>
          <p:cNvPr id="7" name="Table 6"/>
          <p:cNvGraphicFramePr>
            <a:graphicFrameLocks noGrp="1"/>
          </p:cNvGraphicFramePr>
          <p:nvPr/>
        </p:nvGraphicFramePr>
        <p:xfrm>
          <a:off x="777240" y="2057400"/>
          <a:ext cx="6995160" cy="3712464"/>
        </p:xfrm>
        <a:graphic>
          <a:graphicData uri="http://schemas.openxmlformats.org/drawingml/2006/table">
            <a:tbl>
              <a:tblPr firstRow="1" bandRow="1">
                <a:tableStyleId>{5C22544A-7EE6-4342-B048-85BDC9FD1C3A}</a:tableStyleId>
              </a:tblPr>
              <a:tblGrid>
                <a:gridCol w="1920240"/>
                <a:gridCol w="3611880"/>
                <a:gridCol w="1463040"/>
              </a:tblGrid>
              <a:tr h="530352">
                <a:tc>
                  <a:txBody>
                    <a:bodyPr wrap="square"/>
                    <a:lstStyle/>
                    <a:p>
                      <a:pPr algn="l"/>
                      <a:r>
                        <a:rPr sz="1050" b="1">
                          <a:solidFill>
                            <a:srgbClr val="FFFFFF"/>
                          </a:solidFill>
                        </a:rPr>
                        <a:t>Segment</a:t>
                      </a:r>
                    </a:p>
                  </a:txBody>
                  <a:tcPr marL="73152" marR="73152" marT="27432" marB="27432" anchor="ctr">
                    <a:solidFill>
                      <a:srgbClr val="003B7A"/>
                    </a:solidFill>
                  </a:tcPr>
                </a:tc>
                <a:tc>
                  <a:txBody>
                    <a:bodyPr wrap="square"/>
                    <a:lstStyle/>
                    <a:p>
                      <a:pPr algn="l"/>
                      <a:r>
                        <a:rPr sz="1050" b="1">
                          <a:solidFill>
                            <a:srgbClr val="FFFFFF"/>
                          </a:solidFill>
                        </a:rPr>
                        <a:t>Kanál a opatření</a:t>
                      </a:r>
                    </a:p>
                  </a:txBody>
                  <a:tcPr marL="73152" marR="73152" marT="27432" marB="27432" anchor="ctr">
                    <a:solidFill>
                      <a:srgbClr val="003B7A"/>
                    </a:solidFill>
                  </a:tcPr>
                </a:tc>
                <a:tc>
                  <a:txBody>
                    <a:bodyPr wrap="square"/>
                    <a:lstStyle/>
                    <a:p>
                      <a:pPr algn="r"/>
                      <a:r>
                        <a:rPr sz="1050" b="1">
                          <a:solidFill>
                            <a:srgbClr val="FFFFFF"/>
                          </a:solidFill>
                        </a:rPr>
                        <a:t>Účinek (p. b.)</a:t>
                      </a:r>
                    </a:p>
                  </a:txBody>
                  <a:tcPr marL="73152" marR="73152" marT="27432" marB="27432" anchor="ctr">
                    <a:solidFill>
                      <a:srgbClr val="003B7A"/>
                    </a:solidFill>
                  </a:tcPr>
                </a:tc>
              </a:tr>
              <a:tr h="530352">
                <a:tc>
                  <a:txBody>
                    <a:bodyPr wrap="square"/>
                    <a:lstStyle/>
                    <a:p>
                      <a:pPr algn="l"/>
                      <a:r>
                        <a:rPr sz="1050" b="0">
                          <a:solidFill>
                            <a:srgbClr val="230F3C"/>
                          </a:solidFill>
                        </a:rPr>
                        <a:t>A nedávno vyšetřená</a:t>
                      </a:r>
                    </a:p>
                  </a:txBody>
                  <a:tcPr marL="73152" marR="73152" marT="27432" marB="27432" anchor="ctr">
                    <a:solidFill>
                      <a:srgbClr val="FFFFFF"/>
                    </a:solidFill>
                  </a:tcPr>
                </a:tc>
                <a:tc>
                  <a:txBody>
                    <a:bodyPr wrap="square"/>
                    <a:lstStyle/>
                    <a:p>
                      <a:pPr algn="l"/>
                      <a:r>
                        <a:rPr sz="1050" b="0">
                          <a:solidFill>
                            <a:srgbClr val="230F3C"/>
                          </a:solidFill>
                        </a:rPr>
                        <a:t>nezvat, ověřit výkony těsně před odesláním</a:t>
                      </a:r>
                    </a:p>
                  </a:txBody>
                  <a:tcPr marL="73152" marR="73152" marT="27432" marB="27432" anchor="ctr">
                    <a:solidFill>
                      <a:srgbClr val="FFFFFF"/>
                    </a:solidFill>
                  </a:tcPr>
                </a:tc>
                <a:tc>
                  <a:txBody>
                    <a:bodyPr wrap="square"/>
                    <a:lstStyle/>
                    <a:p>
                      <a:pPr algn="r"/>
                      <a:r>
                        <a:rPr sz="1050" b="0">
                          <a:solidFill>
                            <a:srgbClr val="230F3C"/>
                          </a:solidFill>
                        </a:rPr>
                        <a:t>úspora 7 600 dopisů</a:t>
                      </a:r>
                    </a:p>
                  </a:txBody>
                  <a:tcPr marL="73152" marR="73152" marT="27432" marB="27432" anchor="ctr">
                    <a:solidFill>
                      <a:srgbClr val="FFFFFF"/>
                    </a:solidFill>
                  </a:tcPr>
                </a:tc>
              </a:tr>
              <a:tr h="530352">
                <a:tc>
                  <a:txBody>
                    <a:bodyPr wrap="square"/>
                    <a:lstStyle/>
                    <a:p>
                      <a:pPr algn="l"/>
                      <a:r>
                        <a:rPr sz="1050" b="0">
                          <a:solidFill>
                            <a:srgbClr val="230F3C"/>
                          </a:solidFill>
                        </a:rPr>
                        <a:t>B první pozvánka</a:t>
                      </a:r>
                    </a:p>
                  </a:txBody>
                  <a:tcPr marL="73152" marR="73152" marT="27432" marB="27432" anchor="ctr">
                    <a:solidFill>
                      <a:srgbClr val="F7F6FB"/>
                    </a:solidFill>
                  </a:tcPr>
                </a:tc>
                <a:tc>
                  <a:txBody>
                    <a:bodyPr wrap="square"/>
                    <a:lstStyle/>
                    <a:p>
                      <a:pPr algn="l"/>
                      <a:r>
                        <a:rPr sz="1050" b="0">
                          <a:solidFill>
                            <a:srgbClr val="230F3C"/>
                          </a:solidFill>
                        </a:rPr>
                        <a:t>pevný termín v pozvánce + SMS připomínka</a:t>
                      </a:r>
                    </a:p>
                  </a:txBody>
                  <a:tcPr marL="73152" marR="73152" marT="27432" marB="27432" anchor="ctr">
                    <a:solidFill>
                      <a:srgbClr val="F7F6FB"/>
                    </a:solidFill>
                  </a:tcPr>
                </a:tc>
                <a:tc>
                  <a:txBody>
                    <a:bodyPr wrap="square"/>
                    <a:lstStyle/>
                    <a:p>
                      <a:pPr algn="r"/>
                      <a:r>
                        <a:rPr sz="1050" b="1">
                          <a:solidFill>
                            <a:srgbClr val="230F3C"/>
                          </a:solidFill>
                        </a:rPr>
                        <a:t>+10 až +19</a:t>
                      </a:r>
                    </a:p>
                  </a:txBody>
                  <a:tcPr marL="73152" marR="73152" marT="27432" marB="27432" anchor="ctr">
                    <a:solidFill>
                      <a:srgbClr val="F7F6FB"/>
                    </a:solidFill>
                  </a:tcPr>
                </a:tc>
              </a:tr>
              <a:tr h="530352">
                <a:tc>
                  <a:txBody>
                    <a:bodyPr wrap="square"/>
                    <a:lstStyle/>
                    <a:p>
                      <a:pPr algn="l"/>
                      <a:r>
                        <a:rPr sz="1050" b="0">
                          <a:solidFill>
                            <a:srgbClr val="230F3C"/>
                          </a:solidFill>
                        </a:rPr>
                        <a:t>C vypadlá z rytmu</a:t>
                      </a:r>
                    </a:p>
                  </a:txBody>
                  <a:tcPr marL="73152" marR="73152" marT="27432" marB="27432" anchor="ctr">
                    <a:solidFill>
                      <a:srgbClr val="FFFFFF"/>
                    </a:solidFill>
                  </a:tcPr>
                </a:tc>
                <a:tc>
                  <a:txBody>
                    <a:bodyPr wrap="square"/>
                    <a:lstStyle/>
                    <a:p>
                      <a:pPr algn="l"/>
                      <a:r>
                        <a:rPr sz="1050" b="0">
                          <a:solidFill>
                            <a:srgbClr val="230F3C"/>
                          </a:solidFill>
                        </a:rPr>
                        <a:t>pevný termín dřív: ve 25.–36. měsíci místo po 3–5 letech</a:t>
                      </a:r>
                    </a:p>
                  </a:txBody>
                  <a:tcPr marL="73152" marR="73152" marT="27432" marB="27432" anchor="ctr">
                    <a:solidFill>
                      <a:srgbClr val="FFFFFF"/>
                    </a:solidFill>
                  </a:tcPr>
                </a:tc>
                <a:tc>
                  <a:txBody>
                    <a:bodyPr wrap="square"/>
                    <a:lstStyle/>
                    <a:p>
                      <a:pPr algn="r"/>
                      <a:r>
                        <a:rPr sz="1050" b="1">
                          <a:solidFill>
                            <a:srgbClr val="230F3C"/>
                          </a:solidFill>
                        </a:rPr>
                        <a:t>+10 až +19</a:t>
                      </a:r>
                    </a:p>
                  </a:txBody>
                  <a:tcPr marL="73152" marR="73152" marT="27432" marB="27432" anchor="ctr">
                    <a:solidFill>
                      <a:srgbClr val="FFFFFF"/>
                    </a:solidFill>
                  </a:tcPr>
                </a:tc>
              </a:tr>
              <a:tr h="530352">
                <a:tc>
                  <a:txBody>
                    <a:bodyPr wrap="square"/>
                    <a:lstStyle/>
                    <a:p>
                      <a:pPr algn="l"/>
                      <a:r>
                        <a:rPr sz="1050" b="0">
                          <a:solidFill>
                            <a:srgbClr val="230F3C"/>
                          </a:solidFill>
                        </a:rPr>
                        <a:t>D gynekolog</a:t>
                      </a:r>
                    </a:p>
                  </a:txBody>
                  <a:tcPr marL="73152" marR="73152" marT="27432" marB="27432" anchor="ctr">
                    <a:solidFill>
                      <a:srgbClr val="F7F6FB"/>
                    </a:solidFill>
                  </a:tcPr>
                </a:tc>
                <a:tc>
                  <a:txBody>
                    <a:bodyPr wrap="square"/>
                    <a:lstStyle/>
                    <a:p>
                      <a:pPr algn="l"/>
                      <a:r>
                        <a:rPr sz="1050" b="0">
                          <a:solidFill>
                            <a:srgbClr val="230F3C"/>
                          </a:solidFill>
                        </a:rPr>
                        <a:t>seznam žen bez mamografie pro gynekologa, objednání v ordinaci</a:t>
                      </a:r>
                    </a:p>
                  </a:txBody>
                  <a:tcPr marL="73152" marR="73152" marT="27432" marB="27432" anchor="ctr">
                    <a:solidFill>
                      <a:srgbClr val="F7F6FB"/>
                    </a:solidFill>
                  </a:tcPr>
                </a:tc>
                <a:tc>
                  <a:txBody>
                    <a:bodyPr wrap="square"/>
                    <a:lstStyle/>
                    <a:p>
                      <a:pPr algn="r"/>
                      <a:r>
                        <a:rPr sz="1050" b="0">
                          <a:solidFill>
                            <a:srgbClr val="230F3C"/>
                          </a:solidFill>
                        </a:rPr>
                        <a:t>+2 až +6</a:t>
                      </a:r>
                    </a:p>
                  </a:txBody>
                  <a:tcPr marL="73152" marR="73152" marT="27432" marB="27432" anchor="ctr">
                    <a:solidFill>
                      <a:srgbClr val="F7F6FB"/>
                    </a:solidFill>
                  </a:tcPr>
                </a:tc>
              </a:tr>
              <a:tr h="530352">
                <a:tc>
                  <a:txBody>
                    <a:bodyPr wrap="square"/>
                    <a:lstStyle/>
                    <a:p>
                      <a:pPr algn="l"/>
                      <a:r>
                        <a:rPr sz="1050" b="0">
                          <a:solidFill>
                            <a:srgbClr val="230F3C"/>
                          </a:solidFill>
                        </a:rPr>
                        <a:t>E jiná prevence</a:t>
                      </a:r>
                    </a:p>
                  </a:txBody>
                  <a:tcPr marL="73152" marR="73152" marT="27432" marB="27432" anchor="ctr">
                    <a:solidFill>
                      <a:srgbClr val="FFFFFF"/>
                    </a:solidFill>
                  </a:tcPr>
                </a:tc>
                <a:tc>
                  <a:txBody>
                    <a:bodyPr wrap="square"/>
                    <a:lstStyle/>
                    <a:p>
                      <a:pPr algn="l"/>
                      <a:r>
                        <a:rPr sz="1050" b="0">
                          <a:solidFill>
                            <a:srgbClr val="230F3C"/>
                          </a:solidFill>
                        </a:rPr>
                        <a:t>praktik jako nový kanál: seznam žen, upozornění při prohlídce</a:t>
                      </a:r>
                    </a:p>
                  </a:txBody>
                  <a:tcPr marL="73152" marR="73152" marT="27432" marB="27432" anchor="ctr">
                    <a:solidFill>
                      <a:srgbClr val="FFFFFF"/>
                    </a:solidFill>
                  </a:tcPr>
                </a:tc>
                <a:tc>
                  <a:txBody>
                    <a:bodyPr wrap="square"/>
                    <a:lstStyle/>
                    <a:p>
                      <a:pPr algn="r"/>
                      <a:r>
                        <a:rPr sz="1050" b="0">
                          <a:solidFill>
                            <a:srgbClr val="230F3C"/>
                          </a:solidFill>
                        </a:rPr>
                        <a:t>+2 až +6</a:t>
                      </a:r>
                    </a:p>
                  </a:txBody>
                  <a:tcPr marL="73152" marR="73152" marT="27432" marB="27432" anchor="ctr">
                    <a:solidFill>
                      <a:srgbClr val="FFFFFF"/>
                    </a:solidFill>
                  </a:tcPr>
                </a:tc>
              </a:tr>
              <a:tr h="530352">
                <a:tc>
                  <a:txBody>
                    <a:bodyPr wrap="square"/>
                    <a:lstStyle/>
                    <a:p>
                      <a:pPr algn="l"/>
                      <a:r>
                        <a:rPr sz="1050" b="0">
                          <a:solidFill>
                            <a:srgbClr val="230F3C"/>
                          </a:solidFill>
                        </a:rPr>
                        <a:t>F, G</a:t>
                      </a:r>
                    </a:p>
                  </a:txBody>
                  <a:tcPr marL="73152" marR="73152" marT="27432" marB="27432" anchor="ctr">
                    <a:solidFill>
                      <a:srgbClr val="F7F6FB"/>
                    </a:solidFill>
                  </a:tcPr>
                </a:tc>
                <a:tc>
                  <a:txBody>
                    <a:bodyPr wrap="square"/>
                    <a:lstStyle/>
                    <a:p>
                      <a:pPr algn="l"/>
                      <a:r>
                        <a:rPr sz="1050" b="0">
                          <a:solidFill>
                            <a:srgbClr val="230F3C"/>
                          </a:solidFill>
                        </a:rPr>
                        <a:t>zatím ne: nízká účast a nejistý účinek</a:t>
                      </a:r>
                    </a:p>
                  </a:txBody>
                  <a:tcPr marL="73152" marR="73152" marT="27432" marB="27432" anchor="ctr">
                    <a:solidFill>
                      <a:srgbClr val="F7F6FB"/>
                    </a:solidFill>
                  </a:tcPr>
                </a:tc>
                <a:tc>
                  <a:txBody>
                    <a:bodyPr wrap="square"/>
                    <a:lstStyle/>
                    <a:p>
                      <a:pPr algn="r"/>
                      <a:r>
                        <a:rPr sz="1050" b="0">
                          <a:solidFill>
                            <a:srgbClr val="230F3C"/>
                          </a:solidFill>
                        </a:rPr>
                        <a:t>–</a:t>
                      </a:r>
                    </a:p>
                  </a:txBody>
                  <a:tcPr marL="73152" marR="73152" marT="27432" marB="27432" anchor="ctr">
                    <a:solidFill>
                      <a:srgbClr val="F7F6FB"/>
                    </a:solidFill>
                  </a:tcPr>
                </a:tc>
              </a:tr>
            </a:tbl>
          </a:graphicData>
        </a:graphic>
      </p:graphicFrame>
      <p:sp>
        <p:nvSpPr>
          <p:cNvPr id="8" name="Rounded Rectangle 7"/>
          <p:cNvSpPr/>
          <p:nvPr/>
        </p:nvSpPr>
        <p:spPr>
          <a:xfrm>
            <a:off x="8001000" y="2057400"/>
            <a:ext cx="3410712" cy="3712463"/>
          </a:xfrm>
          <a:prstGeom prst="roundRect">
            <a:avLst>
              <a:gd name="adj" fmla="val 6000"/>
            </a:avLst>
          </a:prstGeom>
          <a:solidFill>
            <a:srgbClr val="F7F6FB"/>
          </a:solidFill>
          <a:ln w="9525">
            <a:solidFill>
              <a:srgbClr val="DEDCEC"/>
            </a:solidFill>
          </a:ln>
        </p:spPr>
        <p:txBody>
          <a:bodyPr rtlCol="0" anchor="ctr"/>
          <a:lstStyle/>
          <a:p>
            <a:pPr algn="ctr"/>
          </a:p>
        </p:txBody>
      </p:sp>
      <p:sp>
        <p:nvSpPr>
          <p:cNvPr id="9" name="TextBox 8"/>
          <p:cNvSpPr txBox="1"/>
          <p:nvPr/>
        </p:nvSpPr>
        <p:spPr>
          <a:xfrm>
            <a:off x="8183879" y="2194560"/>
            <a:ext cx="3063240" cy="320040"/>
          </a:xfrm>
          <a:prstGeom prst="rect">
            <a:avLst/>
          </a:prstGeom>
          <a:noFill/>
        </p:spPr>
        <p:txBody>
          <a:bodyPr wrap="square" lIns="0" rIns="0" tIns="0" bIns="0" anchor="t">
            <a:spAutoFit/>
          </a:bodyPr>
          <a:lstStyle/>
          <a:p>
            <a:pPr algn="l">
              <a:spcAft>
                <a:spcPts val="0"/>
              </a:spcAft>
            </a:pPr>
            <a:r>
              <a:rPr sz="1300" b="1">
                <a:solidFill>
                  <a:srgbClr val="D27869"/>
                </a:solidFill>
              </a:rPr>
              <a:t>Jak měříme</a:t>
            </a:r>
          </a:p>
        </p:txBody>
      </p:sp>
      <p:sp>
        <p:nvSpPr>
          <p:cNvPr id="10" name="TextBox 9"/>
          <p:cNvSpPr txBox="1"/>
          <p:nvPr/>
        </p:nvSpPr>
        <p:spPr>
          <a:xfrm>
            <a:off x="8183879" y="2606040"/>
            <a:ext cx="3063240" cy="3063240"/>
          </a:xfrm>
          <a:prstGeom prst="rect">
            <a:avLst/>
          </a:prstGeom>
          <a:noFill/>
        </p:spPr>
        <p:txBody>
          <a:bodyPr wrap="square" lIns="0" rIns="0" tIns="0" bIns="0" anchor="t">
            <a:spAutoFit/>
          </a:bodyPr>
          <a:lstStyle/>
          <a:p>
            <a:pPr algn="l" marL="164592" indent="-164592">
              <a:spcAft>
                <a:spcPts val="1000"/>
              </a:spcAft>
              <a:buChar char="•"/>
            </a:pPr>
            <a:r>
              <a:rPr sz="1200" b="0">
                <a:solidFill>
                  <a:srgbClr val="230F3C"/>
                </a:solidFill>
              </a:rPr>
              <a:t>kontrolní skupina u každého kanálu: dostane dnešní dopis</a:t>
            </a:r>
          </a:p>
          <a:p>
            <a:pPr algn="l" marL="164592" indent="-164592">
              <a:spcAft>
                <a:spcPts val="1000"/>
              </a:spcAft>
              <a:buChar char="•"/>
            </a:pPr>
            <a:r>
              <a:rPr sz="1200" b="0">
                <a:solidFill>
                  <a:srgbClr val="230F3C"/>
                </a:solidFill>
              </a:rPr>
              <a:t>výsledek z vykázaných mamografií, ne z kliknutí</a:t>
            </a:r>
          </a:p>
          <a:p>
            <a:pPr algn="l" marL="164592" indent="-164592">
              <a:spcAft>
                <a:spcPts val="1000"/>
              </a:spcAft>
              <a:buChar char="•"/>
            </a:pPr>
            <a:r>
              <a:rPr sz="1200" b="0">
                <a:solidFill>
                  <a:srgbClr val="230F3C"/>
                </a:solidFill>
              </a:rPr>
              <a:t>A/B test jako v e-commerce: rozšíříme jen to, co prokazatelně funguje</a:t>
            </a:r>
          </a:p>
          <a:p>
            <a:pPr algn="l" marL="164592" indent="-164592">
              <a:spcAft>
                <a:spcPts val="1000"/>
              </a:spcAft>
              <a:buChar char="•"/>
            </a:pPr>
            <a:r>
              <a:rPr sz="1200" b="0">
                <a:solidFill>
                  <a:srgbClr val="230F3C"/>
                </a:solidFill>
              </a:rPr>
              <a:t>cena za mamografii navíc pro každý kanál</a:t>
            </a:r>
          </a:p>
        </p:txBody>
      </p:sp>
      <p:sp>
        <p:nvSpPr>
          <p:cNvPr id="11" name="TextBox 10"/>
          <p:cNvSpPr txBox="1"/>
          <p:nvPr/>
        </p:nvSpPr>
        <p:spPr>
          <a:xfrm>
            <a:off x="2103120" y="6291072"/>
            <a:ext cx="8503920" cy="274320"/>
          </a:xfrm>
          <a:prstGeom prst="rect">
            <a:avLst/>
          </a:prstGeom>
          <a:noFill/>
        </p:spPr>
        <p:txBody>
          <a:bodyPr wrap="square" lIns="0" rIns="0" tIns="0" bIns="0" anchor="t">
            <a:spAutoFit/>
          </a:bodyPr>
          <a:lstStyle/>
          <a:p>
            <a:pPr algn="l">
              <a:spcAft>
                <a:spcPts val="0"/>
              </a:spcAft>
            </a:pPr>
            <a:r>
              <a:rPr sz="900" b="0">
                <a:solidFill>
                  <a:srgbClr val="8A8597"/>
                </a:solidFill>
              </a:rPr>
              <a:t>Zdroj: rozpětí účinku z RCT a metaanalýz (docs/interventions.md), přenos do ČR je náš úsudek; data VZP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NÁŠ VÝSLEDEK</a:t>
            </a:r>
          </a:p>
        </p:txBody>
      </p:sp>
      <p:sp>
        <p:nvSpPr>
          <p:cNvPr id="3" name="Title 2"/>
          <p:cNvSpPr>
            <a:spLocks noGrp="1"/>
          </p:cNvSpPr>
          <p:nvPr>
            <p:ph type="title" idx="102"/>
          </p:nvPr>
        </p:nvSpPr>
        <p:spPr/>
        <p:txBody>
          <a:bodyPr/>
          <a:lstStyle/>
          <a:p>
            <a:r>
              <a:t>Cílenými kanály získáme 22–49 tisíc mamografií ročně</a:t>
            </a:r>
          </a:p>
        </p:txBody>
      </p:sp>
      <p:sp>
        <p:nvSpPr>
          <p:cNvPr id="4" name="TextBox 3"/>
          <p:cNvSpPr txBox="1"/>
          <p:nvPr/>
        </p:nvSpPr>
        <p:spPr>
          <a:xfrm>
            <a:off x="777240" y="1481328"/>
            <a:ext cx="10634472" cy="457200"/>
          </a:xfrm>
          <a:prstGeom prst="rect">
            <a:avLst/>
          </a:prstGeom>
          <a:noFill/>
        </p:spPr>
        <p:txBody>
          <a:bodyPr wrap="square" lIns="0" rIns="0" tIns="0" bIns="0" anchor="t">
            <a:spAutoFit/>
          </a:bodyPr>
          <a:lstStyle/>
          <a:p>
            <a:pPr algn="l">
              <a:spcAft>
                <a:spcPts val="0"/>
              </a:spcAft>
            </a:pPr>
            <a:r>
              <a:rPr sz="1300" b="0">
                <a:solidFill>
                  <a:srgbClr val="4A4458"/>
                </a:solidFill>
              </a:rPr>
              <a:t>Účinky opatření ze studií, rozložení segmentů z pozvánek VZP 2024, přepočteno na všechny klientky VZP bez screeningu. Skutečný účinek ověří pilot.</a:t>
            </a:r>
          </a:p>
        </p:txBody>
      </p:sp>
      <p:sp>
        <p:nvSpPr>
          <p:cNvPr id="5" name="Rounded Rectangle 4"/>
          <p:cNvSpPr/>
          <p:nvPr/>
        </p:nvSpPr>
        <p:spPr>
          <a:xfrm>
            <a:off x="9482328" y="457200"/>
            <a:ext cx="850392" cy="246888"/>
          </a:xfrm>
          <a:prstGeom prst="roundRect">
            <a:avLst>
              <a:gd name="adj" fmla="val 50000"/>
            </a:avLst>
          </a:prstGeom>
          <a:solidFill>
            <a:srgbClr val="003B7A"/>
          </a:solidFill>
          <a:ln>
            <a:noFill/>
          </a:ln>
        </p:spPr>
        <p:txBody>
          <a:bodyPr rtlCol="0" anchor="ctr" lIns="0" rIns="0" tIns="0" bIns="0"/>
          <a:lstStyle/>
          <a:p>
            <a:pPr algn="ctr"/>
            <a:r>
              <a:rPr sz="900" b="1">
                <a:solidFill>
                  <a:srgbClr val="FFFFFF"/>
                </a:solidFill>
              </a:rPr>
              <a:t>Data VZP</a:t>
            </a:r>
          </a:p>
        </p:txBody>
      </p:sp>
      <p:sp>
        <p:nvSpPr>
          <p:cNvPr id="6" name="Rounded Rectangle 5"/>
          <p:cNvSpPr/>
          <p:nvPr/>
        </p:nvSpPr>
        <p:spPr>
          <a:xfrm>
            <a:off x="10405872" y="457200"/>
            <a:ext cx="1005840" cy="246888"/>
          </a:xfrm>
          <a:prstGeom prst="roundRect">
            <a:avLst>
              <a:gd name="adj" fmla="val 50000"/>
            </a:avLst>
          </a:prstGeom>
          <a:solidFill>
            <a:srgbClr val="3D7CC9"/>
          </a:solidFill>
          <a:ln>
            <a:noFill/>
          </a:ln>
        </p:spPr>
        <p:txBody>
          <a:bodyPr rtlCol="0" anchor="ctr" lIns="0" rIns="0" tIns="0" bIns="0"/>
          <a:lstStyle/>
          <a:p>
            <a:pPr algn="ctr"/>
            <a:r>
              <a:rPr sz="900" b="1">
                <a:solidFill>
                  <a:srgbClr val="FFFFFF"/>
                </a:solidFill>
              </a:rPr>
              <a:t>Literatura</a:t>
            </a:r>
          </a:p>
        </p:txBody>
      </p:sp>
      <p:sp>
        <p:nvSpPr>
          <p:cNvPr id="7" name="Rounded Rectangle 6"/>
          <p:cNvSpPr/>
          <p:nvPr/>
        </p:nvSpPr>
        <p:spPr>
          <a:xfrm>
            <a:off x="777240" y="2057400"/>
            <a:ext cx="324612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8" name="TextBox 7"/>
          <p:cNvSpPr txBox="1"/>
          <p:nvPr/>
        </p:nvSpPr>
        <p:spPr>
          <a:xfrm>
            <a:off x="960120" y="2148840"/>
            <a:ext cx="2880360" cy="457200"/>
          </a:xfrm>
          <a:prstGeom prst="rect">
            <a:avLst/>
          </a:prstGeom>
          <a:noFill/>
        </p:spPr>
        <p:txBody>
          <a:bodyPr wrap="square" lIns="0" rIns="0" tIns="0" bIns="0" anchor="t">
            <a:spAutoFit/>
          </a:bodyPr>
          <a:lstStyle/>
          <a:p>
            <a:pPr algn="l">
              <a:spcAft>
                <a:spcPts val="0"/>
              </a:spcAft>
            </a:pPr>
            <a:r>
              <a:rPr sz="2200" b="1">
                <a:solidFill>
                  <a:srgbClr val="D27869"/>
                </a:solidFill>
              </a:rPr>
              <a:t>≈ 480 tis.</a:t>
            </a:r>
          </a:p>
        </p:txBody>
      </p:sp>
      <p:sp>
        <p:nvSpPr>
          <p:cNvPr id="9" name="TextBox 8"/>
          <p:cNvSpPr txBox="1"/>
          <p:nvPr/>
        </p:nvSpPr>
        <p:spPr>
          <a:xfrm>
            <a:off x="960120" y="2633472"/>
            <a:ext cx="2880360" cy="548640"/>
          </a:xfrm>
          <a:prstGeom prst="rect">
            <a:avLst/>
          </a:prstGeom>
          <a:noFill/>
        </p:spPr>
        <p:txBody>
          <a:bodyPr wrap="square" lIns="0" rIns="0" tIns="0" bIns="0" anchor="t">
            <a:spAutoFit/>
          </a:bodyPr>
          <a:lstStyle/>
          <a:p>
            <a:pPr algn="l">
              <a:spcAft>
                <a:spcPts val="0"/>
              </a:spcAft>
            </a:pPr>
            <a:r>
              <a:rPr sz="1050" b="0">
                <a:solidFill>
                  <a:srgbClr val="4A4458"/>
                </a:solidFill>
              </a:rPr>
              <a:t>klientek VZP bez mamografie</a:t>
            </a:r>
          </a:p>
        </p:txBody>
      </p:sp>
      <p:sp>
        <p:nvSpPr>
          <p:cNvPr id="10" name="Right Arrow 9"/>
          <p:cNvSpPr/>
          <p:nvPr/>
        </p:nvSpPr>
        <p:spPr>
          <a:xfrm>
            <a:off x="4105655" y="2514600"/>
            <a:ext cx="283464" cy="274320"/>
          </a:xfrm>
          <a:prstGeom prst="rightArrow">
            <a:avLst/>
          </a:prstGeom>
          <a:solidFill>
            <a:srgbClr val="A9C6EA"/>
          </a:solidFill>
          <a:ln>
            <a:noFill/>
          </a:ln>
        </p:spPr>
        <p:txBody>
          <a:bodyPr rtlCol="0" anchor="ctr"/>
          <a:lstStyle/>
          <a:p>
            <a:pPr algn="ctr"/>
          </a:p>
        </p:txBody>
      </p:sp>
      <p:sp>
        <p:nvSpPr>
          <p:cNvPr id="11" name="Rounded Rectangle 10"/>
          <p:cNvSpPr/>
          <p:nvPr/>
        </p:nvSpPr>
        <p:spPr>
          <a:xfrm>
            <a:off x="4471416" y="2057400"/>
            <a:ext cx="324612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2" name="TextBox 11"/>
          <p:cNvSpPr txBox="1"/>
          <p:nvPr/>
        </p:nvSpPr>
        <p:spPr>
          <a:xfrm>
            <a:off x="4654296" y="2148840"/>
            <a:ext cx="2880360" cy="457200"/>
          </a:xfrm>
          <a:prstGeom prst="rect">
            <a:avLst/>
          </a:prstGeom>
          <a:noFill/>
        </p:spPr>
        <p:txBody>
          <a:bodyPr wrap="square" lIns="0" rIns="0" tIns="0" bIns="0" anchor="t">
            <a:spAutoFit/>
          </a:bodyPr>
          <a:lstStyle/>
          <a:p>
            <a:pPr algn="l">
              <a:spcAft>
                <a:spcPts val="0"/>
              </a:spcAft>
            </a:pPr>
            <a:r>
              <a:rPr sz="2200" b="1">
                <a:solidFill>
                  <a:srgbClr val="003B7A"/>
                </a:solidFill>
              </a:rPr>
              <a:t>≈ 369 tis.</a:t>
            </a:r>
          </a:p>
        </p:txBody>
      </p:sp>
      <p:sp>
        <p:nvSpPr>
          <p:cNvPr id="13" name="TextBox 12"/>
          <p:cNvSpPr txBox="1"/>
          <p:nvPr/>
        </p:nvSpPr>
        <p:spPr>
          <a:xfrm>
            <a:off x="4654296" y="2633472"/>
            <a:ext cx="2880360" cy="548640"/>
          </a:xfrm>
          <a:prstGeom prst="rect">
            <a:avLst/>
          </a:prstGeom>
          <a:noFill/>
        </p:spPr>
        <p:txBody>
          <a:bodyPr wrap="square" lIns="0" rIns="0" tIns="0" bIns="0" anchor="t">
            <a:spAutoFit/>
          </a:bodyPr>
          <a:lstStyle/>
          <a:p>
            <a:pPr algn="l">
              <a:spcAft>
                <a:spcPts val="0"/>
              </a:spcAft>
            </a:pPr>
            <a:r>
              <a:rPr sz="1050" b="0">
                <a:solidFill>
                  <a:srgbClr val="4A4458"/>
                </a:solidFill>
              </a:rPr>
              <a:t>z nich v segmentech B–E s kanálem s doloženým účinkem</a:t>
            </a:r>
          </a:p>
        </p:txBody>
      </p:sp>
      <p:sp>
        <p:nvSpPr>
          <p:cNvPr id="14" name="Right Arrow 13"/>
          <p:cNvSpPr/>
          <p:nvPr/>
        </p:nvSpPr>
        <p:spPr>
          <a:xfrm>
            <a:off x="7799831" y="2514600"/>
            <a:ext cx="283464" cy="274320"/>
          </a:xfrm>
          <a:prstGeom prst="rightArrow">
            <a:avLst/>
          </a:prstGeom>
          <a:solidFill>
            <a:srgbClr val="A9C6EA"/>
          </a:solidFill>
          <a:ln>
            <a:noFill/>
          </a:ln>
        </p:spPr>
        <p:txBody>
          <a:bodyPr rtlCol="0" anchor="ctr"/>
          <a:lstStyle/>
          <a:p>
            <a:pPr algn="ctr"/>
          </a:p>
        </p:txBody>
      </p:sp>
      <p:sp>
        <p:nvSpPr>
          <p:cNvPr id="15" name="Rounded Rectangle 14"/>
          <p:cNvSpPr/>
          <p:nvPr/>
        </p:nvSpPr>
        <p:spPr>
          <a:xfrm>
            <a:off x="8165592" y="2057400"/>
            <a:ext cx="3246120" cy="1188720"/>
          </a:xfrm>
          <a:prstGeom prst="roundRect">
            <a:avLst>
              <a:gd name="adj" fmla="val 6000"/>
            </a:avLst>
          </a:prstGeom>
          <a:solidFill>
            <a:srgbClr val="FFFFFF"/>
          </a:solidFill>
          <a:ln w="9525">
            <a:solidFill>
              <a:srgbClr val="DEDCEC"/>
            </a:solidFill>
          </a:ln>
        </p:spPr>
        <p:txBody>
          <a:bodyPr rtlCol="0" anchor="ctr"/>
          <a:lstStyle/>
          <a:p>
            <a:pPr algn="ctr"/>
          </a:p>
        </p:txBody>
      </p:sp>
      <p:sp>
        <p:nvSpPr>
          <p:cNvPr id="16" name="TextBox 15"/>
          <p:cNvSpPr txBox="1"/>
          <p:nvPr/>
        </p:nvSpPr>
        <p:spPr>
          <a:xfrm>
            <a:off x="8348471" y="2148840"/>
            <a:ext cx="2880360" cy="457200"/>
          </a:xfrm>
          <a:prstGeom prst="rect">
            <a:avLst/>
          </a:prstGeom>
          <a:noFill/>
        </p:spPr>
        <p:txBody>
          <a:bodyPr wrap="square" lIns="0" rIns="0" tIns="0" bIns="0" anchor="t">
            <a:spAutoFit/>
          </a:bodyPr>
          <a:lstStyle/>
          <a:p>
            <a:pPr algn="l">
              <a:spcAft>
                <a:spcPts val="0"/>
              </a:spcAft>
            </a:pPr>
            <a:r>
              <a:rPr sz="2200" b="1">
                <a:solidFill>
                  <a:srgbClr val="3D7CC9"/>
                </a:solidFill>
              </a:rPr>
              <a:t>+22–49 tis.</a:t>
            </a:r>
          </a:p>
        </p:txBody>
      </p:sp>
      <p:sp>
        <p:nvSpPr>
          <p:cNvPr id="17" name="TextBox 16"/>
          <p:cNvSpPr txBox="1"/>
          <p:nvPr/>
        </p:nvSpPr>
        <p:spPr>
          <a:xfrm>
            <a:off x="8348471" y="2633472"/>
            <a:ext cx="2880360" cy="548640"/>
          </a:xfrm>
          <a:prstGeom prst="rect">
            <a:avLst/>
          </a:prstGeom>
          <a:noFill/>
        </p:spPr>
        <p:txBody>
          <a:bodyPr wrap="square" lIns="0" rIns="0" tIns="0" bIns="0" anchor="t">
            <a:spAutoFit/>
          </a:bodyPr>
          <a:lstStyle/>
          <a:p>
            <a:pPr algn="l">
              <a:spcAft>
                <a:spcPts val="0"/>
              </a:spcAft>
            </a:pPr>
            <a:r>
              <a:rPr sz="1050" b="0">
                <a:solidFill>
                  <a:srgbClr val="4A4458"/>
                </a:solidFill>
              </a:rPr>
              <a:t>mamografií navíc ročně</a:t>
            </a:r>
          </a:p>
        </p:txBody>
      </p:sp>
      <p:sp>
        <p:nvSpPr>
          <p:cNvPr id="18" name="Rounded Rectangle 17"/>
          <p:cNvSpPr/>
          <p:nvPr/>
        </p:nvSpPr>
        <p:spPr>
          <a:xfrm>
            <a:off x="777240" y="3474720"/>
            <a:ext cx="2514600" cy="1143000"/>
          </a:xfrm>
          <a:prstGeom prst="roundRect">
            <a:avLst>
              <a:gd name="adj" fmla="val 6000"/>
            </a:avLst>
          </a:prstGeom>
          <a:solidFill>
            <a:srgbClr val="F7F6FB"/>
          </a:solidFill>
          <a:ln w="9525">
            <a:solidFill>
              <a:srgbClr val="DEDCEC"/>
            </a:solidFill>
          </a:ln>
        </p:spPr>
        <p:txBody>
          <a:bodyPr rtlCol="0" anchor="ctr"/>
          <a:lstStyle/>
          <a:p>
            <a:pPr algn="ctr"/>
          </a:p>
        </p:txBody>
      </p:sp>
      <p:sp>
        <p:nvSpPr>
          <p:cNvPr id="19" name="TextBox 18"/>
          <p:cNvSpPr txBox="1"/>
          <p:nvPr/>
        </p:nvSpPr>
        <p:spPr>
          <a:xfrm>
            <a:off x="941832" y="3566160"/>
            <a:ext cx="2185416" cy="457200"/>
          </a:xfrm>
          <a:prstGeom prst="rect">
            <a:avLst/>
          </a:prstGeom>
          <a:noFill/>
        </p:spPr>
        <p:txBody>
          <a:bodyPr wrap="square" lIns="0" rIns="0" tIns="0" bIns="0" anchor="t">
            <a:spAutoFit/>
          </a:bodyPr>
          <a:lstStyle/>
          <a:p>
            <a:pPr algn="l">
              <a:spcAft>
                <a:spcPts val="0"/>
              </a:spcAft>
            </a:pPr>
            <a:r>
              <a:rPr sz="1800" b="1">
                <a:solidFill>
                  <a:srgbClr val="003B7A"/>
                </a:solidFill>
              </a:rPr>
              <a:t>120–268</a:t>
            </a:r>
          </a:p>
        </p:txBody>
      </p:sp>
      <p:sp>
        <p:nvSpPr>
          <p:cNvPr id="20" name="TextBox 19"/>
          <p:cNvSpPr txBox="1"/>
          <p:nvPr/>
        </p:nvSpPr>
        <p:spPr>
          <a:xfrm>
            <a:off x="941832" y="4041648"/>
            <a:ext cx="2185416" cy="502920"/>
          </a:xfrm>
          <a:prstGeom prst="rect">
            <a:avLst/>
          </a:prstGeom>
          <a:noFill/>
        </p:spPr>
        <p:txBody>
          <a:bodyPr wrap="square" lIns="0" rIns="0" tIns="0" bIns="0" anchor="t">
            <a:spAutoFit/>
          </a:bodyPr>
          <a:lstStyle/>
          <a:p>
            <a:pPr algn="l">
              <a:spcAft>
                <a:spcPts val="0"/>
              </a:spcAft>
            </a:pPr>
            <a:r>
              <a:rPr sz="1050" b="0">
                <a:solidFill>
                  <a:srgbClr val="4A4458"/>
                </a:solidFill>
              </a:rPr>
              <a:t>nádorů zachycených dřív ročně</a:t>
            </a:r>
          </a:p>
        </p:txBody>
      </p:sp>
      <p:sp>
        <p:nvSpPr>
          <p:cNvPr id="21" name="Rounded Rectangle 20"/>
          <p:cNvSpPr/>
          <p:nvPr/>
        </p:nvSpPr>
        <p:spPr>
          <a:xfrm>
            <a:off x="3483864" y="3474720"/>
            <a:ext cx="2514600" cy="1143000"/>
          </a:xfrm>
          <a:prstGeom prst="roundRect">
            <a:avLst>
              <a:gd name="adj" fmla="val 6000"/>
            </a:avLst>
          </a:prstGeom>
          <a:solidFill>
            <a:srgbClr val="F7F6FB"/>
          </a:solidFill>
          <a:ln w="9525">
            <a:solidFill>
              <a:srgbClr val="DEDCEC"/>
            </a:solidFill>
          </a:ln>
        </p:spPr>
        <p:txBody>
          <a:bodyPr rtlCol="0" anchor="ctr"/>
          <a:lstStyle/>
          <a:p>
            <a:pPr algn="ctr"/>
          </a:p>
        </p:txBody>
      </p:sp>
      <p:sp>
        <p:nvSpPr>
          <p:cNvPr id="22" name="TextBox 21"/>
          <p:cNvSpPr txBox="1"/>
          <p:nvPr/>
        </p:nvSpPr>
        <p:spPr>
          <a:xfrm>
            <a:off x="3648456" y="3566160"/>
            <a:ext cx="2185416" cy="457200"/>
          </a:xfrm>
          <a:prstGeom prst="rect">
            <a:avLst/>
          </a:prstGeom>
          <a:noFill/>
        </p:spPr>
        <p:txBody>
          <a:bodyPr wrap="square" lIns="0" rIns="0" tIns="0" bIns="0" anchor="t">
            <a:spAutoFit/>
          </a:bodyPr>
          <a:lstStyle/>
          <a:p>
            <a:pPr algn="l">
              <a:spcAft>
                <a:spcPts val="0"/>
              </a:spcAft>
            </a:pPr>
            <a:r>
              <a:rPr sz="1800" b="1">
                <a:solidFill>
                  <a:srgbClr val="003B7A"/>
                </a:solidFill>
              </a:rPr>
              <a:t>14–32</a:t>
            </a:r>
          </a:p>
        </p:txBody>
      </p:sp>
      <p:sp>
        <p:nvSpPr>
          <p:cNvPr id="23" name="TextBox 22"/>
          <p:cNvSpPr txBox="1"/>
          <p:nvPr/>
        </p:nvSpPr>
        <p:spPr>
          <a:xfrm>
            <a:off x="3648456" y="4041648"/>
            <a:ext cx="2185416" cy="502920"/>
          </a:xfrm>
          <a:prstGeom prst="rect">
            <a:avLst/>
          </a:prstGeom>
          <a:noFill/>
        </p:spPr>
        <p:txBody>
          <a:bodyPr wrap="square" lIns="0" rIns="0" tIns="0" bIns="0" anchor="t">
            <a:spAutoFit/>
          </a:bodyPr>
          <a:lstStyle/>
          <a:p>
            <a:pPr algn="l">
              <a:spcAft>
                <a:spcPts val="0"/>
              </a:spcAft>
            </a:pPr>
            <a:r>
              <a:rPr sz="1050" b="0">
                <a:solidFill>
                  <a:srgbClr val="4A4458"/>
                </a:solidFill>
              </a:rPr>
              <a:t>odvrácených úmrtí ročně</a:t>
            </a:r>
          </a:p>
        </p:txBody>
      </p:sp>
      <p:sp>
        <p:nvSpPr>
          <p:cNvPr id="24" name="Rounded Rectangle 23"/>
          <p:cNvSpPr/>
          <p:nvPr/>
        </p:nvSpPr>
        <p:spPr>
          <a:xfrm>
            <a:off x="6190488" y="3474720"/>
            <a:ext cx="2514600" cy="1143000"/>
          </a:xfrm>
          <a:prstGeom prst="roundRect">
            <a:avLst>
              <a:gd name="adj" fmla="val 6000"/>
            </a:avLst>
          </a:prstGeom>
          <a:solidFill>
            <a:srgbClr val="F7F6FB"/>
          </a:solidFill>
          <a:ln w="9525">
            <a:solidFill>
              <a:srgbClr val="DEDCEC"/>
            </a:solidFill>
          </a:ln>
        </p:spPr>
        <p:txBody>
          <a:bodyPr rtlCol="0" anchor="ctr"/>
          <a:lstStyle/>
          <a:p>
            <a:pPr algn="ctr"/>
          </a:p>
        </p:txBody>
      </p:sp>
      <p:sp>
        <p:nvSpPr>
          <p:cNvPr id="25" name="TextBox 24"/>
          <p:cNvSpPr txBox="1"/>
          <p:nvPr/>
        </p:nvSpPr>
        <p:spPr>
          <a:xfrm>
            <a:off x="6355079" y="3566160"/>
            <a:ext cx="2185416" cy="457200"/>
          </a:xfrm>
          <a:prstGeom prst="rect">
            <a:avLst/>
          </a:prstGeom>
          <a:noFill/>
        </p:spPr>
        <p:txBody>
          <a:bodyPr wrap="square" lIns="0" rIns="0" tIns="0" bIns="0" anchor="t">
            <a:spAutoFit/>
          </a:bodyPr>
          <a:lstStyle/>
          <a:p>
            <a:pPr algn="l">
              <a:spcAft>
                <a:spcPts val="0"/>
              </a:spcAft>
            </a:pPr>
            <a:r>
              <a:rPr sz="1800" b="1">
                <a:solidFill>
                  <a:srgbClr val="003B7A"/>
                </a:solidFill>
              </a:rPr>
              <a:t>83–186</a:t>
            </a:r>
          </a:p>
        </p:txBody>
      </p:sp>
      <p:sp>
        <p:nvSpPr>
          <p:cNvPr id="26" name="TextBox 25"/>
          <p:cNvSpPr txBox="1"/>
          <p:nvPr/>
        </p:nvSpPr>
        <p:spPr>
          <a:xfrm>
            <a:off x="6355079" y="4041648"/>
            <a:ext cx="2185416" cy="502920"/>
          </a:xfrm>
          <a:prstGeom prst="rect">
            <a:avLst/>
          </a:prstGeom>
          <a:noFill/>
        </p:spPr>
        <p:txBody>
          <a:bodyPr wrap="square" lIns="0" rIns="0" tIns="0" bIns="0" anchor="t">
            <a:spAutoFit/>
          </a:bodyPr>
          <a:lstStyle/>
          <a:p>
            <a:pPr algn="l">
              <a:spcAft>
                <a:spcPts val="0"/>
              </a:spcAft>
            </a:pPr>
            <a:r>
              <a:rPr sz="1050" b="0">
                <a:solidFill>
                  <a:srgbClr val="4A4458"/>
                </a:solidFill>
              </a:rPr>
              <a:t>let života ve zdraví (QALY) ročně</a:t>
            </a:r>
          </a:p>
        </p:txBody>
      </p:sp>
      <p:sp>
        <p:nvSpPr>
          <p:cNvPr id="27" name="Rounded Rectangle 26"/>
          <p:cNvSpPr/>
          <p:nvPr/>
        </p:nvSpPr>
        <p:spPr>
          <a:xfrm>
            <a:off x="8897111" y="3474720"/>
            <a:ext cx="2514600" cy="1143000"/>
          </a:xfrm>
          <a:prstGeom prst="roundRect">
            <a:avLst>
              <a:gd name="adj" fmla="val 6000"/>
            </a:avLst>
          </a:prstGeom>
          <a:solidFill>
            <a:srgbClr val="F7F6FB"/>
          </a:solidFill>
          <a:ln w="9525">
            <a:solidFill>
              <a:srgbClr val="DEDCEC"/>
            </a:solidFill>
          </a:ln>
        </p:spPr>
        <p:txBody>
          <a:bodyPr rtlCol="0" anchor="ctr"/>
          <a:lstStyle/>
          <a:p>
            <a:pPr algn="ctr"/>
          </a:p>
        </p:txBody>
      </p:sp>
      <p:sp>
        <p:nvSpPr>
          <p:cNvPr id="28" name="TextBox 27"/>
          <p:cNvSpPr txBox="1"/>
          <p:nvPr/>
        </p:nvSpPr>
        <p:spPr>
          <a:xfrm>
            <a:off x="9061703" y="3566160"/>
            <a:ext cx="2185416" cy="457200"/>
          </a:xfrm>
          <a:prstGeom prst="rect">
            <a:avLst/>
          </a:prstGeom>
          <a:noFill/>
        </p:spPr>
        <p:txBody>
          <a:bodyPr wrap="square" lIns="0" rIns="0" tIns="0" bIns="0" anchor="t">
            <a:spAutoFit/>
          </a:bodyPr>
          <a:lstStyle/>
          <a:p>
            <a:pPr algn="l">
              <a:spcAft>
                <a:spcPts val="0"/>
              </a:spcAft>
            </a:pPr>
            <a:r>
              <a:rPr sz="1800" b="1">
                <a:solidFill>
                  <a:srgbClr val="003B7A"/>
                </a:solidFill>
              </a:rPr>
              <a:t>+10,8–24,0 mil.</a:t>
            </a:r>
          </a:p>
        </p:txBody>
      </p:sp>
      <p:sp>
        <p:nvSpPr>
          <p:cNvPr id="29" name="TextBox 28"/>
          <p:cNvSpPr txBox="1"/>
          <p:nvPr/>
        </p:nvSpPr>
        <p:spPr>
          <a:xfrm>
            <a:off x="9061703" y="4041648"/>
            <a:ext cx="2185416" cy="502920"/>
          </a:xfrm>
          <a:prstGeom prst="rect">
            <a:avLst/>
          </a:prstGeom>
          <a:noFill/>
        </p:spPr>
        <p:txBody>
          <a:bodyPr wrap="square" lIns="0" rIns="0" tIns="0" bIns="0" anchor="t">
            <a:spAutoFit/>
          </a:bodyPr>
          <a:lstStyle/>
          <a:p>
            <a:pPr algn="l">
              <a:spcAft>
                <a:spcPts val="0"/>
              </a:spcAft>
            </a:pPr>
            <a:r>
              <a:rPr sz="1050" b="0">
                <a:solidFill>
                  <a:srgbClr val="4A4458"/>
                </a:solidFill>
              </a:rPr>
              <a:t>Kč čisté úspory ročně</a:t>
            </a:r>
          </a:p>
        </p:txBody>
      </p:sp>
      <p:sp>
        <p:nvSpPr>
          <p:cNvPr id="30" name="Rounded Rectangle 29"/>
          <p:cNvSpPr/>
          <p:nvPr/>
        </p:nvSpPr>
        <p:spPr>
          <a:xfrm>
            <a:off x="777240" y="4846320"/>
            <a:ext cx="10634472" cy="1280160"/>
          </a:xfrm>
          <a:prstGeom prst="roundRect">
            <a:avLst>
              <a:gd name="adj" fmla="val 6000"/>
            </a:avLst>
          </a:prstGeom>
          <a:solidFill>
            <a:srgbClr val="FFFFFF"/>
          </a:solidFill>
          <a:ln w="9525">
            <a:solidFill>
              <a:srgbClr val="DEDCEC"/>
            </a:solidFill>
          </a:ln>
        </p:spPr>
        <p:txBody>
          <a:bodyPr rtlCol="0" anchor="ctr"/>
          <a:lstStyle/>
          <a:p>
            <a:pPr algn="ctr"/>
          </a:p>
        </p:txBody>
      </p:sp>
      <p:sp>
        <p:nvSpPr>
          <p:cNvPr id="31" name="TextBox 30"/>
          <p:cNvSpPr txBox="1"/>
          <p:nvPr/>
        </p:nvSpPr>
        <p:spPr>
          <a:xfrm>
            <a:off x="1005840" y="4956048"/>
            <a:ext cx="6583680" cy="1097280"/>
          </a:xfrm>
          <a:prstGeom prst="rect">
            <a:avLst/>
          </a:prstGeom>
          <a:noFill/>
        </p:spPr>
        <p:txBody>
          <a:bodyPr wrap="square" lIns="0" rIns="0" tIns="0" bIns="0" anchor="t">
            <a:spAutoFit/>
          </a:bodyPr>
          <a:lstStyle/>
          <a:p>
            <a:pPr algn="l">
              <a:spcAft>
                <a:spcPts val="400"/>
              </a:spcAft>
            </a:pPr>
            <a:r>
              <a:rPr sz="1050" b="1">
                <a:solidFill>
                  <a:srgbClr val="4A4458"/>
                </a:solidFill>
              </a:rPr>
              <a:t>9–20 % teoretického stropu.</a:t>
            </a:r>
            <a:r>
              <a:rPr sz="1050" b="0">
                <a:solidFill>
                  <a:srgbClr val="4A4458"/>
                </a:solidFill>
              </a:rPr>
              <a:t> Plošná SMS všem klientkám bez screeningu by podle studií (+2 až +5 p. b.) přidala 10–24 tis. mamografií; oslovuje ale tytéž ženy, takže se s cílenými kanály nesčítá.</a:t>
            </a:r>
          </a:p>
          <a:p>
            <a:pPr algn="l">
              <a:spcAft>
                <a:spcPts val="400"/>
              </a:spcAft>
            </a:pPr>
            <a:r>
              <a:rPr sz="1050" b="0">
                <a:solidFill>
                  <a:srgbClr val="4A4458"/>
                </a:solidFill>
              </a:rPr>
              <a:t>Úspora platí při léčbě IV. stadia za 3 mil. Kč; nákladová efektivita 0,26 mil. Kč za QALY (práh SÚKL 1,2 mil.).</a:t>
            </a:r>
          </a:p>
        </p:txBody>
      </p:sp>
      <p:sp>
        <p:nvSpPr>
          <p:cNvPr id="32" name="Rounded Rectangle 31"/>
          <p:cNvSpPr/>
          <p:nvPr/>
        </p:nvSpPr>
        <p:spPr>
          <a:xfrm>
            <a:off x="7635240" y="4956048"/>
            <a:ext cx="3611880" cy="1060704"/>
          </a:xfrm>
          <a:prstGeom prst="roundRect">
            <a:avLst>
              <a:gd name="adj" fmla="val 6000"/>
            </a:avLst>
          </a:prstGeom>
          <a:solidFill>
            <a:srgbClr val="003B7A"/>
          </a:solidFill>
          <a:ln>
            <a:noFill/>
          </a:ln>
        </p:spPr>
        <p:txBody>
          <a:bodyPr rtlCol="0" anchor="ctr"/>
          <a:lstStyle/>
          <a:p>
            <a:pPr algn="ctr"/>
          </a:p>
        </p:txBody>
      </p:sp>
      <p:sp>
        <p:nvSpPr>
          <p:cNvPr id="33" name="TextBox 32"/>
          <p:cNvSpPr txBox="1"/>
          <p:nvPr/>
        </p:nvSpPr>
        <p:spPr>
          <a:xfrm>
            <a:off x="7818120" y="5029200"/>
            <a:ext cx="3291840" cy="914400"/>
          </a:xfrm>
          <a:prstGeom prst="rect">
            <a:avLst/>
          </a:prstGeom>
          <a:noFill/>
        </p:spPr>
        <p:txBody>
          <a:bodyPr wrap="square" lIns="0" rIns="0" tIns="0" bIns="0" anchor="ctr">
            <a:spAutoFit/>
          </a:bodyPr>
          <a:lstStyle/>
          <a:p>
            <a:pPr algn="l">
              <a:spcAft>
                <a:spcPts val="300"/>
              </a:spcAft>
            </a:pPr>
            <a:r>
              <a:rPr sz="1100" b="1">
                <a:solidFill>
                  <a:srgbClr val="FFFFFF"/>
                </a:solidFill>
              </a:rPr>
              <a:t>Nabízíme VZP pilot s randomizací</a:t>
            </a:r>
          </a:p>
          <a:p>
            <a:pPr algn="l">
              <a:spcAft>
                <a:spcPts val="300"/>
              </a:spcAft>
            </a:pPr>
            <a:r>
              <a:rPr sz="1100" b="0">
                <a:solidFill>
                  <a:srgbClr val="FFFFFF"/>
                </a:solidFill>
              </a:rPr>
              <a:t>model, segmenty i kód předáme · jakub@weiner.cz</a:t>
            </a:r>
          </a:p>
        </p:txBody>
      </p:sp>
      <p:sp>
        <p:nvSpPr>
          <p:cNvPr id="34" name="TextBox 33"/>
          <p:cNvSpPr txBox="1"/>
          <p:nvPr/>
        </p:nvSpPr>
        <p:spPr>
          <a:xfrm>
            <a:off x="2103120" y="6291072"/>
            <a:ext cx="8503920" cy="274320"/>
          </a:xfrm>
          <a:prstGeom prst="rect">
            <a:avLst/>
          </a:prstGeom>
          <a:noFill/>
        </p:spPr>
        <p:txBody>
          <a:bodyPr wrap="square" lIns="0" rIns="0" tIns="0" bIns="0" anchor="t">
            <a:spAutoFit/>
          </a:bodyPr>
          <a:lstStyle/>
          <a:p>
            <a:pPr algn="l">
              <a:spcAft>
                <a:spcPts val="0"/>
              </a:spcAft>
            </a:pPr>
            <a:r>
              <a:rPr sz="900" b="0">
                <a:solidFill>
                  <a:srgbClr val="8A8597"/>
                </a:solidFill>
              </a:rPr>
              <a:t>Zdroj: data VZP 2024; ÚZIS, ČSÚ, MZ ČR; docs/interventions.md; finanční model týmu 16. 10. 2026; model posunu stadia (dopad.py)</a:t>
            </a:r>
          </a:p>
        </p:txBody>
      </p:sp>
    </p:spTree>
  </p:cSld>
  <p:clrMapOvr>
    <a:masterClrMapping/>
  </p:clrMapOvr>
</p:sld>
</file>

<file path=ppt/theme/theme1.xml><?xml version="1.0" encoding="utf-8"?>
<a:theme xmlns:a="http://schemas.openxmlformats.org/drawingml/2006/main" name="Mamo graf VZP">
  <a:themeElements>
    <a:clrScheme name="Mamo graf VZP">
      <a:dk1>
        <a:srgbClr val="230F3C"/>
      </a:dk1>
      <a:lt1>
        <a:srgbClr val="FFFFFF"/>
      </a:lt1>
      <a:dk2>
        <a:srgbClr val="4A4458"/>
      </a:dk2>
      <a:lt2>
        <a:srgbClr val="F7F6FB"/>
      </a:lt2>
      <a:accent1>
        <a:srgbClr val="003B7A"/>
      </a:accent1>
      <a:accent2>
        <a:srgbClr val="3D7CC9"/>
      </a:accent2>
      <a:accent3>
        <a:srgbClr val="A9C6EA"/>
      </a:accent3>
      <a:accent4>
        <a:srgbClr val="D27869"/>
      </a:accent4>
      <a:accent5>
        <a:srgbClr val="7A78C3"/>
      </a:accent5>
      <a:accent6>
        <a:srgbClr val="7DA0D7"/>
      </a:accent6>
      <a:hlink>
        <a:srgbClr val="3D7CC9"/>
      </a:hlink>
      <a:folHlink>
        <a:srgbClr val="7A78C3"/>
      </a:folHlink>
    </a:clrScheme>
    <a:fontScheme name="Mamo graf VZP">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57</Slides>
  <Notes>52</Notes>
  <HiddenSlides>0</HiddenSlide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Mamo graf VZP</vt:lpstr>
      <vt:lpstr>PowerPoint Presentation</vt:lpstr>
      <vt:lpstr>Kdo za návrhem stojí</vt:lpstr>
      <vt:lpstr>Naše odpovědi na zadání VZP</vt:lpstr>
      <vt:lpstr>Architektura systému</vt:lpstr>
      <vt:lpstr>Aplikace VZP: přímý kanál a zpětná vazba</vt:lpstr>
      <vt:lpstr>Model pravděpodobnosti účasti: vysvětlitelný (EBM)</vt:lpstr>
      <vt:lpstr>Model upliftu: bayesovský, s modelem účasti jako priorem</vt:lpstr>
      <vt:lpstr>Postup zavedení</vt:lpstr>
      <vt:lpstr>Otázka a data</vt:lpstr>
      <vt:lpstr>Segmentační model: 11 segmentů jako rozhodovací strom</vt:lpstr>
      <vt:lpstr>Kde jsou ženy? (2024: 207 tisíc nepřišlo)</vt:lpstr>
      <vt:lpstr>Uvnitř segmentů: kde má smysl individuální cílení</vt:lpstr>
      <vt:lpstr>Hlavní tok: pět největších segmentů</vt:lpstr>
      <vt:lpstr>Hlavní zjištění (1/2)</vt:lpstr>
      <vt:lpstr>Hlavní zjištění (2/2)</vt:lpstr>
      <vt:lpstr>Návrhy experimentů (1/2)</vt:lpstr>
      <vt:lpstr>Návrhy experimentů (2/2)</vt:lpstr>
      <vt:lpstr>Návrhy experimentů v aplikaci VZP</vt:lpstr>
      <vt:lpstr>Starší ženy chodí po pozvánce méně, výskyt přitom roste</vt:lpstr>
      <vt:lpstr>Kdo nepřijde, předpovíme vysvětlitelným modelem</vt:lpstr>
      <vt:lpstr>S věkem mizí gynekologická prevence; praktik na mamograf neposílá</vt:lpstr>
      <vt:lpstr>Po každé další pozvánce přijde méně žen</vt:lpstr>
      <vt:lpstr>Většinu žen, které nepřišly, lze oslovit jinak než dopisem</vt:lpstr>
      <vt:lpstr>Šest skupin opatření a podklady, ze kterých vycházejí</vt:lpstr>
      <vt:lpstr>Šest skupin opatření podle náročnosti a dopadu</vt:lpstr>
      <vt:lpstr>Hlavní opatření pro zvolené segmenty</vt:lpstr>
      <vt:lpstr>Ukázka dopisů pro tři segmenty</vt:lpstr>
      <vt:lpstr>Experiment ověří účinek proti dnešnímu dopisu</vt:lpstr>
      <vt:lpstr>Co může přinést plošné nasazení: odhad finančního modelu</vt:lpstr>
      <vt:lpstr>PowerPoint Presentation</vt:lpstr>
      <vt:lpstr>Přehled zvažovaných intervencí a jejich očekávaného účinku</vt:lpstr>
      <vt:lpstr>Data VZP a jejich omezení</vt:lpstr>
      <vt:lpstr>Návrat po mamografii podle segmentu</vt:lpstr>
      <vt:lpstr>Otázky pro VZP a data, která by pilot potřeboval</vt:lpstr>
      <vt:lpstr>Většinu žen, které nepřišly, lze oslovit jinak než dopisem</vt:lpstr>
      <vt:lpstr>Šest skupin opatření podle náročnosti a dopadu</vt:lpstr>
      <vt:lpstr>Hlavní opatření pro zvolené segmenty</vt:lpstr>
      <vt:lpstr>Ukázka dopisů pro tři segmenty</vt:lpstr>
      <vt:lpstr>Ukázka navrhovaných úprav aplikace Moje VZP</vt:lpstr>
      <vt:lpstr>Experiment ověří účinek proti dnešnímu dopisu</vt:lpstr>
      <vt:lpstr>Co může přinést plošné nasazení: odhad finančního modelu</vt:lpstr>
      <vt:lpstr>PowerPoint Presentation</vt:lpstr>
      <vt:lpstr>Přehled zvažovaných intervencí a jejich očekávaného účinku</vt:lpstr>
      <vt:lpstr>Praktik vs. gynekolog</vt:lpstr>
      <vt:lpstr>Kolik karcinomů odhalíme včas navíc</vt:lpstr>
      <vt:lpstr>Doprava: okresy bez mamografu</vt:lpstr>
      <vt:lpstr>Kolik karcinomů přinese doprava</vt:lpstr>
      <vt:lpstr>Lékař se jen zapojí, oslovení běží jeho jménem automaticky</vt:lpstr>
      <vt:lpstr>Digitální kaskáda přivede 44–71 tisíc vyšetření navíc ročně</vt:lpstr>
      <vt:lpstr>Včasné oslovení ušetří na léčbě víc, než stojí screening</vt:lpstr>
      <vt:lpstr>Program ušetří VZP za pět let čistě 86–237 milionů Kč</vt:lpstr>
      <vt:lpstr>Kaskáda oslovení běží sama, zastaví ji žádanka nebo mamograf</vt:lpstr>
      <vt:lpstr>Kampaň s influencery jen jako test, rozpočet se uvolňuje po fázích</vt:lpstr>
      <vt:lpstr>Návrat po mamografii podle segmentu</vt:lpstr>
      <vt:lpstr>Otázky pro VZP a data, která by pilot potřeboval</vt:lpstr>
      <vt:lpstr>Citovaná literatura a dokumenty</vt:lpstr>
      <vt:lpstr>Data VZP a jejich omezení</vt:lpstr>
    </vt:vector>
  </TitlesOfParts>
  <Company>Weiner &amp;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Mámo, graf! Od pozvánky k mamografu</dc:title>
  <dc:subject>PptxGenJS Presentation</dc:subject>
  <dc:creator>Weiner &amp;amp; Partners</dc:creator>
  <cp:revision>30</cp:revision>
  <dcterms:created xsi:type="dcterms:W3CDTF">2026-10-17T00:00:54Z</dcterms:created>
  <dcterms:modified xsi:type="dcterms:W3CDTF">2026-10-17T10:51:04Z</dcterms:modified>
</cp:coreProperties>
</file>